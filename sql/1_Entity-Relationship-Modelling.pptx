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40"/>
  </p:notesMasterIdLst>
  <p:handoutMasterIdLst>
    <p:handoutMasterId r:id="rId41"/>
  </p:handoutMasterIdLst>
  <p:sldIdLst>
    <p:sldId id="346" r:id="rId5"/>
    <p:sldId id="355" r:id="rId6"/>
    <p:sldId id="354" r:id="rId7"/>
    <p:sldId id="359" r:id="rId8"/>
    <p:sldId id="360" r:id="rId9"/>
    <p:sldId id="361" r:id="rId10"/>
    <p:sldId id="362" r:id="rId11"/>
    <p:sldId id="363" r:id="rId12"/>
    <p:sldId id="390" r:id="rId13"/>
    <p:sldId id="391" r:id="rId14"/>
    <p:sldId id="392" r:id="rId15"/>
    <p:sldId id="393" r:id="rId16"/>
    <p:sldId id="368" r:id="rId17"/>
    <p:sldId id="369" r:id="rId18"/>
    <p:sldId id="370" r:id="rId19"/>
    <p:sldId id="371" r:id="rId20"/>
    <p:sldId id="372" r:id="rId21"/>
    <p:sldId id="373" r:id="rId22"/>
    <p:sldId id="394" r:id="rId23"/>
    <p:sldId id="375" r:id="rId24"/>
    <p:sldId id="376" r:id="rId25"/>
    <p:sldId id="377" r:id="rId26"/>
    <p:sldId id="378" r:id="rId27"/>
    <p:sldId id="395" r:id="rId28"/>
    <p:sldId id="396" r:id="rId29"/>
    <p:sldId id="397" r:id="rId30"/>
    <p:sldId id="398" r:id="rId31"/>
    <p:sldId id="399" r:id="rId32"/>
    <p:sldId id="400" r:id="rId33"/>
    <p:sldId id="401" r:id="rId34"/>
    <p:sldId id="386" r:id="rId35"/>
    <p:sldId id="402" r:id="rId36"/>
    <p:sldId id="403" r:id="rId37"/>
    <p:sldId id="389" r:id="rId38"/>
    <p:sldId id="352"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D2296E55-8C78-4558-A9C0-5F6CF4B36FDC}">
          <p14:sldIdLst>
            <p14:sldId id="346"/>
            <p14:sldId id="355"/>
            <p14:sldId id="354"/>
            <p14:sldId id="359"/>
            <p14:sldId id="360"/>
            <p14:sldId id="361"/>
            <p14:sldId id="362"/>
            <p14:sldId id="363"/>
            <p14:sldId id="390"/>
            <p14:sldId id="391"/>
            <p14:sldId id="392"/>
            <p14:sldId id="393"/>
            <p14:sldId id="368"/>
            <p14:sldId id="369"/>
            <p14:sldId id="370"/>
            <p14:sldId id="371"/>
            <p14:sldId id="372"/>
            <p14:sldId id="373"/>
            <p14:sldId id="394"/>
            <p14:sldId id="375"/>
            <p14:sldId id="376"/>
            <p14:sldId id="377"/>
            <p14:sldId id="378"/>
            <p14:sldId id="395"/>
            <p14:sldId id="396"/>
            <p14:sldId id="397"/>
            <p14:sldId id="398"/>
            <p14:sldId id="399"/>
            <p14:sldId id="400"/>
            <p14:sldId id="401"/>
            <p14:sldId id="386"/>
            <p14:sldId id="402"/>
            <p14:sldId id="403"/>
            <p14:sldId id="389"/>
            <p14:sldId id="352"/>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450A3"/>
    <a:srgbClr val="FFFD8C"/>
    <a:srgbClr val="337CCF"/>
    <a:srgbClr val="EB1A7A"/>
    <a:srgbClr val="F25F90"/>
    <a:srgbClr val="F388A8"/>
    <a:srgbClr val="FFF8EA"/>
    <a:srgbClr val="8064A2"/>
    <a:srgbClr val="FFC7EA"/>
    <a:srgbClr val="97FF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026A100-FD70-E6D8-BFE5-C2E708F50F9A}" v="33" dt="2024-12-11T02:27:21.87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3979" autoAdjust="0"/>
  </p:normalViewPr>
  <p:slideViewPr>
    <p:cSldViewPr snapToGrid="0">
      <p:cViewPr varScale="1">
        <p:scale>
          <a:sx n="79" d="100"/>
          <a:sy n="79" d="100"/>
        </p:scale>
        <p:origin x="173" y="72"/>
      </p:cViewPr>
      <p:guideLst>
        <p:guide orient="horz" pos="2160"/>
        <p:guide pos="3840"/>
      </p:guideLst>
    </p:cSldViewPr>
  </p:slideViewPr>
  <p:notesTextViewPr>
    <p:cViewPr>
      <p:scale>
        <a:sx n="1" d="1"/>
        <a:sy n="1" d="1"/>
      </p:scale>
      <p:origin x="0" y="0"/>
    </p:cViewPr>
  </p:notesTextViewPr>
  <p:notesViewPr>
    <p:cSldViewPr snapToGrid="0" showGuides="1">
      <p:cViewPr varScale="1">
        <p:scale>
          <a:sx n="49" d="100"/>
          <a:sy n="49" d="100"/>
        </p:scale>
        <p:origin x="2988" y="6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microsoft.com/office/2015/10/relationships/revisionInfo" Target="revisionInfo.xml"/><Relationship Id="rId20" Type="http://schemas.openxmlformats.org/officeDocument/2006/relationships/slide" Target="slides/slide16.xml"/><Relationship Id="rId4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1A37C04-92BC-4055-97FE-510C00A8583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DAF50478-EB01-4877-9F98-DBCC8BEE2C5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45F93FD-9B07-4FA3-8939-62C983D36162}" type="datetimeFigureOut">
              <a:rPr lang="en-US" smtClean="0"/>
              <a:t>12/15/2024</a:t>
            </a:fld>
            <a:endParaRPr lang="en-US"/>
          </a:p>
        </p:txBody>
      </p:sp>
      <p:sp>
        <p:nvSpPr>
          <p:cNvPr id="4" name="Footer Placeholder 3">
            <a:extLst>
              <a:ext uri="{FF2B5EF4-FFF2-40B4-BE49-F238E27FC236}">
                <a16:creationId xmlns:a16="http://schemas.microsoft.com/office/drawing/2014/main" id="{7B13A81E-5269-404A-9FA7-76BEAFDE8FB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AD333504-B475-4B63-A3C4-0FDCEAC2D84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EA373BC-CC95-41E2-ADB5-BA4C836715D0}" type="slidenum">
              <a:rPr lang="en-US" smtClean="0"/>
              <a:t>‹#›</a:t>
            </a:fld>
            <a:endParaRPr lang="en-US"/>
          </a:p>
        </p:txBody>
      </p:sp>
    </p:spTree>
    <p:extLst>
      <p:ext uri="{BB962C8B-B14F-4D97-AF65-F5344CB8AC3E}">
        <p14:creationId xmlns:p14="http://schemas.microsoft.com/office/powerpoint/2010/main" val="23770610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EFC4216-D418-4EC3-929A-C2AE397A95B0}" type="datetimeFigureOut">
              <a:rPr lang="en-US" smtClean="0"/>
              <a:t>12/15/2024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C6BD82-1A69-40ED-A2D3-9FA29ED45D47}" type="slidenum">
              <a:rPr lang="en-US" smtClean="0"/>
              <a:t>‹#›</a:t>
            </a:fld>
            <a:endParaRPr lang="en-US"/>
          </a:p>
        </p:txBody>
      </p:sp>
    </p:spTree>
    <p:extLst>
      <p:ext uri="{BB962C8B-B14F-4D97-AF65-F5344CB8AC3E}">
        <p14:creationId xmlns:p14="http://schemas.microsoft.com/office/powerpoint/2010/main" val="17190511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5"/>
          <p:cNvSpPr>
            <a:spLocks noGrp="1" noChangeArrowheads="1"/>
          </p:cNvSpPr>
          <p:nvPr>
            <p:ph type="sldNum" sz="quarter" idx="5"/>
          </p:nvPr>
        </p:nvSpPr>
        <p:spPr bwMode="auto">
          <a:noFill/>
          <a:ln>
            <a:miter lim="800000"/>
            <a:headEnd/>
            <a:tailEnd/>
          </a:ln>
        </p:spPr>
        <p:txBody>
          <a:bodyPr/>
          <a:lstStyle/>
          <a:p>
            <a:fld id="{B6ADEA83-1AF1-426F-BA48-F9C84AA37BD3}" type="slidenum">
              <a:rPr lang="en-US" smtClean="0">
                <a:latin typeface="Arial" pitchFamily="34" charset="0"/>
                <a:cs typeface="Arial" pitchFamily="34" charset="0"/>
              </a:rPr>
              <a:pPr/>
              <a:t>5</a:t>
            </a:fld>
            <a:endParaRPr lang="en-US">
              <a:latin typeface="Arial" pitchFamily="34" charset="0"/>
              <a:cs typeface="Arial" pitchFamily="34" charset="0"/>
            </a:endParaRPr>
          </a:p>
        </p:txBody>
      </p:sp>
      <p:sp>
        <p:nvSpPr>
          <p:cNvPr id="78851" name="Rectangle 2"/>
          <p:cNvSpPr>
            <a:spLocks noChangeArrowheads="1"/>
          </p:cNvSpPr>
          <p:nvPr/>
        </p:nvSpPr>
        <p:spPr bwMode="auto">
          <a:xfrm>
            <a:off x="3886200" y="-1588"/>
            <a:ext cx="2971800" cy="458788"/>
          </a:xfrm>
          <a:prstGeom prst="rect">
            <a:avLst/>
          </a:prstGeom>
          <a:noFill/>
          <a:ln w="9525">
            <a:noFill/>
            <a:miter lim="800000"/>
            <a:headEnd/>
            <a:tailEnd/>
          </a:ln>
        </p:spPr>
        <p:txBody>
          <a:bodyPr wrap="none" anchor="ctr"/>
          <a:lstStyle/>
          <a:p>
            <a:endParaRPr lang="en-US"/>
          </a:p>
        </p:txBody>
      </p:sp>
      <p:sp>
        <p:nvSpPr>
          <p:cNvPr id="78852" name="Rectangle 3"/>
          <p:cNvSpPr>
            <a:spLocks noChangeArrowheads="1"/>
          </p:cNvSpPr>
          <p:nvPr/>
        </p:nvSpPr>
        <p:spPr bwMode="auto">
          <a:xfrm>
            <a:off x="3886200" y="8685213"/>
            <a:ext cx="2971800" cy="458787"/>
          </a:xfrm>
          <a:prstGeom prst="rect">
            <a:avLst/>
          </a:prstGeom>
          <a:noFill/>
          <a:ln w="9525">
            <a:noFill/>
            <a:miter lim="800000"/>
            <a:headEnd/>
            <a:tailEnd/>
          </a:ln>
        </p:spPr>
        <p:txBody>
          <a:bodyPr lIns="19050" tIns="0" rIns="19050" bIns="0" anchor="b"/>
          <a:lstStyle/>
          <a:p>
            <a:pPr algn="r"/>
            <a:r>
              <a:rPr lang="en-US" sz="1000" i="1"/>
              <a:t>4</a:t>
            </a:r>
          </a:p>
        </p:txBody>
      </p:sp>
      <p:sp>
        <p:nvSpPr>
          <p:cNvPr id="78853" name="Rectangle 4"/>
          <p:cNvSpPr>
            <a:spLocks noChangeArrowheads="1"/>
          </p:cNvSpPr>
          <p:nvPr/>
        </p:nvSpPr>
        <p:spPr bwMode="auto">
          <a:xfrm>
            <a:off x="0" y="8685213"/>
            <a:ext cx="2971800" cy="458787"/>
          </a:xfrm>
          <a:prstGeom prst="rect">
            <a:avLst/>
          </a:prstGeom>
          <a:noFill/>
          <a:ln w="9525">
            <a:noFill/>
            <a:miter lim="800000"/>
            <a:headEnd/>
            <a:tailEnd/>
          </a:ln>
        </p:spPr>
        <p:txBody>
          <a:bodyPr wrap="none" anchor="ctr"/>
          <a:lstStyle/>
          <a:p>
            <a:endParaRPr lang="en-US"/>
          </a:p>
        </p:txBody>
      </p:sp>
      <p:sp>
        <p:nvSpPr>
          <p:cNvPr id="78854" name="Rectangle 5"/>
          <p:cNvSpPr>
            <a:spLocks noChangeArrowheads="1"/>
          </p:cNvSpPr>
          <p:nvPr/>
        </p:nvSpPr>
        <p:spPr bwMode="auto">
          <a:xfrm>
            <a:off x="0" y="-1588"/>
            <a:ext cx="2971800" cy="458788"/>
          </a:xfrm>
          <a:prstGeom prst="rect">
            <a:avLst/>
          </a:prstGeom>
          <a:noFill/>
          <a:ln w="9525">
            <a:noFill/>
            <a:miter lim="800000"/>
            <a:headEnd/>
            <a:tailEnd/>
          </a:ln>
        </p:spPr>
        <p:txBody>
          <a:bodyPr wrap="none" anchor="ctr"/>
          <a:lstStyle/>
          <a:p>
            <a:endParaRPr lang="en-US"/>
          </a:p>
        </p:txBody>
      </p:sp>
      <p:sp>
        <p:nvSpPr>
          <p:cNvPr id="78855" name="Rectangle 6"/>
          <p:cNvSpPr>
            <a:spLocks noGrp="1" noRot="1" noChangeAspect="1" noChangeArrowheads="1" noTextEdit="1"/>
          </p:cNvSpPr>
          <p:nvPr>
            <p:ph type="sldImg"/>
          </p:nvPr>
        </p:nvSpPr>
        <p:spPr bwMode="auto">
          <a:xfrm>
            <a:off x="393700" y="692150"/>
            <a:ext cx="6070600" cy="3416300"/>
          </a:xfrm>
          <a:noFill/>
          <a:ln cap="flat">
            <a:solidFill>
              <a:schemeClr val="tx1"/>
            </a:solidFill>
            <a:miter lim="800000"/>
            <a:headEnd/>
            <a:tailEnd/>
          </a:ln>
        </p:spPr>
      </p:sp>
      <p:sp>
        <p:nvSpPr>
          <p:cNvPr id="78856" name="Rectangle 7"/>
          <p:cNvSpPr>
            <a:spLocks noGrp="1" noChangeArrowheads="1"/>
          </p:cNvSpPr>
          <p:nvPr>
            <p:ph type="body" idx="1"/>
          </p:nvPr>
        </p:nvSpPr>
        <p:spPr bwMode="auto">
          <a:xfrm>
            <a:off x="914400" y="4341813"/>
            <a:ext cx="5029200" cy="4114800"/>
          </a:xfrm>
          <a:noFill/>
        </p:spPr>
        <p:txBody>
          <a:bodyPr lIns="92075" tIns="46038" rIns="92075" bIns="46038"/>
          <a:lstStyle/>
          <a:p>
            <a:pPr marL="171450" indent="-171450">
              <a:buFont typeface="Arial" panose="020B0604020202020204" pitchFamily="34" charset="0"/>
              <a:buChar char="•"/>
            </a:pPr>
            <a:r>
              <a:rPr lang="en-US"/>
              <a:t>SQL is Structured Query Language, which is a computer language for storing, manipulating and retrieving data stored in relational database.</a:t>
            </a:r>
          </a:p>
          <a:p>
            <a:pPr marL="171450" indent="-171450">
              <a:buFont typeface="Arial" panose="020B0604020202020204" pitchFamily="34" charset="0"/>
              <a:buChar char="•"/>
            </a:pPr>
            <a:r>
              <a:rPr lang="en-US"/>
              <a:t>SQL is the standard language for Relation Database System. All relational database management systems like MySQL, MS Access, Oracle, Sybase, Informix, postgres and SQL Server use SQL as standard database language.</a:t>
            </a:r>
          </a:p>
          <a:p>
            <a:pPr marL="171450" indent="-171450">
              <a:buFont typeface="Arial" panose="020B0604020202020204" pitchFamily="34" charset="0"/>
              <a:buChar char="•"/>
            </a:pPr>
            <a:r>
              <a:rPr lang="en-US"/>
              <a:t>Also, they are using different dialects, such as:</a:t>
            </a:r>
          </a:p>
          <a:p>
            <a:pPr marL="628650" lvl="1" indent="-171450">
              <a:buFont typeface="Arial" panose="020B0604020202020204" pitchFamily="34" charset="0"/>
              <a:buChar char="•"/>
            </a:pPr>
            <a:r>
              <a:rPr lang="en-US"/>
              <a:t>MS SQL Server using T-SQL,</a:t>
            </a:r>
          </a:p>
          <a:p>
            <a:pPr marL="628650" lvl="1" indent="-171450">
              <a:buFont typeface="Arial" panose="020B0604020202020204" pitchFamily="34" charset="0"/>
              <a:buChar char="•"/>
            </a:pPr>
            <a:r>
              <a:rPr lang="en-US"/>
              <a:t>Oracle using PL/SQL,</a:t>
            </a:r>
          </a:p>
          <a:p>
            <a:pPr marL="628650" lvl="1" indent="-171450">
              <a:buFont typeface="Arial" panose="020B0604020202020204" pitchFamily="34" charset="0"/>
              <a:buChar char="•"/>
            </a:pPr>
            <a:r>
              <a:rPr lang="en-US"/>
              <a:t>MS Access version of SQL is called JET SQL (native format) etc</a:t>
            </a:r>
          </a:p>
        </p:txBody>
      </p:sp>
    </p:spTree>
    <p:extLst>
      <p:ext uri="{BB962C8B-B14F-4D97-AF65-F5344CB8AC3E}">
        <p14:creationId xmlns:p14="http://schemas.microsoft.com/office/powerpoint/2010/main" val="36470839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When you are executing an SQL command for any RDBMS, the system determines the best way to carry out your request and SQL engine figures out how to interpret the task.</a:t>
            </a:r>
          </a:p>
          <a:p>
            <a:r>
              <a:rPr lang="en-US" sz="1200" b="0" i="0" kern="1200">
                <a:solidFill>
                  <a:schemeClr val="tx1"/>
                </a:solidFill>
                <a:effectLst/>
                <a:latin typeface="+mn-lt"/>
                <a:ea typeface="+mn-ea"/>
                <a:cs typeface="+mn-cs"/>
              </a:rPr>
              <a:t>There are various components included in the process. These components are Query Dispatcher, Optimization Engines, Classic Query Engine and SQL Query Engine, etc. Classic query engine handles all non-SQL queries but SQL query engine won't handle logical files.</a:t>
            </a:r>
          </a:p>
          <a:p>
            <a:r>
              <a:rPr lang="en-US" sz="1200" b="0" i="0" kern="1200">
                <a:solidFill>
                  <a:schemeClr val="tx1"/>
                </a:solidFill>
                <a:effectLst/>
                <a:latin typeface="+mn-lt"/>
                <a:ea typeface="+mn-ea"/>
                <a:cs typeface="+mn-cs"/>
              </a:rPr>
              <a:t>Following is a simple diagram showing SQL Architecture:</a:t>
            </a:r>
          </a:p>
          <a:p>
            <a:endParaRPr lang="en-US"/>
          </a:p>
        </p:txBody>
      </p:sp>
      <p:sp>
        <p:nvSpPr>
          <p:cNvPr id="4" name="Slide Number Placeholder 3"/>
          <p:cNvSpPr>
            <a:spLocks noGrp="1"/>
          </p:cNvSpPr>
          <p:nvPr>
            <p:ph type="sldNum" sz="quarter" idx="10"/>
          </p:nvPr>
        </p:nvSpPr>
        <p:spPr/>
        <p:txBody>
          <a:bodyPr/>
          <a:lstStyle/>
          <a:p>
            <a:pPr>
              <a:defRPr/>
            </a:pPr>
            <a:fld id="{3D5B50D1-3033-43DE-B879-F81D0B8847C0}" type="slidenum">
              <a:rPr lang="vi-VN" smtClean="0"/>
              <a:pPr>
                <a:defRPr/>
              </a:pPr>
              <a:t>6</a:t>
            </a:fld>
            <a:endParaRPr lang="vi-VN"/>
          </a:p>
        </p:txBody>
      </p:sp>
    </p:spTree>
    <p:extLst>
      <p:ext uri="{BB962C8B-B14F-4D97-AF65-F5344CB8AC3E}">
        <p14:creationId xmlns:p14="http://schemas.microsoft.com/office/powerpoint/2010/main" val="40077676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C6BD82-1A69-40ED-A2D3-9FA29ED45D47}" type="slidenum">
              <a:rPr lang="en-US" smtClean="0"/>
              <a:t>11</a:t>
            </a:fld>
            <a:endParaRPr lang="en-US"/>
          </a:p>
        </p:txBody>
      </p:sp>
    </p:spTree>
    <p:extLst>
      <p:ext uri="{BB962C8B-B14F-4D97-AF65-F5344CB8AC3E}">
        <p14:creationId xmlns:p14="http://schemas.microsoft.com/office/powerpoint/2010/main" val="23278457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EBD4566-C949-D649-90FE-6ADEEDE0F876}" type="slidenum">
              <a:rPr lang="en-US" smtClean="0"/>
              <a:t>13</a:t>
            </a:fld>
            <a:endParaRPr lang="en-US"/>
          </a:p>
        </p:txBody>
      </p:sp>
    </p:spTree>
    <p:extLst>
      <p:ext uri="{BB962C8B-B14F-4D97-AF65-F5344CB8AC3E}">
        <p14:creationId xmlns:p14="http://schemas.microsoft.com/office/powerpoint/2010/main" val="10865279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EBD4566-C949-D649-90FE-6ADEEDE0F876}" type="slidenum">
              <a:rPr lang="en-US" smtClean="0"/>
              <a:t>16</a:t>
            </a:fld>
            <a:endParaRPr lang="en-US"/>
          </a:p>
        </p:txBody>
      </p:sp>
    </p:spTree>
    <p:extLst>
      <p:ext uri="{BB962C8B-B14F-4D97-AF65-F5344CB8AC3E}">
        <p14:creationId xmlns:p14="http://schemas.microsoft.com/office/powerpoint/2010/main" val="30715265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Image Placeholder 1"/>
          <p:cNvSpPr>
            <a:spLocks noGrp="1" noRot="1" noChangeAspect="1" noTextEdit="1"/>
          </p:cNvSpPr>
          <p:nvPr>
            <p:ph type="sldImg"/>
          </p:nvPr>
        </p:nvSpPr>
        <p:spPr bwMode="auto">
          <a:noFill/>
          <a:ln>
            <a:solidFill>
              <a:srgbClr val="000000"/>
            </a:solidFill>
            <a:miter lim="800000"/>
            <a:headEnd/>
            <a:tailEnd/>
          </a:ln>
        </p:spPr>
      </p:sp>
      <p:sp>
        <p:nvSpPr>
          <p:cNvPr id="81923" name="Notes Placeholder 2"/>
          <p:cNvSpPr>
            <a:spLocks noGrp="1"/>
          </p:cNvSpPr>
          <p:nvPr>
            <p:ph type="body" idx="1"/>
          </p:nvPr>
        </p:nvSpPr>
        <p:spPr bwMode="auto">
          <a:noFill/>
        </p:spPr>
        <p:txBody>
          <a:bodyPr>
            <a:normAutofit fontScale="92500" lnSpcReduction="10000"/>
          </a:bodyPr>
          <a:lstStyle/>
          <a:p>
            <a:pPr algn="just">
              <a:defRPr/>
            </a:pPr>
            <a:r>
              <a:rPr lang="en-US" sz="2800" b="1"/>
              <a:t>Database design</a:t>
            </a:r>
            <a:r>
              <a:rPr lang="en-US" sz="2800"/>
              <a:t> is the process of producing a detailed </a:t>
            </a:r>
            <a:r>
              <a:rPr lang="en-US" sz="2800">
                <a:solidFill>
                  <a:srgbClr val="240AE6"/>
                </a:solidFill>
              </a:rPr>
              <a:t>data model </a:t>
            </a:r>
            <a:r>
              <a:rPr lang="en-US" sz="2800"/>
              <a:t>of a </a:t>
            </a:r>
            <a:r>
              <a:rPr lang="en-US" sz="2800">
                <a:solidFill>
                  <a:srgbClr val="240AE6"/>
                </a:solidFill>
              </a:rPr>
              <a:t>database</a:t>
            </a:r>
          </a:p>
          <a:p>
            <a:pPr>
              <a:defRPr/>
            </a:pPr>
            <a:r>
              <a:rPr lang="en-US" sz="2800" b="1"/>
              <a:t>Process of Database Design:</a:t>
            </a:r>
          </a:p>
          <a:p>
            <a:pPr lvl="1" algn="just">
              <a:defRPr/>
            </a:pPr>
            <a:r>
              <a:rPr lang="en-US" sz="2400"/>
              <a:t>Determine the relationships between the different data elements. </a:t>
            </a:r>
          </a:p>
          <a:p>
            <a:pPr lvl="1" algn="just">
              <a:defRPr/>
            </a:pPr>
            <a:r>
              <a:rPr lang="en-US" sz="2400"/>
              <a:t>Superimpose a logical structure upon the data on the basis of these relationships</a:t>
            </a:r>
          </a:p>
          <a:p>
            <a:pPr marL="342900" lvl="1" indent="-342900" algn="just">
              <a:buSzPct val="60000"/>
              <a:buFont typeface="Wingdings" pitchFamily="2" charset="2"/>
              <a:buChar char="q"/>
              <a:defRPr/>
            </a:pPr>
            <a:r>
              <a:rPr lang="en-US" b="1"/>
              <a:t>Database designs also include ER (</a:t>
            </a:r>
            <a:r>
              <a:rPr lang="en-US" b="1">
                <a:solidFill>
                  <a:srgbClr val="240AE6"/>
                </a:solidFill>
              </a:rPr>
              <a:t>Entity Relationship Model) </a:t>
            </a:r>
            <a:r>
              <a:rPr lang="en-US" b="1"/>
              <a:t>diagrams. </a:t>
            </a:r>
          </a:p>
          <a:p>
            <a:pPr lvl="1" algn="just">
              <a:defRPr/>
            </a:pPr>
            <a:r>
              <a:rPr lang="en-US" sz="2400"/>
              <a:t>An ER diagram is a diagram that helps to design databases in an efficient way.</a:t>
            </a:r>
          </a:p>
          <a:p>
            <a:pPr lvl="1">
              <a:buFont typeface="Wingdings" pitchFamily="2" charset="2"/>
              <a:buNone/>
              <a:defRPr/>
            </a:pPr>
            <a:endParaRPr lang="en-US" sz="2400" dirty="0"/>
          </a:p>
        </p:txBody>
      </p:sp>
      <p:sp>
        <p:nvSpPr>
          <p:cNvPr id="81924" name="Slide Number Placeholder 3"/>
          <p:cNvSpPr>
            <a:spLocks noGrp="1"/>
          </p:cNvSpPr>
          <p:nvPr>
            <p:ph type="sldNum" sz="quarter" idx="5"/>
          </p:nvPr>
        </p:nvSpPr>
        <p:spPr bwMode="auto">
          <a:noFill/>
          <a:ln>
            <a:miter lim="800000"/>
            <a:headEnd/>
            <a:tailEnd/>
          </a:ln>
        </p:spPr>
        <p:txBody>
          <a:bodyPr/>
          <a:lstStyle/>
          <a:p>
            <a:fld id="{C7F3EBF3-6E36-4D7A-BEF6-65FD061C1EBB}" type="slidenum">
              <a:rPr lang="vi-VN" smtClean="0">
                <a:latin typeface="Arial" pitchFamily="34" charset="0"/>
                <a:cs typeface="Arial" pitchFamily="34" charset="0"/>
              </a:rPr>
              <a:pPr/>
              <a:t>18</a:t>
            </a:fld>
            <a:endParaRPr lang="vi-VN">
              <a:latin typeface="Arial" pitchFamily="34" charset="0"/>
              <a:cs typeface="Arial" pitchFamily="34" charset="0"/>
            </a:endParaRPr>
          </a:p>
        </p:txBody>
      </p:sp>
    </p:spTree>
    <p:extLst>
      <p:ext uri="{BB962C8B-B14F-4D97-AF65-F5344CB8AC3E}">
        <p14:creationId xmlns:p14="http://schemas.microsoft.com/office/powerpoint/2010/main" val="1353354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ChangeArrowheads="1"/>
          </p:cNvSpPr>
          <p:nvPr/>
        </p:nvSpPr>
        <p:spPr bwMode="auto">
          <a:xfrm>
            <a:off x="3886200" y="0"/>
            <a:ext cx="2971800" cy="457200"/>
          </a:xfrm>
          <a:prstGeom prst="rect">
            <a:avLst/>
          </a:prstGeom>
          <a:noFill/>
          <a:ln w="12700">
            <a:noFill/>
            <a:miter lim="800000"/>
            <a:headEnd/>
            <a:tailEnd/>
          </a:ln>
        </p:spPr>
        <p:txBody>
          <a:bodyPr wrap="none" anchor="ctr"/>
          <a:lstStyle/>
          <a:p>
            <a:endParaRPr lang="en-US"/>
          </a:p>
        </p:txBody>
      </p:sp>
      <p:sp>
        <p:nvSpPr>
          <p:cNvPr id="83971" name="Rectangle 3"/>
          <p:cNvSpPr>
            <a:spLocks noChangeArrowheads="1"/>
          </p:cNvSpPr>
          <p:nvPr/>
        </p:nvSpPr>
        <p:spPr bwMode="auto">
          <a:xfrm>
            <a:off x="3886200" y="8686800"/>
            <a:ext cx="2971800" cy="457200"/>
          </a:xfrm>
          <a:prstGeom prst="rect">
            <a:avLst/>
          </a:prstGeom>
          <a:noFill/>
          <a:ln w="12700">
            <a:noFill/>
            <a:miter lim="800000"/>
            <a:headEnd/>
            <a:tailEnd/>
          </a:ln>
        </p:spPr>
        <p:txBody>
          <a:bodyPr lIns="90488" tIns="44450" rIns="90488" bIns="44450" anchor="b"/>
          <a:lstStyle/>
          <a:p>
            <a:pPr algn="r" eaLnBrk="0" hangingPunct="0"/>
            <a:r>
              <a:rPr lang="en-US" sz="1200"/>
              <a:t>3</a:t>
            </a:r>
          </a:p>
        </p:txBody>
      </p:sp>
      <p:sp>
        <p:nvSpPr>
          <p:cNvPr id="83972" name="Rectangle 4"/>
          <p:cNvSpPr>
            <a:spLocks noChangeArrowheads="1"/>
          </p:cNvSpPr>
          <p:nvPr/>
        </p:nvSpPr>
        <p:spPr bwMode="auto">
          <a:xfrm>
            <a:off x="0" y="8686800"/>
            <a:ext cx="2971800" cy="457200"/>
          </a:xfrm>
          <a:prstGeom prst="rect">
            <a:avLst/>
          </a:prstGeom>
          <a:noFill/>
          <a:ln w="12700">
            <a:noFill/>
            <a:miter lim="800000"/>
            <a:headEnd/>
            <a:tailEnd/>
          </a:ln>
        </p:spPr>
        <p:txBody>
          <a:bodyPr wrap="none" anchor="ctr"/>
          <a:lstStyle/>
          <a:p>
            <a:endParaRPr lang="en-US"/>
          </a:p>
        </p:txBody>
      </p:sp>
      <p:sp>
        <p:nvSpPr>
          <p:cNvPr id="83973" name="Rectangle 5"/>
          <p:cNvSpPr>
            <a:spLocks noChangeArrowheads="1"/>
          </p:cNvSpPr>
          <p:nvPr/>
        </p:nvSpPr>
        <p:spPr bwMode="auto">
          <a:xfrm>
            <a:off x="0" y="0"/>
            <a:ext cx="2971800" cy="457200"/>
          </a:xfrm>
          <a:prstGeom prst="rect">
            <a:avLst/>
          </a:prstGeom>
          <a:noFill/>
          <a:ln w="12700">
            <a:noFill/>
            <a:miter lim="800000"/>
            <a:headEnd/>
            <a:tailEnd/>
          </a:ln>
        </p:spPr>
        <p:txBody>
          <a:bodyPr wrap="none" anchor="ctr"/>
          <a:lstStyle/>
          <a:p>
            <a:endParaRPr lang="en-US"/>
          </a:p>
        </p:txBody>
      </p:sp>
      <p:sp>
        <p:nvSpPr>
          <p:cNvPr id="83974" name="Rectangle 6"/>
          <p:cNvSpPr>
            <a:spLocks noGrp="1" noRot="1" noChangeAspect="1" noChangeArrowheads="1" noTextEdit="1"/>
          </p:cNvSpPr>
          <p:nvPr>
            <p:ph type="sldImg"/>
          </p:nvPr>
        </p:nvSpPr>
        <p:spPr bwMode="auto">
          <a:xfrm>
            <a:off x="393700" y="692150"/>
            <a:ext cx="6070600" cy="3416300"/>
          </a:xfrm>
          <a:solidFill>
            <a:srgbClr val="FFFFFF"/>
          </a:solidFill>
          <a:ln cap="flat">
            <a:solidFill>
              <a:srgbClr val="000000"/>
            </a:solidFill>
            <a:miter lim="800000"/>
            <a:headEnd/>
            <a:tailEnd/>
          </a:ln>
        </p:spPr>
      </p:sp>
      <p:sp>
        <p:nvSpPr>
          <p:cNvPr id="83975" name="Rectangle 7"/>
          <p:cNvSpPr>
            <a:spLocks noGrp="1" noChangeArrowheads="1"/>
          </p:cNvSpPr>
          <p:nvPr>
            <p:ph type="body" idx="1"/>
          </p:nvPr>
        </p:nvSpPr>
        <p:spPr bwMode="auto">
          <a:xfrm>
            <a:off x="914400" y="4343400"/>
            <a:ext cx="5029200" cy="4114800"/>
          </a:xfrm>
          <a:noFill/>
        </p:spPr>
        <p:txBody>
          <a:bodyPr lIns="90488" tIns="44450" rIns="90488" bIns="44450"/>
          <a:lstStyle/>
          <a:p>
            <a:endParaRPr lang="en-US"/>
          </a:p>
        </p:txBody>
      </p:sp>
    </p:spTree>
    <p:extLst>
      <p:ext uri="{BB962C8B-B14F-4D97-AF65-F5344CB8AC3E}">
        <p14:creationId xmlns:p14="http://schemas.microsoft.com/office/powerpoint/2010/main" val="23765725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90115" name="Rectangle 3"/>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b"/>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a:r>
              <a:rPr lang="en-US" altLang="en-US" sz="1200"/>
              <a:t>8</a:t>
            </a:r>
          </a:p>
        </p:txBody>
      </p:sp>
      <p:sp>
        <p:nvSpPr>
          <p:cNvPr id="90116" name="Rectangle 4"/>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90117" name="Rectangle 5"/>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90118" name="Rectangle 6"/>
          <p:cNvSpPr>
            <a:spLocks noGrp="1" noRot="1" noChangeAspect="1" noChangeArrowheads="1" noTextEdit="1"/>
          </p:cNvSpPr>
          <p:nvPr>
            <p:ph type="sldImg"/>
          </p:nvPr>
        </p:nvSpPr>
        <p:spPr bwMode="auto">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0119" name="Rectangle 7"/>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5469013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90115" name="Rectangle 3"/>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b"/>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a:r>
              <a:rPr lang="en-US" altLang="en-US" sz="1200"/>
              <a:t>8</a:t>
            </a:r>
          </a:p>
        </p:txBody>
      </p:sp>
      <p:sp>
        <p:nvSpPr>
          <p:cNvPr id="90116" name="Rectangle 4"/>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90117" name="Rectangle 5"/>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90118" name="Rectangle 6"/>
          <p:cNvSpPr>
            <a:spLocks noGrp="1" noRot="1" noChangeAspect="1" noChangeArrowheads="1" noTextEdit="1"/>
          </p:cNvSpPr>
          <p:nvPr>
            <p:ph type="sldImg"/>
          </p:nvPr>
        </p:nvSpPr>
        <p:spPr bwMode="auto">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0119" name="Rectangle 7"/>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470080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91139" name="Rectangle 3"/>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b"/>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a:r>
              <a:rPr lang="en-US" altLang="en-US" sz="1200"/>
              <a:t>23</a:t>
            </a:r>
          </a:p>
        </p:txBody>
      </p:sp>
      <p:sp>
        <p:nvSpPr>
          <p:cNvPr id="91140" name="Rectangle 4"/>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91141" name="Rectangle 5"/>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91142" name="Rectangle 6"/>
          <p:cNvSpPr>
            <a:spLocks noGrp="1" noRot="1" noChangeAspect="1" noChangeArrowheads="1" noTextEdit="1"/>
          </p:cNvSpPr>
          <p:nvPr>
            <p:ph type="sldImg"/>
          </p:nvPr>
        </p:nvSpPr>
        <p:spPr bwMode="auto">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1143" name="Rectangle 7"/>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9794922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3D5B50D1-3033-43DE-B879-F81D0B8847C0}" type="slidenum">
              <a:rPr lang="vi-VN" smtClean="0"/>
              <a:pPr>
                <a:defRPr/>
              </a:pPr>
              <a:t>34</a:t>
            </a:fld>
            <a:endParaRPr lang="vi-VN"/>
          </a:p>
        </p:txBody>
      </p:sp>
    </p:spTree>
    <p:extLst>
      <p:ext uri="{BB962C8B-B14F-4D97-AF65-F5344CB8AC3E}">
        <p14:creationId xmlns:p14="http://schemas.microsoft.com/office/powerpoint/2010/main" val="363395739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1_Title Slide">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D853D4D6-1769-4A98-A5BC-AF2A2551FB19}"/>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7228" r="7894"/>
          <a:stretch/>
        </p:blipFill>
        <p:spPr>
          <a:xfrm>
            <a:off x="6354225" y="-3022"/>
            <a:ext cx="5820957" cy="6858000"/>
          </a:xfrm>
          <a:prstGeom prst="rect">
            <a:avLst/>
          </a:prstGeom>
        </p:spPr>
      </p:pic>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a:xfrm>
            <a:off x="5639349" y="6323177"/>
            <a:ext cx="6071471" cy="365125"/>
          </a:xfrm>
          <a:prstGeom prst="rect">
            <a:avLst/>
          </a:prstGeom>
        </p:spPr>
        <p:txBody>
          <a:bodyPr/>
          <a:lstStyle/>
          <a:p>
            <a:r>
              <a:rPr lang="en-US"/>
              <a:t>09e-BM/DT/FSOFT - @FPT SOFTWARE - FPT Software Academy - Internal Use</a:t>
            </a:r>
          </a:p>
        </p:txBody>
      </p:sp>
      <p:sp>
        <p:nvSpPr>
          <p:cNvPr id="8" name="Parallelogram 7">
            <a:extLst>
              <a:ext uri="{FF2B5EF4-FFF2-40B4-BE49-F238E27FC236}">
                <a16:creationId xmlns:a16="http://schemas.microsoft.com/office/drawing/2014/main" id="{4BE391D0-E514-43A8-909D-4554ECFBC930}"/>
              </a:ext>
            </a:extLst>
          </p:cNvPr>
          <p:cNvSpPr/>
          <p:nvPr/>
        </p:nvSpPr>
        <p:spPr>
          <a:xfrm>
            <a:off x="3195747" y="6293862"/>
            <a:ext cx="1350028" cy="564138"/>
          </a:xfrm>
          <a:prstGeom prst="parallelogram">
            <a:avLst>
              <a:gd name="adj" fmla="val 85423"/>
            </a:avLst>
          </a:prstGeom>
          <a:solidFill>
            <a:srgbClr val="76BE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39AB1E96-AC5C-4524-A956-775F6B28C827}"/>
              </a:ext>
            </a:extLst>
          </p:cNvPr>
          <p:cNvSpPr/>
          <p:nvPr/>
        </p:nvSpPr>
        <p:spPr>
          <a:xfrm>
            <a:off x="0" y="6295819"/>
            <a:ext cx="4325150" cy="575254"/>
          </a:xfrm>
          <a:custGeom>
            <a:avLst/>
            <a:gdLst>
              <a:gd name="connsiteX0" fmla="*/ 0 w 4325150"/>
              <a:gd name="connsiteY0" fmla="*/ 0 h 575254"/>
              <a:gd name="connsiteX1" fmla="*/ 3811653 w 4325150"/>
              <a:gd name="connsiteY1" fmla="*/ 0 h 575254"/>
              <a:gd name="connsiteX2" fmla="*/ 4325150 w 4325150"/>
              <a:gd name="connsiteY2" fmla="*/ 0 h 575254"/>
              <a:gd name="connsiteX3" fmla="*/ 3811653 w 4325150"/>
              <a:gd name="connsiteY3" fmla="*/ 575254 h 575254"/>
              <a:gd name="connsiteX4" fmla="*/ 3811653 w 4325150"/>
              <a:gd name="connsiteY4" fmla="*/ 564140 h 575254"/>
              <a:gd name="connsiteX5" fmla="*/ 0 w 4325150"/>
              <a:gd name="connsiteY5" fmla="*/ 564140 h 575254"/>
              <a:gd name="connsiteX6" fmla="*/ 0 w 4325150"/>
              <a:gd name="connsiteY6" fmla="*/ 0 h 575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25150" h="575254">
                <a:moveTo>
                  <a:pt x="0" y="0"/>
                </a:moveTo>
                <a:lnTo>
                  <a:pt x="3811653" y="0"/>
                </a:lnTo>
                <a:lnTo>
                  <a:pt x="4325150" y="0"/>
                </a:lnTo>
                <a:lnTo>
                  <a:pt x="3811653" y="575254"/>
                </a:lnTo>
                <a:lnTo>
                  <a:pt x="3811653" y="564140"/>
                </a:lnTo>
                <a:lnTo>
                  <a:pt x="0" y="564140"/>
                </a:lnTo>
                <a:lnTo>
                  <a:pt x="0" y="0"/>
                </a:lnTo>
                <a:close/>
              </a:path>
            </a:pathLst>
          </a:custGeom>
          <a:solidFill>
            <a:srgbClr val="3963A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a:extLst>
              <a:ext uri="{FF2B5EF4-FFF2-40B4-BE49-F238E27FC236}">
                <a16:creationId xmlns:a16="http://schemas.microsoft.com/office/drawing/2014/main" id="{135B5763-43D7-467E-9CD1-08FB57025AC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9092" y="6439169"/>
            <a:ext cx="2257466" cy="288555"/>
          </a:xfrm>
          <a:prstGeom prst="rect">
            <a:avLst/>
          </a:prstGeom>
        </p:spPr>
      </p:pic>
      <p:sp>
        <p:nvSpPr>
          <p:cNvPr id="11" name="Rectangle 10">
            <a:extLst>
              <a:ext uri="{FF2B5EF4-FFF2-40B4-BE49-F238E27FC236}">
                <a16:creationId xmlns:a16="http://schemas.microsoft.com/office/drawing/2014/main" id="{8EC2033F-152D-464B-8E17-4E68EDAAF7E1}"/>
              </a:ext>
            </a:extLst>
          </p:cNvPr>
          <p:cNvSpPr/>
          <p:nvPr/>
        </p:nvSpPr>
        <p:spPr>
          <a:xfrm>
            <a:off x="9601200" y="0"/>
            <a:ext cx="2590800" cy="10323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Subtitle 2">
            <a:extLst>
              <a:ext uri="{FF2B5EF4-FFF2-40B4-BE49-F238E27FC236}">
                <a16:creationId xmlns:a16="http://schemas.microsoft.com/office/drawing/2014/main" id="{455C60A1-484E-424A-9DC8-6CB6B6EC923A}"/>
              </a:ext>
            </a:extLst>
          </p:cNvPr>
          <p:cNvSpPr>
            <a:spLocks noGrp="1"/>
          </p:cNvSpPr>
          <p:nvPr>
            <p:ph type="subTitle" idx="1"/>
          </p:nvPr>
        </p:nvSpPr>
        <p:spPr>
          <a:xfrm>
            <a:off x="372737" y="4301941"/>
            <a:ext cx="6528619" cy="564138"/>
          </a:xfrm>
        </p:spPr>
        <p:txBody>
          <a:bodyPr>
            <a:normAutofit/>
          </a:bodyPr>
          <a:lstStyle>
            <a:lvl1pPr marL="0" indent="0" algn="l">
              <a:buNone/>
              <a:defRPr sz="24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3" name="Rectangle 12">
            <a:extLst>
              <a:ext uri="{FF2B5EF4-FFF2-40B4-BE49-F238E27FC236}">
                <a16:creationId xmlns:a16="http://schemas.microsoft.com/office/drawing/2014/main" id="{84729F0D-8E43-4BE3-9E48-7C6F7D344E9A}"/>
              </a:ext>
            </a:extLst>
          </p:cNvPr>
          <p:cNvSpPr/>
          <p:nvPr/>
        </p:nvSpPr>
        <p:spPr>
          <a:xfrm>
            <a:off x="0" y="0"/>
            <a:ext cx="602960" cy="13440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3ED270FD-5558-48C6-A7C5-6F578E7ACC6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01480" y="259214"/>
            <a:ext cx="1535088" cy="786186"/>
          </a:xfrm>
          <a:prstGeom prst="rect">
            <a:avLst/>
          </a:prstGeom>
        </p:spPr>
      </p:pic>
      <p:sp>
        <p:nvSpPr>
          <p:cNvPr id="6" name="Title 5">
            <a:extLst>
              <a:ext uri="{FF2B5EF4-FFF2-40B4-BE49-F238E27FC236}">
                <a16:creationId xmlns:a16="http://schemas.microsoft.com/office/drawing/2014/main" id="{FA11D7E9-137A-4356-B0D8-F80D077CEA25}"/>
              </a:ext>
            </a:extLst>
          </p:cNvPr>
          <p:cNvSpPr>
            <a:spLocks noGrp="1"/>
          </p:cNvSpPr>
          <p:nvPr>
            <p:ph type="title"/>
          </p:nvPr>
        </p:nvSpPr>
        <p:spPr>
          <a:xfrm>
            <a:off x="381549" y="2781430"/>
            <a:ext cx="10515600" cy="966672"/>
          </a:xfrm>
        </p:spPr>
        <p:txBody>
          <a:bodyPr/>
          <a:lstStyle/>
          <a:p>
            <a:r>
              <a:rPr lang="en-US" dirty="0"/>
              <a:t>Click to edit Master title style</a:t>
            </a:r>
          </a:p>
        </p:txBody>
      </p:sp>
    </p:spTree>
    <p:extLst>
      <p:ext uri="{BB962C8B-B14F-4D97-AF65-F5344CB8AC3E}">
        <p14:creationId xmlns:p14="http://schemas.microsoft.com/office/powerpoint/2010/main" val="40313843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509963"/>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6" name="Footer Placeholder 4">
            <a:extLst>
              <a:ext uri="{FF2B5EF4-FFF2-40B4-BE49-F238E27FC236}">
                <a16:creationId xmlns:a16="http://schemas.microsoft.com/office/drawing/2014/main" id="{51CB4C66-D3F5-4BC0-A111-AE6CEB5BB860}"/>
              </a:ext>
            </a:extLst>
          </p:cNvPr>
          <p:cNvSpPr>
            <a:spLocks noGrp="1"/>
          </p:cNvSpPr>
          <p:nvPr>
            <p:ph type="ftr" sz="quarter" idx="11"/>
          </p:nvPr>
        </p:nvSpPr>
        <p:spPr>
          <a:xfrm>
            <a:off x="5639349" y="6323177"/>
            <a:ext cx="6071471" cy="365125"/>
          </a:xfrm>
          <a:prstGeom prst="rect">
            <a:avLst/>
          </a:prstGeom>
        </p:spPr>
        <p:txBody>
          <a:bodyPr/>
          <a:lstStyle/>
          <a:p>
            <a:r>
              <a:rPr lang="en-US" dirty="0"/>
              <a:t>09e-BM/DT/FSOFT - @FPT SOFTWARE - FPT </a:t>
            </a:r>
            <a:r>
              <a:rPr lang="en-US"/>
              <a:t>Software Academy </a:t>
            </a:r>
            <a:r>
              <a:rPr lang="en-US" dirty="0"/>
              <a:t>- Internal Use</a:t>
            </a:r>
          </a:p>
        </p:txBody>
      </p:sp>
    </p:spTree>
    <p:extLst>
      <p:ext uri="{BB962C8B-B14F-4D97-AF65-F5344CB8AC3E}">
        <p14:creationId xmlns:p14="http://schemas.microsoft.com/office/powerpoint/2010/main" val="19777914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35496" y="182300"/>
            <a:ext cx="10618304" cy="810176"/>
          </a:xfrm>
        </p:spPr>
        <p:txBody>
          <a:bodyPr>
            <a:normAutofit/>
          </a:bodyPr>
          <a:lstStyle>
            <a:lvl1pPr>
              <a:defRPr sz="3600"/>
            </a:lvl1pPr>
          </a:lstStyle>
          <a:p>
            <a:r>
              <a:rPr lang="en-US" dirty="0"/>
              <a:t>Click to edit Master title style</a:t>
            </a:r>
          </a:p>
        </p:txBody>
      </p:sp>
      <p:sp>
        <p:nvSpPr>
          <p:cNvPr id="3" name="Content Placeholder 2"/>
          <p:cNvSpPr>
            <a:spLocks noGrp="1"/>
          </p:cNvSpPr>
          <p:nvPr>
            <p:ph idx="1"/>
          </p:nvPr>
        </p:nvSpPr>
        <p:spPr>
          <a:xfrm>
            <a:off x="735496" y="1148972"/>
            <a:ext cx="10618304" cy="5014932"/>
          </a:xfrm>
        </p:spPr>
        <p:txBody>
          <a:bodyPr/>
          <a:lstStyle>
            <a:lvl1pPr marL="228600" indent="-228600">
              <a:lnSpc>
                <a:spcPct val="100000"/>
              </a:lnSpc>
              <a:spcBef>
                <a:spcPts val="600"/>
              </a:spcBef>
              <a:buFont typeface="Wingdings" panose="05000000000000000000" pitchFamily="2" charset="2"/>
              <a:buChar char="§"/>
              <a:defRPr/>
            </a:lvl1pPr>
            <a:lvl2pPr marL="685800" indent="-228600">
              <a:lnSpc>
                <a:spcPct val="100000"/>
              </a:lnSpc>
              <a:spcBef>
                <a:spcPts val="600"/>
              </a:spcBef>
              <a:buFont typeface="Wingdings" panose="05000000000000000000" pitchFamily="2" charset="2"/>
              <a:buChar char="ü"/>
              <a:defRPr/>
            </a:lvl2pPr>
            <a:lvl3pPr>
              <a:lnSpc>
                <a:spcPct val="100000"/>
              </a:lnSpc>
              <a:spcBef>
                <a:spcPts val="600"/>
              </a:spcBef>
              <a:defRPr/>
            </a:lvl3pPr>
            <a:lvl4pPr>
              <a:lnSpc>
                <a:spcPct val="100000"/>
              </a:lnSpc>
              <a:spcBef>
                <a:spcPts val="600"/>
              </a:spcBef>
              <a:defRPr/>
            </a:lvl4pPr>
            <a:lvl5pPr>
              <a:lnSpc>
                <a:spcPct val="100000"/>
              </a:lnSpc>
              <a:spcBef>
                <a:spcPts val="600"/>
              </a:spcBef>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p>
            <a:fld id="{586DAB0F-01A5-4AB0-84E3-BA9DDAF20443}" type="slidenum">
              <a:rPr lang="en-US" smtClean="0"/>
              <a:t>‹#›</a:t>
            </a:fld>
            <a:endParaRPr lang="en-US"/>
          </a:p>
        </p:txBody>
      </p:sp>
      <p:sp>
        <p:nvSpPr>
          <p:cNvPr id="8" name="Footer Placeholder 4">
            <a:extLst>
              <a:ext uri="{FF2B5EF4-FFF2-40B4-BE49-F238E27FC236}">
                <a16:creationId xmlns:a16="http://schemas.microsoft.com/office/drawing/2014/main" id="{68EFDA9D-3256-4B09-AD67-BC13A2BD1A87}"/>
              </a:ext>
            </a:extLst>
          </p:cNvPr>
          <p:cNvSpPr>
            <a:spLocks noGrp="1"/>
          </p:cNvSpPr>
          <p:nvPr>
            <p:ph type="ftr" sz="quarter" idx="3"/>
          </p:nvPr>
        </p:nvSpPr>
        <p:spPr>
          <a:xfrm>
            <a:off x="4901329" y="6320400"/>
            <a:ext cx="6071471"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cs typeface="Arial" panose="020B0604020202020204" pitchFamily="34" charset="0"/>
              </a:defRPr>
            </a:lvl1pPr>
          </a:lstStyle>
          <a:p>
            <a:r>
              <a:rPr lang="en-US"/>
              <a:t>09e-BM/DT/FSOFT - @FPT SOFTWARE - FPT Software Academy - Internal Use</a:t>
            </a:r>
          </a:p>
        </p:txBody>
      </p:sp>
    </p:spTree>
    <p:extLst>
      <p:ext uri="{BB962C8B-B14F-4D97-AF65-F5344CB8AC3E}">
        <p14:creationId xmlns:p14="http://schemas.microsoft.com/office/powerpoint/2010/main" val="155944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2768832"/>
            <a:ext cx="10515600" cy="2666531"/>
          </a:xfrm>
        </p:spPr>
        <p:txBody>
          <a:bodyPr anchor="t">
            <a:normAutofit/>
          </a:bodyPr>
          <a:lstStyle>
            <a:lvl1pPr>
              <a:defRPr sz="4400"/>
            </a:lvl1pPr>
          </a:lstStyle>
          <a:p>
            <a:r>
              <a:rPr lang="en-US" dirty="0"/>
              <a:t>CLICK TO EDIT MASTER TITLE STYLE</a:t>
            </a:r>
          </a:p>
        </p:txBody>
      </p:sp>
      <p:sp>
        <p:nvSpPr>
          <p:cNvPr id="3" name="Text Placeholder 2"/>
          <p:cNvSpPr>
            <a:spLocks noGrp="1"/>
          </p:cNvSpPr>
          <p:nvPr>
            <p:ph type="body" idx="1"/>
          </p:nvPr>
        </p:nvSpPr>
        <p:spPr>
          <a:xfrm>
            <a:off x="838200" y="2032847"/>
            <a:ext cx="10515600" cy="735985"/>
          </a:xfrm>
        </p:spPr>
        <p:txBody>
          <a:bodyPr anchor="ctr" anchorCtr="0"/>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6" name="Slide Number Placeholder 5"/>
          <p:cNvSpPr>
            <a:spLocks noGrp="1"/>
          </p:cNvSpPr>
          <p:nvPr>
            <p:ph type="sldNum" sz="quarter" idx="12"/>
          </p:nvPr>
        </p:nvSpPr>
        <p:spPr/>
        <p:txBody>
          <a:bodyPr/>
          <a:lstStyle/>
          <a:p>
            <a:fld id="{586DAB0F-01A5-4AB0-84E3-BA9DDAF20443}" type="slidenum">
              <a:rPr lang="en-US" smtClean="0"/>
              <a:t>‹#›</a:t>
            </a:fld>
            <a:endParaRPr lang="en-US"/>
          </a:p>
        </p:txBody>
      </p:sp>
      <p:sp>
        <p:nvSpPr>
          <p:cNvPr id="11" name="Rectangle 10">
            <a:extLst>
              <a:ext uri="{FF2B5EF4-FFF2-40B4-BE49-F238E27FC236}">
                <a16:creationId xmlns:a16="http://schemas.microsoft.com/office/drawing/2014/main" id="{0724ED51-80BC-45B7-BF13-7863F1C0058D}"/>
              </a:ext>
            </a:extLst>
          </p:cNvPr>
          <p:cNvSpPr/>
          <p:nvPr/>
        </p:nvSpPr>
        <p:spPr>
          <a:xfrm>
            <a:off x="0" y="103239"/>
            <a:ext cx="486697" cy="9438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B634E65-81C3-4903-94C6-20182E22C995}"/>
              </a:ext>
            </a:extLst>
          </p:cNvPr>
          <p:cNvSpPr/>
          <p:nvPr/>
        </p:nvSpPr>
        <p:spPr>
          <a:xfrm>
            <a:off x="0" y="2032847"/>
            <a:ext cx="213695" cy="648945"/>
          </a:xfrm>
          <a:prstGeom prst="rect">
            <a:avLst/>
          </a:prstGeom>
          <a:solidFill>
            <a:srgbClr val="396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EE77C91-7B10-4D08-B05A-38C1EDFCEE6B}"/>
              </a:ext>
            </a:extLst>
          </p:cNvPr>
          <p:cNvSpPr/>
          <p:nvPr/>
        </p:nvSpPr>
        <p:spPr>
          <a:xfrm>
            <a:off x="300710" y="2032847"/>
            <a:ext cx="126993" cy="648945"/>
          </a:xfrm>
          <a:prstGeom prst="rect">
            <a:avLst/>
          </a:prstGeom>
          <a:solidFill>
            <a:srgbClr val="76BE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ooter Placeholder 4">
            <a:extLst>
              <a:ext uri="{FF2B5EF4-FFF2-40B4-BE49-F238E27FC236}">
                <a16:creationId xmlns:a16="http://schemas.microsoft.com/office/drawing/2014/main" id="{56C839EE-3AFB-42ED-A396-BB8BFF7AB810}"/>
              </a:ext>
            </a:extLst>
          </p:cNvPr>
          <p:cNvSpPr>
            <a:spLocks noGrp="1"/>
          </p:cNvSpPr>
          <p:nvPr>
            <p:ph type="ftr" sz="quarter" idx="3"/>
          </p:nvPr>
        </p:nvSpPr>
        <p:spPr>
          <a:xfrm>
            <a:off x="4901329" y="6320400"/>
            <a:ext cx="6071471"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cs typeface="Arial" panose="020B0604020202020204" pitchFamily="34" charset="0"/>
              </a:defRPr>
            </a:lvl1pPr>
          </a:lstStyle>
          <a:p>
            <a:r>
              <a:rPr lang="en-US"/>
              <a:t>09e-BM/DT/FSOFT - @FPT SOFTWARE - FPT Software Academy - Internal Use</a:t>
            </a:r>
          </a:p>
        </p:txBody>
      </p:sp>
    </p:spTree>
    <p:extLst>
      <p:ext uri="{BB962C8B-B14F-4D97-AF65-F5344CB8AC3E}">
        <p14:creationId xmlns:p14="http://schemas.microsoft.com/office/powerpoint/2010/main" val="36808625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262594"/>
            <a:ext cx="10515600" cy="790954"/>
          </a:xfrm>
        </p:spPr>
        <p:txBody>
          <a:bodyPr>
            <a:normAutofit/>
          </a:bodyPr>
          <a:lstStyle>
            <a:lvl1pPr>
              <a:defRPr sz="3600"/>
            </a:lvl1pPr>
          </a:lstStyle>
          <a:p>
            <a:r>
              <a:rPr lang="en-US" dirty="0"/>
              <a:t>Click to edit Master title style</a:t>
            </a:r>
          </a:p>
        </p:txBody>
      </p:sp>
      <p:sp>
        <p:nvSpPr>
          <p:cNvPr id="3" name="Content Placeholder 2"/>
          <p:cNvSpPr>
            <a:spLocks noGrp="1"/>
          </p:cNvSpPr>
          <p:nvPr>
            <p:ph sz="half" idx="1"/>
          </p:nvPr>
        </p:nvSpPr>
        <p:spPr>
          <a:xfrm>
            <a:off x="838200" y="1287556"/>
            <a:ext cx="5181600" cy="4966685"/>
          </a:xfrm>
        </p:spPr>
        <p:txBody>
          <a:bodyPr/>
          <a:lstStyle>
            <a:lvl1pPr marL="228600" indent="-228600">
              <a:lnSpc>
                <a:spcPct val="100000"/>
              </a:lnSpc>
              <a:spcBef>
                <a:spcPts val="600"/>
              </a:spcBef>
              <a:buFont typeface="Wingdings" panose="05000000000000000000" pitchFamily="2" charset="2"/>
              <a:buChar char="§"/>
              <a:defRPr/>
            </a:lvl1pPr>
            <a:lvl2pPr marL="685800" indent="-228600">
              <a:lnSpc>
                <a:spcPct val="100000"/>
              </a:lnSpc>
              <a:spcBef>
                <a:spcPts val="600"/>
              </a:spcBef>
              <a:buFont typeface="Wingdings" panose="05000000000000000000" pitchFamily="2" charset="2"/>
              <a:buChar char="ü"/>
              <a:defRPr/>
            </a:lvl2pPr>
            <a:lvl3pPr>
              <a:lnSpc>
                <a:spcPct val="100000"/>
              </a:lnSpc>
              <a:spcBef>
                <a:spcPts val="600"/>
              </a:spcBef>
              <a:defRPr/>
            </a:lvl3pPr>
            <a:lvl4pPr>
              <a:lnSpc>
                <a:spcPct val="100000"/>
              </a:lnSpc>
              <a:spcBef>
                <a:spcPts val="600"/>
              </a:spcBef>
              <a:defRPr/>
            </a:lvl4pPr>
            <a:lvl5pPr>
              <a:lnSpc>
                <a:spcPct val="100000"/>
              </a:lnSpc>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287555"/>
            <a:ext cx="5181600" cy="4966685"/>
          </a:xfrm>
        </p:spPr>
        <p:txBody>
          <a:bodyPr/>
          <a:lstStyle>
            <a:lvl1pPr marL="228600" indent="-228600">
              <a:buFont typeface="Wingdings" panose="05000000000000000000" pitchFamily="2" charset="2"/>
              <a:buChar char="§"/>
              <a:defRPr/>
            </a:lvl1pPr>
            <a:lvl2pPr marL="685800" indent="-228600">
              <a:buFont typeface="Wingdings" panose="05000000000000000000" pitchFamily="2" charset="2"/>
              <a:buChar char="ü"/>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2"/>
          </p:nvPr>
        </p:nvSpPr>
        <p:spPr/>
        <p:txBody>
          <a:bodyPr/>
          <a:lstStyle/>
          <a:p>
            <a:fld id="{586DAB0F-01A5-4AB0-84E3-BA9DDAF20443}" type="slidenum">
              <a:rPr lang="en-US" smtClean="0"/>
              <a:t>‹#›</a:t>
            </a:fld>
            <a:endParaRPr lang="en-US"/>
          </a:p>
        </p:txBody>
      </p:sp>
      <p:sp>
        <p:nvSpPr>
          <p:cNvPr id="8" name="Footer Placeholder 4">
            <a:extLst>
              <a:ext uri="{FF2B5EF4-FFF2-40B4-BE49-F238E27FC236}">
                <a16:creationId xmlns:a16="http://schemas.microsoft.com/office/drawing/2014/main" id="{FE5354D4-AE78-4FA0-A247-75C8A048D65F}"/>
              </a:ext>
            </a:extLst>
          </p:cNvPr>
          <p:cNvSpPr>
            <a:spLocks noGrp="1"/>
          </p:cNvSpPr>
          <p:nvPr>
            <p:ph type="ftr" sz="quarter" idx="3"/>
          </p:nvPr>
        </p:nvSpPr>
        <p:spPr>
          <a:xfrm>
            <a:off x="4901329" y="6320400"/>
            <a:ext cx="6071471"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cs typeface="Arial" panose="020B0604020202020204" pitchFamily="34" charset="0"/>
              </a:defRPr>
            </a:lvl1pPr>
          </a:lstStyle>
          <a:p>
            <a:r>
              <a:rPr lang="en-US"/>
              <a:t>09e-BM/DT/FSOFT - @FPT SOFTWARE - FPT Software Academy - Internal Use</a:t>
            </a:r>
          </a:p>
        </p:txBody>
      </p:sp>
    </p:spTree>
    <p:extLst>
      <p:ext uri="{BB962C8B-B14F-4D97-AF65-F5344CB8AC3E}">
        <p14:creationId xmlns:p14="http://schemas.microsoft.com/office/powerpoint/2010/main" val="34215515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785192" y="1157496"/>
            <a:ext cx="5347956" cy="823912"/>
          </a:xfrm>
        </p:spPr>
        <p:txBody>
          <a:bodyPr anchor="ct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785192" y="2025654"/>
            <a:ext cx="5347956" cy="4257804"/>
          </a:xfrm>
        </p:spPr>
        <p:txBody>
          <a:bodyPr/>
          <a:lstStyle>
            <a:lvl1pPr marL="457200" indent="-457200">
              <a:lnSpc>
                <a:spcPct val="100000"/>
              </a:lnSpc>
              <a:spcBef>
                <a:spcPts val="600"/>
              </a:spcBef>
              <a:buFont typeface="Wingdings" panose="05000000000000000000" pitchFamily="2" charset="2"/>
              <a:buChar char="§"/>
              <a:defRPr/>
            </a:lvl1pPr>
            <a:lvl2pPr marL="685800" indent="-228600">
              <a:lnSpc>
                <a:spcPct val="100000"/>
              </a:lnSpc>
              <a:spcBef>
                <a:spcPts val="600"/>
              </a:spcBef>
              <a:buFont typeface="Wingdings" panose="05000000000000000000" pitchFamily="2" charset="2"/>
              <a:buChar char="ü"/>
              <a:defRPr/>
            </a:lvl2pPr>
            <a:lvl3pPr>
              <a:lnSpc>
                <a:spcPct val="100000"/>
              </a:lnSpc>
              <a:spcBef>
                <a:spcPts val="600"/>
              </a:spcBef>
              <a:defRPr/>
            </a:lvl3pPr>
            <a:lvl4pPr>
              <a:lnSpc>
                <a:spcPct val="100000"/>
              </a:lnSpc>
              <a:spcBef>
                <a:spcPts val="600"/>
              </a:spcBef>
              <a:defRPr/>
            </a:lvl4pPr>
            <a:lvl5pPr>
              <a:lnSpc>
                <a:spcPct val="100000"/>
              </a:lnSpc>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307772" y="1157496"/>
            <a:ext cx="5183188" cy="823912"/>
          </a:xfrm>
        </p:spPr>
        <p:txBody>
          <a:bodyPr anchor="ct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07772" y="1981408"/>
            <a:ext cx="5183188" cy="4257804"/>
          </a:xfrm>
        </p:spPr>
        <p:txBody>
          <a:bodyPr/>
          <a:lstStyle>
            <a:lvl1pPr marL="228600" indent="-228600">
              <a:lnSpc>
                <a:spcPct val="100000"/>
              </a:lnSpc>
              <a:spcBef>
                <a:spcPts val="600"/>
              </a:spcBef>
              <a:buFont typeface="Wingdings" panose="05000000000000000000" pitchFamily="2" charset="2"/>
              <a:buChar char="§"/>
              <a:defRPr/>
            </a:lvl1pPr>
            <a:lvl2pPr marL="685800" indent="-228600">
              <a:lnSpc>
                <a:spcPct val="100000"/>
              </a:lnSpc>
              <a:spcBef>
                <a:spcPts val="600"/>
              </a:spcBef>
              <a:buFont typeface="Wingdings" panose="05000000000000000000" pitchFamily="2" charset="2"/>
              <a:buChar char="ü"/>
              <a:defRPr/>
            </a:lvl2pPr>
            <a:lvl3pPr>
              <a:lnSpc>
                <a:spcPct val="100000"/>
              </a:lnSpc>
              <a:spcBef>
                <a:spcPts val="600"/>
              </a:spcBef>
              <a:defRPr/>
            </a:lvl3pPr>
            <a:lvl4pPr>
              <a:lnSpc>
                <a:spcPct val="100000"/>
              </a:lnSpc>
              <a:spcBef>
                <a:spcPts val="600"/>
              </a:spcBef>
              <a:defRPr/>
            </a:lvl4pPr>
            <a:lvl5pPr>
              <a:lnSpc>
                <a:spcPct val="100000"/>
              </a:lnSpc>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p:cNvSpPr>
            <a:spLocks noGrp="1"/>
          </p:cNvSpPr>
          <p:nvPr>
            <p:ph type="sldNum" sz="quarter" idx="12"/>
          </p:nvPr>
        </p:nvSpPr>
        <p:spPr/>
        <p:txBody>
          <a:bodyPr/>
          <a:lstStyle/>
          <a:p>
            <a:fld id="{586DAB0F-01A5-4AB0-84E3-BA9DDAF20443}" type="slidenum">
              <a:rPr lang="en-US" smtClean="0"/>
              <a:t>‹#›</a:t>
            </a:fld>
            <a:endParaRPr lang="en-US"/>
          </a:p>
        </p:txBody>
      </p:sp>
      <p:sp>
        <p:nvSpPr>
          <p:cNvPr id="10" name="Title 1">
            <a:extLst>
              <a:ext uri="{FF2B5EF4-FFF2-40B4-BE49-F238E27FC236}">
                <a16:creationId xmlns:a16="http://schemas.microsoft.com/office/drawing/2014/main" id="{A366CE84-F229-4519-9CAF-24D911C14B6F}"/>
              </a:ext>
            </a:extLst>
          </p:cNvPr>
          <p:cNvSpPr>
            <a:spLocks noGrp="1"/>
          </p:cNvSpPr>
          <p:nvPr>
            <p:ph type="title"/>
          </p:nvPr>
        </p:nvSpPr>
        <p:spPr>
          <a:xfrm>
            <a:off x="785191" y="172475"/>
            <a:ext cx="10705769" cy="811499"/>
          </a:xfrm>
        </p:spPr>
        <p:txBody>
          <a:bodyPr>
            <a:normAutofit/>
          </a:bodyPr>
          <a:lstStyle>
            <a:lvl1pPr>
              <a:defRPr sz="3600"/>
            </a:lvl1pPr>
          </a:lstStyle>
          <a:p>
            <a:r>
              <a:rPr lang="en-US" dirty="0"/>
              <a:t>Click to edit Master title style</a:t>
            </a:r>
          </a:p>
        </p:txBody>
      </p:sp>
      <p:sp>
        <p:nvSpPr>
          <p:cNvPr id="11" name="Footer Placeholder 4">
            <a:extLst>
              <a:ext uri="{FF2B5EF4-FFF2-40B4-BE49-F238E27FC236}">
                <a16:creationId xmlns:a16="http://schemas.microsoft.com/office/drawing/2014/main" id="{A90C2898-BD78-4B78-B83A-332AEA95B799}"/>
              </a:ext>
            </a:extLst>
          </p:cNvPr>
          <p:cNvSpPr>
            <a:spLocks noGrp="1"/>
          </p:cNvSpPr>
          <p:nvPr>
            <p:ph type="ftr" sz="quarter" idx="13"/>
          </p:nvPr>
        </p:nvSpPr>
        <p:spPr>
          <a:xfrm>
            <a:off x="4901329" y="6320400"/>
            <a:ext cx="6071471"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cs typeface="Arial" panose="020B0604020202020204" pitchFamily="34" charset="0"/>
              </a:defRPr>
            </a:lvl1pPr>
          </a:lstStyle>
          <a:p>
            <a:r>
              <a:rPr lang="en-US"/>
              <a:t>09e-BM/DT/FSOFT - @FPT SOFTWARE - FPT Software Academy - Internal Use</a:t>
            </a:r>
          </a:p>
        </p:txBody>
      </p:sp>
    </p:spTree>
    <p:extLst>
      <p:ext uri="{BB962C8B-B14F-4D97-AF65-F5344CB8AC3E}">
        <p14:creationId xmlns:p14="http://schemas.microsoft.com/office/powerpoint/2010/main" val="18955690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586DAB0F-01A5-4AB0-84E3-BA9DDAF20443}" type="slidenum">
              <a:rPr lang="en-US" smtClean="0"/>
              <a:t>‹#›</a:t>
            </a:fld>
            <a:endParaRPr lang="en-US"/>
          </a:p>
        </p:txBody>
      </p:sp>
      <p:sp>
        <p:nvSpPr>
          <p:cNvPr id="6" name="Title 1">
            <a:extLst>
              <a:ext uri="{FF2B5EF4-FFF2-40B4-BE49-F238E27FC236}">
                <a16:creationId xmlns:a16="http://schemas.microsoft.com/office/drawing/2014/main" id="{02DB8FF0-427D-448C-8CE4-358B460FA5A1}"/>
              </a:ext>
            </a:extLst>
          </p:cNvPr>
          <p:cNvSpPr>
            <a:spLocks noGrp="1"/>
          </p:cNvSpPr>
          <p:nvPr>
            <p:ph type="title"/>
          </p:nvPr>
        </p:nvSpPr>
        <p:spPr>
          <a:xfrm>
            <a:off x="838200" y="161248"/>
            <a:ext cx="10515600" cy="966672"/>
          </a:xfrm>
        </p:spPr>
        <p:txBody>
          <a:bodyPr>
            <a:normAutofit/>
          </a:bodyPr>
          <a:lstStyle>
            <a:lvl1pPr>
              <a:defRPr sz="3600"/>
            </a:lvl1pPr>
          </a:lstStyle>
          <a:p>
            <a:r>
              <a:rPr lang="en-US" dirty="0"/>
              <a:t>Click to edit Master title style</a:t>
            </a:r>
          </a:p>
        </p:txBody>
      </p:sp>
      <p:sp>
        <p:nvSpPr>
          <p:cNvPr id="7" name="Footer Placeholder 4">
            <a:extLst>
              <a:ext uri="{FF2B5EF4-FFF2-40B4-BE49-F238E27FC236}">
                <a16:creationId xmlns:a16="http://schemas.microsoft.com/office/drawing/2014/main" id="{B9CEFD97-C22E-4E5E-A71E-FAB68258B9AA}"/>
              </a:ext>
            </a:extLst>
          </p:cNvPr>
          <p:cNvSpPr>
            <a:spLocks noGrp="1"/>
          </p:cNvSpPr>
          <p:nvPr>
            <p:ph type="ftr" sz="quarter" idx="3"/>
          </p:nvPr>
        </p:nvSpPr>
        <p:spPr>
          <a:xfrm>
            <a:off x="4901329" y="6320400"/>
            <a:ext cx="6071471"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cs typeface="Arial" panose="020B0604020202020204" pitchFamily="34" charset="0"/>
              </a:defRPr>
            </a:lvl1pPr>
          </a:lstStyle>
          <a:p>
            <a:r>
              <a:rPr lang="en-US"/>
              <a:t>09e-BM/DT/FSOFT - @FPT SOFTWARE - FPT Software Academy - Internal Use</a:t>
            </a:r>
          </a:p>
        </p:txBody>
      </p:sp>
    </p:spTree>
    <p:extLst>
      <p:ext uri="{BB962C8B-B14F-4D97-AF65-F5344CB8AC3E}">
        <p14:creationId xmlns:p14="http://schemas.microsoft.com/office/powerpoint/2010/main" val="1884822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586DAB0F-01A5-4AB0-84E3-BA9DDAF20443}" type="slidenum">
              <a:rPr lang="en-US" smtClean="0"/>
              <a:t>‹#›</a:t>
            </a:fld>
            <a:endParaRPr lang="en-US"/>
          </a:p>
        </p:txBody>
      </p:sp>
      <p:sp>
        <p:nvSpPr>
          <p:cNvPr id="5" name="Footer Placeholder 4">
            <a:extLst>
              <a:ext uri="{FF2B5EF4-FFF2-40B4-BE49-F238E27FC236}">
                <a16:creationId xmlns:a16="http://schemas.microsoft.com/office/drawing/2014/main" id="{AEE5BFEF-8812-4F3D-A2DC-BB1E2B2C7B50}"/>
              </a:ext>
            </a:extLst>
          </p:cNvPr>
          <p:cNvSpPr>
            <a:spLocks noGrp="1"/>
          </p:cNvSpPr>
          <p:nvPr>
            <p:ph type="ftr" sz="quarter" idx="3"/>
          </p:nvPr>
        </p:nvSpPr>
        <p:spPr>
          <a:xfrm>
            <a:off x="4901329" y="6320400"/>
            <a:ext cx="6071471"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cs typeface="Arial" panose="020B0604020202020204" pitchFamily="34" charset="0"/>
              </a:defRPr>
            </a:lvl1pPr>
          </a:lstStyle>
          <a:p>
            <a:r>
              <a:rPr lang="en-US"/>
              <a:t>09e-BM/DT/FSOFT - @FPT SOFTWARE - FPT Software Academy - Internal Use</a:t>
            </a:r>
          </a:p>
        </p:txBody>
      </p:sp>
    </p:spTree>
    <p:extLst>
      <p:ext uri="{BB962C8B-B14F-4D97-AF65-F5344CB8AC3E}">
        <p14:creationId xmlns:p14="http://schemas.microsoft.com/office/powerpoint/2010/main" val="14580625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5678" y="188260"/>
            <a:ext cx="9621663" cy="799166"/>
          </a:xfrm>
        </p:spPr>
        <p:txBody>
          <a:bodyPr anchor="ctr" anchorCtr="0"/>
          <a:lstStyle>
            <a:lvl1pPr>
              <a:defRPr sz="3200"/>
            </a:lvl1pPr>
          </a:lstStyle>
          <a:p>
            <a:r>
              <a:rPr lang="en-US"/>
              <a:t>Click to edit Master title style</a:t>
            </a:r>
          </a:p>
        </p:txBody>
      </p:sp>
      <p:sp>
        <p:nvSpPr>
          <p:cNvPr id="3" name="Picture Placeholder 2"/>
          <p:cNvSpPr>
            <a:spLocks noGrp="1"/>
          </p:cNvSpPr>
          <p:nvPr>
            <p:ph type="pic" idx="1"/>
          </p:nvPr>
        </p:nvSpPr>
        <p:spPr>
          <a:xfrm>
            <a:off x="5183188" y="1133061"/>
            <a:ext cx="6172200" cy="472798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705678" y="1133061"/>
            <a:ext cx="4066347" cy="473592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Slide Number Placeholder 6"/>
          <p:cNvSpPr>
            <a:spLocks noGrp="1"/>
          </p:cNvSpPr>
          <p:nvPr>
            <p:ph type="sldNum" sz="quarter" idx="12"/>
          </p:nvPr>
        </p:nvSpPr>
        <p:spPr/>
        <p:txBody>
          <a:bodyPr/>
          <a:lstStyle/>
          <a:p>
            <a:fld id="{586DAB0F-01A5-4AB0-84E3-BA9DDAF20443}" type="slidenum">
              <a:rPr lang="en-US" smtClean="0"/>
              <a:t>‹#›</a:t>
            </a:fld>
            <a:endParaRPr lang="en-US"/>
          </a:p>
        </p:txBody>
      </p:sp>
      <p:sp>
        <p:nvSpPr>
          <p:cNvPr id="8" name="Footer Placeholder 4">
            <a:extLst>
              <a:ext uri="{FF2B5EF4-FFF2-40B4-BE49-F238E27FC236}">
                <a16:creationId xmlns:a16="http://schemas.microsoft.com/office/drawing/2014/main" id="{B02BF936-9122-4F42-9C1A-73CE236A2FD1}"/>
              </a:ext>
            </a:extLst>
          </p:cNvPr>
          <p:cNvSpPr>
            <a:spLocks noGrp="1"/>
          </p:cNvSpPr>
          <p:nvPr>
            <p:ph type="ftr" sz="quarter" idx="3"/>
          </p:nvPr>
        </p:nvSpPr>
        <p:spPr>
          <a:xfrm>
            <a:off x="4901329" y="6320400"/>
            <a:ext cx="6071471"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cs typeface="Arial" panose="020B0604020202020204" pitchFamily="34" charset="0"/>
              </a:defRPr>
            </a:lvl1pPr>
          </a:lstStyle>
          <a:p>
            <a:r>
              <a:rPr lang="en-US"/>
              <a:t>09e-BM/DT/FSOFT - @FPT SOFTWARE - FPT Software Academy - Internal Use</a:t>
            </a:r>
          </a:p>
        </p:txBody>
      </p:sp>
    </p:spTree>
    <p:extLst>
      <p:ext uri="{BB962C8B-B14F-4D97-AF65-F5344CB8AC3E}">
        <p14:creationId xmlns:p14="http://schemas.microsoft.com/office/powerpoint/2010/main" val="27035318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717176" y="1275030"/>
            <a:ext cx="10723639" cy="4850512"/>
          </a:xfrm>
        </p:spPr>
        <p:txBody>
          <a:bodyPr vert="eaVert"/>
          <a:lstStyle>
            <a:lvl1pPr marL="228600" indent="-228600">
              <a:lnSpc>
                <a:spcPct val="100000"/>
              </a:lnSpc>
              <a:spcBef>
                <a:spcPts val="600"/>
              </a:spcBef>
              <a:buFont typeface="Wingdings" panose="05000000000000000000" pitchFamily="2" charset="2"/>
              <a:buChar char="§"/>
              <a:defRPr/>
            </a:lvl1pPr>
            <a:lvl2pPr marL="685800" indent="-228600">
              <a:lnSpc>
                <a:spcPct val="100000"/>
              </a:lnSpc>
              <a:spcBef>
                <a:spcPts val="600"/>
              </a:spcBef>
              <a:buFont typeface="Wingdings" panose="05000000000000000000" pitchFamily="2" charset="2"/>
              <a:buChar char="ü"/>
              <a:defRPr/>
            </a:lvl2pPr>
            <a:lvl3pPr>
              <a:lnSpc>
                <a:spcPct val="100000"/>
              </a:lnSpc>
              <a:spcBef>
                <a:spcPts val="600"/>
              </a:spcBef>
              <a:defRPr/>
            </a:lvl3pPr>
            <a:lvl4pPr>
              <a:lnSpc>
                <a:spcPct val="100000"/>
              </a:lnSpc>
              <a:spcBef>
                <a:spcPts val="600"/>
              </a:spcBef>
              <a:defRPr/>
            </a:lvl4pPr>
            <a:lvl5pPr>
              <a:lnSpc>
                <a:spcPct val="100000"/>
              </a:lnSpc>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586DAB0F-01A5-4AB0-84E3-BA9DDAF20443}" type="slidenum">
              <a:rPr lang="en-US" smtClean="0"/>
              <a:t>‹#›</a:t>
            </a:fld>
            <a:endParaRPr lang="en-US"/>
          </a:p>
        </p:txBody>
      </p:sp>
      <p:sp>
        <p:nvSpPr>
          <p:cNvPr id="7" name="Title 1">
            <a:extLst>
              <a:ext uri="{FF2B5EF4-FFF2-40B4-BE49-F238E27FC236}">
                <a16:creationId xmlns:a16="http://schemas.microsoft.com/office/drawing/2014/main" id="{99692E51-65A5-4DC3-AB45-C7F52BEA651E}"/>
              </a:ext>
            </a:extLst>
          </p:cNvPr>
          <p:cNvSpPr>
            <a:spLocks noGrp="1"/>
          </p:cNvSpPr>
          <p:nvPr>
            <p:ph type="title"/>
          </p:nvPr>
        </p:nvSpPr>
        <p:spPr>
          <a:xfrm>
            <a:off x="717176" y="159201"/>
            <a:ext cx="10773784" cy="966672"/>
          </a:xfrm>
        </p:spPr>
        <p:txBody>
          <a:bodyPr/>
          <a:lstStyle/>
          <a:p>
            <a:r>
              <a:rPr lang="en-US"/>
              <a:t>Click to edit Master title style</a:t>
            </a:r>
          </a:p>
        </p:txBody>
      </p:sp>
      <p:sp>
        <p:nvSpPr>
          <p:cNvPr id="8" name="Footer Placeholder 4">
            <a:extLst>
              <a:ext uri="{FF2B5EF4-FFF2-40B4-BE49-F238E27FC236}">
                <a16:creationId xmlns:a16="http://schemas.microsoft.com/office/drawing/2014/main" id="{2902FDD9-B1E4-4CA7-9EB3-F48A566E6765}"/>
              </a:ext>
            </a:extLst>
          </p:cNvPr>
          <p:cNvSpPr>
            <a:spLocks noGrp="1"/>
          </p:cNvSpPr>
          <p:nvPr>
            <p:ph type="ftr" sz="quarter" idx="3"/>
          </p:nvPr>
        </p:nvSpPr>
        <p:spPr>
          <a:xfrm>
            <a:off x="4901329" y="6320400"/>
            <a:ext cx="6071471"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cs typeface="Arial" panose="020B0604020202020204" pitchFamily="34" charset="0"/>
              </a:defRPr>
            </a:lvl1pPr>
          </a:lstStyle>
          <a:p>
            <a:r>
              <a:rPr lang="en-US"/>
              <a:t>09e-BM/DT/FSOFT - @FPT SOFTWARE - FPT Software Academy - Internal Use</a:t>
            </a:r>
          </a:p>
        </p:txBody>
      </p:sp>
    </p:spTree>
    <p:extLst>
      <p:ext uri="{BB962C8B-B14F-4D97-AF65-F5344CB8AC3E}">
        <p14:creationId xmlns:p14="http://schemas.microsoft.com/office/powerpoint/2010/main" val="2490294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1643216"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586DAB0F-01A5-4AB0-84E3-BA9DDAF20443}" type="slidenum">
              <a:rPr lang="en-US" smtClean="0"/>
              <a:t>‹#›</a:t>
            </a:fld>
            <a:endParaRPr lang="en-US"/>
          </a:p>
        </p:txBody>
      </p:sp>
      <p:sp>
        <p:nvSpPr>
          <p:cNvPr id="7" name="Footer Placeholder 4">
            <a:extLst>
              <a:ext uri="{FF2B5EF4-FFF2-40B4-BE49-F238E27FC236}">
                <a16:creationId xmlns:a16="http://schemas.microsoft.com/office/drawing/2014/main" id="{68C6B84B-1AB4-4230-9D84-6E2D983908C8}"/>
              </a:ext>
            </a:extLst>
          </p:cNvPr>
          <p:cNvSpPr>
            <a:spLocks noGrp="1"/>
          </p:cNvSpPr>
          <p:nvPr>
            <p:ph type="ftr" sz="quarter" idx="3"/>
          </p:nvPr>
        </p:nvSpPr>
        <p:spPr>
          <a:xfrm>
            <a:off x="4901329" y="6320400"/>
            <a:ext cx="6071471"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cs typeface="Arial" panose="020B0604020202020204" pitchFamily="34" charset="0"/>
              </a:defRPr>
            </a:lvl1pPr>
          </a:lstStyle>
          <a:p>
            <a:r>
              <a:rPr lang="en-US"/>
              <a:t>09e-BM/DT/FSOFT - @FPT SOFTWARE - FPT Software Academy - Internal Use</a:t>
            </a:r>
          </a:p>
        </p:txBody>
      </p:sp>
    </p:spTree>
    <p:extLst>
      <p:ext uri="{BB962C8B-B14F-4D97-AF65-F5344CB8AC3E}">
        <p14:creationId xmlns:p14="http://schemas.microsoft.com/office/powerpoint/2010/main" val="11371593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Parallelogram 6">
            <a:extLst>
              <a:ext uri="{FF2B5EF4-FFF2-40B4-BE49-F238E27FC236}">
                <a16:creationId xmlns:a16="http://schemas.microsoft.com/office/drawing/2014/main" id="{9F1A27CD-428A-4866-A2D0-3874BC60AD1A}"/>
              </a:ext>
            </a:extLst>
          </p:cNvPr>
          <p:cNvSpPr/>
          <p:nvPr/>
        </p:nvSpPr>
        <p:spPr>
          <a:xfrm>
            <a:off x="3195747" y="6293862"/>
            <a:ext cx="1350028" cy="564138"/>
          </a:xfrm>
          <a:prstGeom prst="parallelogram">
            <a:avLst>
              <a:gd name="adj" fmla="val 85423"/>
            </a:avLst>
          </a:prstGeom>
          <a:solidFill>
            <a:srgbClr val="76BE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925215" y="223220"/>
            <a:ext cx="10515600" cy="966672"/>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925215" y="1275030"/>
            <a:ext cx="10515600" cy="48505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93367"/>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901329" y="6320400"/>
            <a:ext cx="6071471"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cs typeface="Arial" panose="020B0604020202020204" pitchFamily="34" charset="0"/>
              </a:defRPr>
            </a:lvl1pPr>
          </a:lstStyle>
          <a:p>
            <a:r>
              <a:rPr lang="en-US"/>
              <a:t>09e-BM/DT/FSOFT - @FPT SOFTWARE - FPT Software Academy - Internal Use</a:t>
            </a:r>
          </a:p>
        </p:txBody>
      </p:sp>
      <p:pic>
        <p:nvPicPr>
          <p:cNvPr id="18" name="Picture 17">
            <a:extLst>
              <a:ext uri="{FF2B5EF4-FFF2-40B4-BE49-F238E27FC236}">
                <a16:creationId xmlns:a16="http://schemas.microsoft.com/office/drawing/2014/main" id="{67806384-FA12-4C89-B6CF-0DEEAB0E4C61}"/>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0617247" y="172475"/>
            <a:ext cx="1535088" cy="786186"/>
          </a:xfrm>
          <a:prstGeom prst="rect">
            <a:avLst/>
          </a:prstGeom>
        </p:spPr>
      </p:pic>
      <p:sp>
        <p:nvSpPr>
          <p:cNvPr id="6" name="Slide Number Placeholder 5"/>
          <p:cNvSpPr>
            <a:spLocks noGrp="1"/>
          </p:cNvSpPr>
          <p:nvPr>
            <p:ph type="sldNum" sz="quarter" idx="4"/>
          </p:nvPr>
        </p:nvSpPr>
        <p:spPr>
          <a:xfrm>
            <a:off x="10972800" y="6320400"/>
            <a:ext cx="614337" cy="365125"/>
          </a:xfrm>
          <a:prstGeom prst="rect">
            <a:avLst/>
          </a:prstGeom>
          <a:solidFill>
            <a:schemeClr val="bg1"/>
          </a:solidFill>
          <a:ln w="28575">
            <a:solidFill>
              <a:srgbClr val="92D050"/>
            </a:solidFill>
          </a:ln>
        </p:spPr>
        <p:txBody>
          <a:bodyPr vert="horz" lIns="91440" tIns="45720" rIns="91440" bIns="45720" rtlCol="0" anchor="ctr"/>
          <a:lstStyle>
            <a:lvl1pPr algn="ctr">
              <a:defRPr sz="1800" b="1">
                <a:solidFill>
                  <a:schemeClr val="accent2"/>
                </a:solidFill>
                <a:latin typeface="Arial" panose="020B0604020202020204" pitchFamily="34" charset="0"/>
                <a:cs typeface="Arial" panose="020B0604020202020204" pitchFamily="34" charset="0"/>
              </a:defRPr>
            </a:lvl1pPr>
          </a:lstStyle>
          <a:p>
            <a:fld id="{586DAB0F-01A5-4AB0-84E3-BA9DDAF20443}" type="slidenum">
              <a:rPr lang="en-US" smtClean="0"/>
              <a:pPr/>
              <a:t>‹#›</a:t>
            </a:fld>
            <a:endParaRPr lang="en-US"/>
          </a:p>
        </p:txBody>
      </p:sp>
      <p:sp>
        <p:nvSpPr>
          <p:cNvPr id="22" name="Freeform: Shape 21">
            <a:extLst>
              <a:ext uri="{FF2B5EF4-FFF2-40B4-BE49-F238E27FC236}">
                <a16:creationId xmlns:a16="http://schemas.microsoft.com/office/drawing/2014/main" id="{32329F25-E96C-407E-B0FF-AF25CE2FD0EB}"/>
              </a:ext>
            </a:extLst>
          </p:cNvPr>
          <p:cNvSpPr/>
          <p:nvPr/>
        </p:nvSpPr>
        <p:spPr>
          <a:xfrm>
            <a:off x="0" y="6295819"/>
            <a:ext cx="4325150" cy="575254"/>
          </a:xfrm>
          <a:custGeom>
            <a:avLst/>
            <a:gdLst>
              <a:gd name="connsiteX0" fmla="*/ 0 w 4325150"/>
              <a:gd name="connsiteY0" fmla="*/ 0 h 575254"/>
              <a:gd name="connsiteX1" fmla="*/ 3811653 w 4325150"/>
              <a:gd name="connsiteY1" fmla="*/ 0 h 575254"/>
              <a:gd name="connsiteX2" fmla="*/ 4325150 w 4325150"/>
              <a:gd name="connsiteY2" fmla="*/ 0 h 575254"/>
              <a:gd name="connsiteX3" fmla="*/ 3811653 w 4325150"/>
              <a:gd name="connsiteY3" fmla="*/ 575254 h 575254"/>
              <a:gd name="connsiteX4" fmla="*/ 3811653 w 4325150"/>
              <a:gd name="connsiteY4" fmla="*/ 564140 h 575254"/>
              <a:gd name="connsiteX5" fmla="*/ 0 w 4325150"/>
              <a:gd name="connsiteY5" fmla="*/ 564140 h 575254"/>
              <a:gd name="connsiteX6" fmla="*/ 0 w 4325150"/>
              <a:gd name="connsiteY6" fmla="*/ 0 h 575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25150" h="575254">
                <a:moveTo>
                  <a:pt x="0" y="0"/>
                </a:moveTo>
                <a:lnTo>
                  <a:pt x="3811653" y="0"/>
                </a:lnTo>
                <a:lnTo>
                  <a:pt x="4325150" y="0"/>
                </a:lnTo>
                <a:lnTo>
                  <a:pt x="3811653" y="575254"/>
                </a:lnTo>
                <a:lnTo>
                  <a:pt x="3811653" y="564140"/>
                </a:lnTo>
                <a:lnTo>
                  <a:pt x="0" y="564140"/>
                </a:lnTo>
                <a:lnTo>
                  <a:pt x="0" y="0"/>
                </a:lnTo>
                <a:close/>
              </a:path>
            </a:pathLst>
          </a:custGeom>
          <a:solidFill>
            <a:srgbClr val="3963A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9" name="Picture 18">
            <a:extLst>
              <a:ext uri="{FF2B5EF4-FFF2-40B4-BE49-F238E27FC236}">
                <a16:creationId xmlns:a16="http://schemas.microsoft.com/office/drawing/2014/main" id="{E175E484-83D1-437E-8BBE-28FE7038A285}"/>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79092" y="6439169"/>
            <a:ext cx="2257466" cy="288555"/>
          </a:xfrm>
          <a:prstGeom prst="rect">
            <a:avLst/>
          </a:prstGeom>
        </p:spPr>
      </p:pic>
      <p:sp>
        <p:nvSpPr>
          <p:cNvPr id="14" name="Rectangle 13">
            <a:extLst>
              <a:ext uri="{FF2B5EF4-FFF2-40B4-BE49-F238E27FC236}">
                <a16:creationId xmlns:a16="http://schemas.microsoft.com/office/drawing/2014/main" id="{6CD96676-B619-470C-B76F-330ABB78DE8E}"/>
              </a:ext>
            </a:extLst>
          </p:cNvPr>
          <p:cNvSpPr/>
          <p:nvPr/>
        </p:nvSpPr>
        <p:spPr>
          <a:xfrm>
            <a:off x="0" y="-14748"/>
            <a:ext cx="838200" cy="7521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17AA4583-D6FE-4548-AE65-48B7C43BFF08}"/>
              </a:ext>
            </a:extLst>
          </p:cNvPr>
          <p:cNvSpPr/>
          <p:nvPr/>
        </p:nvSpPr>
        <p:spPr>
          <a:xfrm>
            <a:off x="0" y="223220"/>
            <a:ext cx="213695" cy="648945"/>
          </a:xfrm>
          <a:prstGeom prst="rect">
            <a:avLst/>
          </a:prstGeom>
          <a:solidFill>
            <a:srgbClr val="396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F86BB50D-ACB4-4E38-B030-8B8D13B19B95}"/>
              </a:ext>
            </a:extLst>
          </p:cNvPr>
          <p:cNvSpPr/>
          <p:nvPr/>
        </p:nvSpPr>
        <p:spPr>
          <a:xfrm>
            <a:off x="300710" y="223220"/>
            <a:ext cx="126993" cy="648945"/>
          </a:xfrm>
          <a:prstGeom prst="rect">
            <a:avLst/>
          </a:prstGeom>
          <a:solidFill>
            <a:srgbClr val="76BE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78854822"/>
      </p:ext>
    </p:extLst>
  </p:cSld>
  <p:clrMap bg1="lt1" tx1="dk1" bg2="lt2" tx2="dk2" accent1="accent1" accent2="accent2" accent3="accent3" accent4="accent4" accent5="accent5" accent6="accent6" hlink="hlink" folHlink="folHlink"/>
  <p:sldLayoutIdLst>
    <p:sldLayoutId id="2147483660" r:id="rId1"/>
    <p:sldLayoutId id="2147483649" r:id="rId2"/>
    <p:sldLayoutId id="2147483650" r:id="rId3"/>
    <p:sldLayoutId id="2147483651" r:id="rId4"/>
    <p:sldLayoutId id="2147483652" r:id="rId5"/>
    <p:sldLayoutId id="2147483653" r:id="rId6"/>
    <p:sldLayoutId id="2147483654" r:id="rId7"/>
    <p:sldLayoutId id="2147483655"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b="1" kern="1200">
          <a:solidFill>
            <a:srgbClr val="3963AA"/>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100000"/>
        </a:lnSpc>
        <a:spcBef>
          <a:spcPts val="600"/>
        </a:spcBef>
        <a:buFont typeface="Wingdings" panose="05000000000000000000" pitchFamily="2" charset="2"/>
        <a:buChar char="§"/>
        <a:defRPr sz="2400" kern="1200">
          <a:solidFill>
            <a:schemeClr val="tx1">
              <a:lumMod val="75000"/>
              <a:lumOff val="25000"/>
            </a:schemeClr>
          </a:solidFill>
          <a:latin typeface="Arial" panose="020B0604020202020204" pitchFamily="34" charset="0"/>
          <a:ea typeface="+mn-ea"/>
          <a:cs typeface="Arial" panose="020B0604020202020204" pitchFamily="34" charset="0"/>
        </a:defRPr>
      </a:lvl1pPr>
      <a:lvl2pPr marL="914400" indent="-457200" algn="l" defTabSz="914400" rtl="0" eaLnBrk="1" latinLnBrk="0" hangingPunct="1">
        <a:lnSpc>
          <a:spcPct val="100000"/>
        </a:lnSpc>
        <a:spcBef>
          <a:spcPts val="600"/>
        </a:spcBef>
        <a:buFont typeface="Wingdings" panose="05000000000000000000" pitchFamily="2" charset="2"/>
        <a:buChar char="ü"/>
        <a:defRPr sz="2000" kern="1200">
          <a:solidFill>
            <a:schemeClr val="tx1">
              <a:lumMod val="75000"/>
              <a:lumOff val="25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600"/>
        </a:spcBef>
        <a:buFont typeface="Arial" panose="020B0604020202020204" pitchFamily="34" charset="0"/>
        <a:buChar char="•"/>
        <a:defRPr sz="1800" kern="1200">
          <a:solidFill>
            <a:schemeClr val="tx1">
              <a:lumMod val="75000"/>
              <a:lumOff val="25000"/>
            </a:schemeClr>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600"/>
        </a:spcBef>
        <a:buFont typeface="Arial" panose="020B0604020202020204" pitchFamily="34" charset="0"/>
        <a:buChar char="•"/>
        <a:defRPr sz="1600" kern="1200">
          <a:solidFill>
            <a:schemeClr val="tx1">
              <a:lumMod val="75000"/>
              <a:lumOff val="25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600"/>
        </a:spcBef>
        <a:buFont typeface="Arial" panose="020B0604020202020204" pitchFamily="34" charset="0"/>
        <a:buChar char="•"/>
        <a:defRPr sz="1600" kern="1200">
          <a:solidFill>
            <a:schemeClr val="tx1">
              <a:lumMod val="75000"/>
              <a:lumOff val="25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hyperlink" Target="mailto:Smith@ecs" TargetMode="External"/><Relationship Id="rId2" Type="http://schemas.openxmlformats.org/officeDocument/2006/relationships/hyperlink" Target="mailto:Jones@ca" TargetMode="External"/><Relationship Id="rId1" Type="http://schemas.openxmlformats.org/officeDocument/2006/relationships/slideLayout" Target="../slideLayouts/slideLayout3.xml"/><Relationship Id="rId4" Type="http://schemas.openxmlformats.org/officeDocument/2006/relationships/hyperlink" Target="mailto:Blake@aa"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3.xml"/><Relationship Id="rId4" Type="http://schemas.openxmlformats.org/officeDocument/2006/relationships/image" Target="../media/image23.png"/></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8D96832-A222-4BA9-A513-02C98716E2DC}"/>
              </a:ext>
            </a:extLst>
          </p:cNvPr>
          <p:cNvSpPr>
            <a:spLocks noGrp="1"/>
          </p:cNvSpPr>
          <p:nvPr>
            <p:ph type="ctrTitle"/>
          </p:nvPr>
        </p:nvSpPr>
        <p:spPr>
          <a:xfrm>
            <a:off x="372737" y="1412070"/>
            <a:ext cx="6528619" cy="2393760"/>
          </a:xfrm>
        </p:spPr>
        <p:txBody>
          <a:bodyPr/>
          <a:lstStyle/>
          <a:p>
            <a:r>
              <a:rPr lang="en-US" cap="all"/>
              <a:t>Entity Relationship Modelling</a:t>
            </a:r>
            <a:endParaRPr lang="en-US" dirty="0"/>
          </a:p>
        </p:txBody>
      </p:sp>
      <p:sp>
        <p:nvSpPr>
          <p:cNvPr id="7" name="Subtitle 6">
            <a:extLst>
              <a:ext uri="{FF2B5EF4-FFF2-40B4-BE49-F238E27FC236}">
                <a16:creationId xmlns:a16="http://schemas.microsoft.com/office/drawing/2014/main" id="{2C2A07EC-2A88-4C73-B271-FB6F18BFC13D}"/>
              </a:ext>
            </a:extLst>
          </p:cNvPr>
          <p:cNvSpPr>
            <a:spLocks noGrp="1"/>
          </p:cNvSpPr>
          <p:nvPr>
            <p:ph type="subTitle" idx="1"/>
          </p:nvPr>
        </p:nvSpPr>
        <p:spPr>
          <a:xfrm>
            <a:off x="479741" y="3679371"/>
            <a:ext cx="6528619" cy="564138"/>
          </a:xfrm>
        </p:spPr>
        <p:txBody>
          <a:bodyPr>
            <a:normAutofit/>
          </a:bodyPr>
          <a:lstStyle/>
          <a:p>
            <a:r>
              <a:rPr lang="en-US"/>
              <a:t>Fsoft Academy</a:t>
            </a:r>
            <a:endParaRPr lang="en-US" dirty="0"/>
          </a:p>
        </p:txBody>
      </p:sp>
      <p:sp>
        <p:nvSpPr>
          <p:cNvPr id="2" name="Footer Placeholder 1">
            <a:extLst>
              <a:ext uri="{FF2B5EF4-FFF2-40B4-BE49-F238E27FC236}">
                <a16:creationId xmlns:a16="http://schemas.microsoft.com/office/drawing/2014/main" id="{9E17BF7D-6272-4F91-8314-9E1A40515427}"/>
              </a:ext>
            </a:extLst>
          </p:cNvPr>
          <p:cNvSpPr>
            <a:spLocks noGrp="1"/>
          </p:cNvSpPr>
          <p:nvPr>
            <p:ph type="ftr" sz="quarter" idx="11"/>
          </p:nvPr>
        </p:nvSpPr>
        <p:spPr>
          <a:xfrm>
            <a:off x="5608869" y="6429857"/>
            <a:ext cx="6071471" cy="365125"/>
          </a:xfrm>
        </p:spPr>
        <p:txBody>
          <a:bodyPr/>
          <a:lstStyle/>
          <a:p>
            <a:r>
              <a:rPr lang="en-US" dirty="0"/>
              <a:t>09e-BM/DT/FSOFT - @FPT SOFTWARE - FPT </a:t>
            </a:r>
            <a:r>
              <a:rPr lang="en-US" dirty="0">
                <a:solidFill>
                  <a:schemeClr val="bg1">
                    <a:lumMod val="50000"/>
                  </a:schemeClr>
                </a:solidFill>
              </a:rPr>
              <a:t>Software</a:t>
            </a:r>
            <a:r>
              <a:rPr lang="en-US" dirty="0"/>
              <a:t> Academy - Internal Use</a:t>
            </a:r>
          </a:p>
        </p:txBody>
      </p:sp>
    </p:spTree>
    <p:extLst>
      <p:ext uri="{BB962C8B-B14F-4D97-AF65-F5344CB8AC3E}">
        <p14:creationId xmlns:p14="http://schemas.microsoft.com/office/powerpoint/2010/main" val="3662637843"/>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Lesson Objectives</a:t>
            </a:r>
          </a:p>
        </p:txBody>
      </p:sp>
      <p:sp>
        <p:nvSpPr>
          <p:cNvPr id="4" name="Slide Number Placeholder 3"/>
          <p:cNvSpPr>
            <a:spLocks noGrp="1"/>
          </p:cNvSpPr>
          <p:nvPr>
            <p:ph type="sldNum" sz="quarter" idx="12"/>
          </p:nvPr>
        </p:nvSpPr>
        <p:spPr/>
        <p:txBody>
          <a:bodyPr/>
          <a:lstStyle/>
          <a:p>
            <a:fld id="{586DAB0F-01A5-4AB0-84E3-BA9DDAF20443}" type="slidenum">
              <a:rPr lang="en-US" smtClean="0"/>
              <a:t>2</a:t>
            </a:fld>
            <a:endParaRPr lang="en-US"/>
          </a:p>
        </p:txBody>
      </p:sp>
      <p:sp>
        <p:nvSpPr>
          <p:cNvPr id="5" name="Footer Placeholder 4"/>
          <p:cNvSpPr>
            <a:spLocks noGrp="1"/>
          </p:cNvSpPr>
          <p:nvPr>
            <p:ph type="ftr" sz="quarter" idx="3"/>
          </p:nvPr>
        </p:nvSpPr>
        <p:spPr/>
        <p:txBody>
          <a:bodyPr/>
          <a:lstStyle/>
          <a:p>
            <a:r>
              <a:rPr lang="en-US" dirty="0"/>
              <a:t>09e-BM/DT/FSOFT - @FPT SOFTWARE - FPT Software Academy - Internal Use</a:t>
            </a:r>
          </a:p>
        </p:txBody>
      </p:sp>
      <p:pic>
        <p:nvPicPr>
          <p:cNvPr id="17" name="Picture 1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8835" y="1890093"/>
            <a:ext cx="4124099" cy="3620172"/>
          </a:xfrm>
          <a:prstGeom prst="rect">
            <a:avLst/>
          </a:prstGeom>
        </p:spPr>
      </p:pic>
      <p:grpSp>
        <p:nvGrpSpPr>
          <p:cNvPr id="13" name="Group 12"/>
          <p:cNvGrpSpPr/>
          <p:nvPr/>
        </p:nvGrpSpPr>
        <p:grpSpPr>
          <a:xfrm>
            <a:off x="4901329" y="1732385"/>
            <a:ext cx="6398784" cy="4589247"/>
            <a:chOff x="3687871" y="1137432"/>
            <a:chExt cx="6398784" cy="4589247"/>
          </a:xfrm>
        </p:grpSpPr>
        <p:sp>
          <p:nvSpPr>
            <p:cNvPr id="14" name="TextBox 13">
              <a:extLst>
                <a:ext uri="{FF2B5EF4-FFF2-40B4-BE49-F238E27FC236}">
                  <a16:creationId xmlns:a16="http://schemas.microsoft.com/office/drawing/2014/main" id="{7DA5E864-AAA4-8FEB-7EAA-4A84D8C4C74B}"/>
                </a:ext>
              </a:extLst>
            </p:cNvPr>
            <p:cNvSpPr txBox="1"/>
            <p:nvPr/>
          </p:nvSpPr>
          <p:spPr>
            <a:xfrm flipH="1">
              <a:off x="6180822" y="1190799"/>
              <a:ext cx="3418996" cy="830997"/>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1" u="none" strike="noStrike" kern="0" cap="none" spc="0" normalizeH="0" baseline="0" noProof="0">
                  <a:ln>
                    <a:noFill/>
                  </a:ln>
                  <a:solidFill>
                    <a:srgbClr val="FFFFFF"/>
                  </a:solidFill>
                  <a:effectLst/>
                  <a:uLnTx/>
                  <a:uFillTx/>
                  <a:latin typeface="Calibri" panose="020F0502020204030204"/>
                </a:rPr>
                <a:t>This is a sample text that you can edit. You can change font(size, color, name), or apply any desired formatting.</a:t>
              </a:r>
              <a:endParaRPr kumimoji="0" lang="en-US" sz="1600" b="0" i="1" u="none" strike="noStrike" kern="0" cap="none" spc="0" normalizeH="0" baseline="0" noProof="0" dirty="0">
                <a:ln>
                  <a:noFill/>
                </a:ln>
                <a:solidFill>
                  <a:srgbClr val="FFFFFF"/>
                </a:solidFill>
                <a:effectLst/>
                <a:uLnTx/>
                <a:uFillTx/>
                <a:latin typeface="Calibri" panose="020F0502020204030204"/>
              </a:endParaRPr>
            </a:p>
          </p:txBody>
        </p:sp>
        <p:sp>
          <p:nvSpPr>
            <p:cNvPr id="16" name="TextBox 15">
              <a:extLst>
                <a:ext uri="{FF2B5EF4-FFF2-40B4-BE49-F238E27FC236}">
                  <a16:creationId xmlns:a16="http://schemas.microsoft.com/office/drawing/2014/main" id="{37F68F4B-2CCB-DDAF-FE3D-D55555B434D2}"/>
                </a:ext>
              </a:extLst>
            </p:cNvPr>
            <p:cNvSpPr txBox="1"/>
            <p:nvPr/>
          </p:nvSpPr>
          <p:spPr>
            <a:xfrm flipH="1">
              <a:off x="6180822" y="3660721"/>
              <a:ext cx="3418996" cy="830997"/>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1" u="none" strike="noStrike" kern="0" cap="none" spc="0" normalizeH="0" baseline="0" noProof="0" dirty="0">
                  <a:ln>
                    <a:noFill/>
                  </a:ln>
                  <a:solidFill>
                    <a:srgbClr val="FFFFFF"/>
                  </a:solidFill>
                  <a:effectLst/>
                  <a:uLnTx/>
                  <a:uFillTx/>
                  <a:latin typeface="Calibri" panose="020F0502020204030204"/>
                </a:rPr>
                <a:t>This is a sample text that you can edit. You can change font(size, color, name), or apply any desired formatting.</a:t>
              </a:r>
            </a:p>
          </p:txBody>
        </p:sp>
        <p:sp>
          <p:nvSpPr>
            <p:cNvPr id="19" name="TextBox 18">
              <a:extLst>
                <a:ext uri="{FF2B5EF4-FFF2-40B4-BE49-F238E27FC236}">
                  <a16:creationId xmlns:a16="http://schemas.microsoft.com/office/drawing/2014/main" id="{1AC90A3A-CD0A-EC29-3088-EFE27F320561}"/>
                </a:ext>
              </a:extLst>
            </p:cNvPr>
            <p:cNvSpPr txBox="1"/>
            <p:nvPr/>
          </p:nvSpPr>
          <p:spPr>
            <a:xfrm flipH="1">
              <a:off x="5218922" y="3756251"/>
              <a:ext cx="495649" cy="461665"/>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rgbClr val="FFFFFF"/>
                  </a:solidFill>
                  <a:effectLst/>
                  <a:uLnTx/>
                  <a:uFillTx/>
                  <a:latin typeface="Calibri" panose="020F0502020204030204"/>
                  <a:cs typeface="Arial" pitchFamily="34" charset="0"/>
                </a:rPr>
                <a:t>03</a:t>
              </a:r>
            </a:p>
          </p:txBody>
        </p:sp>
        <p:sp>
          <p:nvSpPr>
            <p:cNvPr id="20" name="TextBox 19">
              <a:extLst>
                <a:ext uri="{FF2B5EF4-FFF2-40B4-BE49-F238E27FC236}">
                  <a16:creationId xmlns:a16="http://schemas.microsoft.com/office/drawing/2014/main" id="{CB7AF773-D18E-E8D6-9484-455AC8A0D6A7}"/>
                </a:ext>
              </a:extLst>
            </p:cNvPr>
            <p:cNvSpPr txBox="1"/>
            <p:nvPr/>
          </p:nvSpPr>
          <p:spPr>
            <a:xfrm flipH="1">
              <a:off x="6180822" y="4895682"/>
              <a:ext cx="3418996" cy="830997"/>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1" u="none" strike="noStrike" kern="0" cap="none" spc="0" normalizeH="0" baseline="0" noProof="0" dirty="0">
                  <a:ln>
                    <a:noFill/>
                  </a:ln>
                  <a:solidFill>
                    <a:srgbClr val="FFFFFF"/>
                  </a:solidFill>
                  <a:effectLst/>
                  <a:uLnTx/>
                  <a:uFillTx/>
                  <a:latin typeface="Calibri" panose="020F0502020204030204"/>
                </a:rPr>
                <a:t>This is a sample text that you can edit. You can change font(size, color, name), or apply any desired formatting.</a:t>
              </a:r>
            </a:p>
          </p:txBody>
        </p:sp>
        <p:grpSp>
          <p:nvGrpSpPr>
            <p:cNvPr id="21" name="Group 20"/>
            <p:cNvGrpSpPr/>
            <p:nvPr/>
          </p:nvGrpSpPr>
          <p:grpSpPr>
            <a:xfrm>
              <a:off x="3687871" y="1137432"/>
              <a:ext cx="6395695" cy="3692529"/>
              <a:chOff x="5350625" y="967038"/>
              <a:chExt cx="7987463" cy="4345408"/>
            </a:xfrm>
          </p:grpSpPr>
          <p:sp>
            <p:nvSpPr>
              <p:cNvPr id="27" name="Arrow: Pentagon 5">
                <a:extLst>
                  <a:ext uri="{FF2B5EF4-FFF2-40B4-BE49-F238E27FC236}">
                    <a16:creationId xmlns:a16="http://schemas.microsoft.com/office/drawing/2014/main" id="{B6C765AC-3743-DB16-56CA-E8869F7065DB}"/>
                  </a:ext>
                </a:extLst>
              </p:cNvPr>
              <p:cNvSpPr/>
              <p:nvPr/>
            </p:nvSpPr>
            <p:spPr bwMode="auto">
              <a:xfrm>
                <a:off x="5350625" y="967038"/>
                <a:ext cx="7987463" cy="917316"/>
              </a:xfrm>
              <a:prstGeom prst="homePlate">
                <a:avLst>
                  <a:gd name="adj" fmla="val 23248"/>
                </a:avLst>
              </a:prstGeom>
              <a:solidFill>
                <a:srgbClr val="264653"/>
              </a:solidFill>
              <a:ln w="19050">
                <a:solidFill>
                  <a:srgbClr val="264653">
                    <a:lumMod val="75000"/>
                  </a:srgbClr>
                </a:solidFill>
              </a:ln>
              <a:effectLst>
                <a:outerShdw blurRad="50800" dist="38100" algn="l"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algn="ctr"/>
                <a:endParaRPr lang="en-US" sz="2000">
                  <a:solidFill>
                    <a:schemeClr val="bg2">
                      <a:lumMod val="20000"/>
                      <a:lumOff val="80000"/>
                    </a:schemeClr>
                  </a:solidFill>
                  <a:latin typeface="Arial Narrow" panose="020B0606020202030204" pitchFamily="34" charset="0"/>
                  <a:cs typeface="Arial" panose="020B0604020202020204" pitchFamily="34" charset="0"/>
                </a:endParaRPr>
              </a:p>
            </p:txBody>
          </p:sp>
          <p:sp>
            <p:nvSpPr>
              <p:cNvPr id="29" name="Arrow: Pentagon 34">
                <a:extLst>
                  <a:ext uri="{FF2B5EF4-FFF2-40B4-BE49-F238E27FC236}">
                    <a16:creationId xmlns:a16="http://schemas.microsoft.com/office/drawing/2014/main" id="{B5A2081D-79C0-2DF8-70CE-5D8F3A6911BE}"/>
                  </a:ext>
                </a:extLst>
              </p:cNvPr>
              <p:cNvSpPr/>
              <p:nvPr/>
            </p:nvSpPr>
            <p:spPr bwMode="auto">
              <a:xfrm>
                <a:off x="5350625" y="2087878"/>
                <a:ext cx="7987463" cy="917316"/>
              </a:xfrm>
              <a:prstGeom prst="homePlate">
                <a:avLst>
                  <a:gd name="adj" fmla="val 23248"/>
                </a:avLst>
              </a:prstGeom>
              <a:solidFill>
                <a:srgbClr val="2A9D8F"/>
              </a:solidFill>
              <a:ln w="19050">
                <a:solidFill>
                  <a:srgbClr val="2A9D8F">
                    <a:lumMod val="75000"/>
                  </a:srgbClr>
                </a:solidFill>
              </a:ln>
              <a:effectLst>
                <a:outerShdw blurRad="50800" dist="38100" algn="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algn="ctr"/>
                <a:endParaRPr lang="en-US" sz="2000">
                  <a:solidFill>
                    <a:prstClr val="black">
                      <a:lumMod val="75000"/>
                      <a:lumOff val="25000"/>
                    </a:prstClr>
                  </a:solidFill>
                  <a:latin typeface="Arial Narrow" panose="020B0606020202030204" pitchFamily="34" charset="0"/>
                  <a:cs typeface="Arial" panose="020B0604020202020204" pitchFamily="34" charset="0"/>
                </a:endParaRPr>
              </a:p>
            </p:txBody>
          </p:sp>
          <p:sp>
            <p:nvSpPr>
              <p:cNvPr id="30" name="Arrow: Pentagon 41">
                <a:extLst>
                  <a:ext uri="{FF2B5EF4-FFF2-40B4-BE49-F238E27FC236}">
                    <a16:creationId xmlns:a16="http://schemas.microsoft.com/office/drawing/2014/main" id="{5C844BE6-EB64-B250-AB47-09C53B5371D2}"/>
                  </a:ext>
                </a:extLst>
              </p:cNvPr>
              <p:cNvSpPr/>
              <p:nvPr/>
            </p:nvSpPr>
            <p:spPr bwMode="auto">
              <a:xfrm>
                <a:off x="5350625" y="3208718"/>
                <a:ext cx="7987463" cy="917316"/>
              </a:xfrm>
              <a:prstGeom prst="homePlate">
                <a:avLst>
                  <a:gd name="adj" fmla="val 23248"/>
                </a:avLst>
              </a:prstGeom>
              <a:solidFill>
                <a:srgbClr val="E9C46A"/>
              </a:solidFill>
              <a:ln w="19050">
                <a:solidFill>
                  <a:srgbClr val="E9C46A">
                    <a:lumMod val="75000"/>
                  </a:srgbClr>
                </a:solidFill>
              </a:ln>
              <a:effectLst>
                <a:outerShdw blurRad="50800" dist="38100" algn="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Calibri" panose="020F0502020204030204"/>
                </a:endParaRPr>
              </a:p>
            </p:txBody>
          </p:sp>
          <p:sp>
            <p:nvSpPr>
              <p:cNvPr id="31" name="Arrow: Pentagon 47">
                <a:extLst>
                  <a:ext uri="{FF2B5EF4-FFF2-40B4-BE49-F238E27FC236}">
                    <a16:creationId xmlns:a16="http://schemas.microsoft.com/office/drawing/2014/main" id="{A8FE92D4-7394-304E-6417-5F420E1F2DC1}"/>
                  </a:ext>
                </a:extLst>
              </p:cNvPr>
              <p:cNvSpPr/>
              <p:nvPr/>
            </p:nvSpPr>
            <p:spPr bwMode="auto">
              <a:xfrm>
                <a:off x="5350625" y="4395130"/>
                <a:ext cx="7987463" cy="917316"/>
              </a:xfrm>
              <a:prstGeom prst="homePlate">
                <a:avLst>
                  <a:gd name="adj" fmla="val 23248"/>
                </a:avLst>
              </a:prstGeom>
              <a:solidFill>
                <a:srgbClr val="F4A261"/>
              </a:solidFill>
              <a:ln w="19050">
                <a:solidFill>
                  <a:srgbClr val="F4A261">
                    <a:lumMod val="75000"/>
                  </a:srgbClr>
                </a:solidFill>
              </a:ln>
              <a:effectLst>
                <a:outerShdw blurRad="50800" dist="38100" algn="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Calibri" panose="020F0502020204030204"/>
                </a:endParaRPr>
              </a:p>
            </p:txBody>
          </p:sp>
          <p:sp>
            <p:nvSpPr>
              <p:cNvPr id="34" name="Rectangle 33">
                <a:extLst>
                  <a:ext uri="{FF2B5EF4-FFF2-40B4-BE49-F238E27FC236}">
                    <a16:creationId xmlns:a16="http://schemas.microsoft.com/office/drawing/2014/main" id="{D20B1AA6-FAF7-170E-DA07-7ACE35456ECC}"/>
                  </a:ext>
                </a:extLst>
              </p:cNvPr>
              <p:cNvSpPr/>
              <p:nvPr/>
            </p:nvSpPr>
            <p:spPr bwMode="auto">
              <a:xfrm>
                <a:off x="5350626" y="967038"/>
                <a:ext cx="986162" cy="917315"/>
              </a:xfrm>
              <a:prstGeom prst="rect">
                <a:avLst/>
              </a:prstGeom>
              <a:solidFill>
                <a:srgbClr val="264653">
                  <a:lumMod val="75000"/>
                </a:srgbClr>
              </a:solidFill>
              <a:ln>
                <a:noFill/>
              </a:ln>
            </p:spPr>
            <p:txBody>
              <a:bodyPr vert="horz" wrap="square" lIns="91440" tIns="45720" rIns="91440" bIns="45720" numCol="1" rtlCol="0" anchor="t"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Calibri" panose="020F0502020204030204"/>
                </a:endParaRPr>
              </a:p>
            </p:txBody>
          </p:sp>
          <p:sp>
            <p:nvSpPr>
              <p:cNvPr id="35" name="Rectangle 34">
                <a:extLst>
                  <a:ext uri="{FF2B5EF4-FFF2-40B4-BE49-F238E27FC236}">
                    <a16:creationId xmlns:a16="http://schemas.microsoft.com/office/drawing/2014/main" id="{7DCF7F5B-35A9-D16D-E6C1-00949C422476}"/>
                  </a:ext>
                </a:extLst>
              </p:cNvPr>
              <p:cNvSpPr/>
              <p:nvPr/>
            </p:nvSpPr>
            <p:spPr bwMode="auto">
              <a:xfrm>
                <a:off x="5350626" y="2087878"/>
                <a:ext cx="986162" cy="917315"/>
              </a:xfrm>
              <a:prstGeom prst="rect">
                <a:avLst/>
              </a:prstGeom>
              <a:solidFill>
                <a:srgbClr val="2A9D8F">
                  <a:lumMod val="75000"/>
                </a:srgbClr>
              </a:solidFill>
              <a:ln>
                <a:noFill/>
              </a:ln>
            </p:spPr>
            <p:txBody>
              <a:bodyPr vert="horz" wrap="square" lIns="91440" tIns="45720" rIns="91440" bIns="45720" numCol="1" rtlCol="0" anchor="t"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Calibri" panose="020F0502020204030204"/>
                </a:endParaRPr>
              </a:p>
            </p:txBody>
          </p:sp>
          <p:sp>
            <p:nvSpPr>
              <p:cNvPr id="36" name="Rectangle 35">
                <a:extLst>
                  <a:ext uri="{FF2B5EF4-FFF2-40B4-BE49-F238E27FC236}">
                    <a16:creationId xmlns:a16="http://schemas.microsoft.com/office/drawing/2014/main" id="{1A246119-5520-9D02-9373-A4DA1767164B}"/>
                  </a:ext>
                </a:extLst>
              </p:cNvPr>
              <p:cNvSpPr/>
              <p:nvPr/>
            </p:nvSpPr>
            <p:spPr bwMode="auto">
              <a:xfrm>
                <a:off x="5350626" y="3208718"/>
                <a:ext cx="986162" cy="917315"/>
              </a:xfrm>
              <a:prstGeom prst="rect">
                <a:avLst/>
              </a:prstGeom>
              <a:solidFill>
                <a:srgbClr val="E9C46A">
                  <a:lumMod val="75000"/>
                </a:srgbClr>
              </a:solidFill>
              <a:ln>
                <a:noFill/>
              </a:ln>
            </p:spPr>
            <p:txBody>
              <a:bodyPr vert="horz" wrap="square" lIns="91440" tIns="45720" rIns="91440" bIns="45720" numCol="1" rtlCol="0" anchor="t"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Calibri" panose="020F0502020204030204"/>
                </a:endParaRPr>
              </a:p>
            </p:txBody>
          </p:sp>
          <p:sp>
            <p:nvSpPr>
              <p:cNvPr id="37" name="Rectangle 36">
                <a:extLst>
                  <a:ext uri="{FF2B5EF4-FFF2-40B4-BE49-F238E27FC236}">
                    <a16:creationId xmlns:a16="http://schemas.microsoft.com/office/drawing/2014/main" id="{060281D1-BFD1-78F3-7257-66504906901C}"/>
                  </a:ext>
                </a:extLst>
              </p:cNvPr>
              <p:cNvSpPr/>
              <p:nvPr/>
            </p:nvSpPr>
            <p:spPr bwMode="auto">
              <a:xfrm>
                <a:off x="5350626" y="4329557"/>
                <a:ext cx="986162" cy="982888"/>
              </a:xfrm>
              <a:prstGeom prst="rect">
                <a:avLst/>
              </a:prstGeom>
              <a:solidFill>
                <a:srgbClr val="F4A261">
                  <a:lumMod val="75000"/>
                </a:srgbClr>
              </a:solidFill>
              <a:ln>
                <a:noFill/>
              </a:ln>
            </p:spPr>
            <p:txBody>
              <a:bodyPr vert="horz" wrap="square" lIns="91440" tIns="45720" rIns="91440" bIns="45720" numCol="1" rtlCol="0" anchor="t"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Calibri" panose="020F0502020204030204"/>
                </a:endParaRPr>
              </a:p>
            </p:txBody>
          </p:sp>
          <p:sp>
            <p:nvSpPr>
              <p:cNvPr id="40" name="TextBox 39">
                <a:extLst>
                  <a:ext uri="{FF2B5EF4-FFF2-40B4-BE49-F238E27FC236}">
                    <a16:creationId xmlns:a16="http://schemas.microsoft.com/office/drawing/2014/main" id="{97D2303C-AACC-5903-57B1-65414E2E2303}"/>
                  </a:ext>
                </a:extLst>
              </p:cNvPr>
              <p:cNvSpPr txBox="1"/>
              <p:nvPr/>
            </p:nvSpPr>
            <p:spPr>
              <a:xfrm>
                <a:off x="5542984" y="1124185"/>
                <a:ext cx="601447" cy="584775"/>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1" i="0" u="none" strike="noStrike" kern="0" cap="none" spc="0" normalizeH="0" baseline="0" noProof="0" dirty="0">
                    <a:ln>
                      <a:noFill/>
                    </a:ln>
                    <a:solidFill>
                      <a:srgbClr val="FFFFFF"/>
                    </a:solidFill>
                    <a:effectLst/>
                    <a:uLnTx/>
                    <a:uFillTx/>
                    <a:latin typeface="Calibri" panose="020F0502020204030204"/>
                    <a:cs typeface="Arial" pitchFamily="34" charset="0"/>
                  </a:rPr>
                  <a:t>01</a:t>
                </a:r>
              </a:p>
            </p:txBody>
          </p:sp>
          <p:sp>
            <p:nvSpPr>
              <p:cNvPr id="41" name="TextBox 40">
                <a:extLst>
                  <a:ext uri="{FF2B5EF4-FFF2-40B4-BE49-F238E27FC236}">
                    <a16:creationId xmlns:a16="http://schemas.microsoft.com/office/drawing/2014/main" id="{55B8234D-F50F-04D2-8E3A-C5F43F761C3D}"/>
                  </a:ext>
                </a:extLst>
              </p:cNvPr>
              <p:cNvSpPr txBox="1"/>
              <p:nvPr/>
            </p:nvSpPr>
            <p:spPr>
              <a:xfrm>
                <a:off x="5542984" y="2245025"/>
                <a:ext cx="601447" cy="584775"/>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1" i="0" u="none" strike="noStrike" kern="0" cap="none" spc="0" normalizeH="0" baseline="0" noProof="0" dirty="0">
                    <a:ln>
                      <a:noFill/>
                    </a:ln>
                    <a:solidFill>
                      <a:srgbClr val="FFFFFF"/>
                    </a:solidFill>
                    <a:effectLst/>
                    <a:uLnTx/>
                    <a:uFillTx/>
                    <a:latin typeface="Calibri" panose="020F0502020204030204"/>
                    <a:cs typeface="Arial" pitchFamily="34" charset="0"/>
                  </a:rPr>
                  <a:t>02</a:t>
                </a:r>
              </a:p>
            </p:txBody>
          </p:sp>
          <p:sp>
            <p:nvSpPr>
              <p:cNvPr id="42" name="TextBox 41">
                <a:extLst>
                  <a:ext uri="{FF2B5EF4-FFF2-40B4-BE49-F238E27FC236}">
                    <a16:creationId xmlns:a16="http://schemas.microsoft.com/office/drawing/2014/main" id="{96F28F5B-FD9A-38FB-F885-664E5EA80E83}"/>
                  </a:ext>
                </a:extLst>
              </p:cNvPr>
              <p:cNvSpPr txBox="1"/>
              <p:nvPr/>
            </p:nvSpPr>
            <p:spPr>
              <a:xfrm>
                <a:off x="5542984" y="3365866"/>
                <a:ext cx="601447" cy="584775"/>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1" i="0" u="none" strike="noStrike" kern="0" cap="none" spc="0" normalizeH="0" baseline="0" noProof="0" dirty="0">
                    <a:ln>
                      <a:noFill/>
                    </a:ln>
                    <a:solidFill>
                      <a:srgbClr val="FFFFFF"/>
                    </a:solidFill>
                    <a:effectLst/>
                    <a:uLnTx/>
                    <a:uFillTx/>
                    <a:latin typeface="Calibri" panose="020F0502020204030204"/>
                    <a:cs typeface="Arial" pitchFamily="34" charset="0"/>
                  </a:rPr>
                  <a:t>03</a:t>
                </a:r>
              </a:p>
            </p:txBody>
          </p:sp>
          <p:sp>
            <p:nvSpPr>
              <p:cNvPr id="43" name="TextBox 42">
                <a:extLst>
                  <a:ext uri="{FF2B5EF4-FFF2-40B4-BE49-F238E27FC236}">
                    <a16:creationId xmlns:a16="http://schemas.microsoft.com/office/drawing/2014/main" id="{93B551A9-43FC-BA37-B1B4-83D73DAC86C8}"/>
                  </a:ext>
                </a:extLst>
              </p:cNvPr>
              <p:cNvSpPr txBox="1"/>
              <p:nvPr/>
            </p:nvSpPr>
            <p:spPr>
              <a:xfrm>
                <a:off x="5542984" y="4486705"/>
                <a:ext cx="601447" cy="584775"/>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1" i="0" u="none" strike="noStrike" kern="0" cap="none" spc="0" normalizeH="0" baseline="0" noProof="0" dirty="0">
                    <a:ln>
                      <a:noFill/>
                    </a:ln>
                    <a:solidFill>
                      <a:srgbClr val="FFFFFF"/>
                    </a:solidFill>
                    <a:effectLst/>
                    <a:uLnTx/>
                    <a:uFillTx/>
                    <a:latin typeface="Calibri" panose="020F0502020204030204"/>
                    <a:cs typeface="Arial" pitchFamily="34" charset="0"/>
                  </a:rPr>
                  <a:t>04</a:t>
                </a:r>
              </a:p>
            </p:txBody>
          </p:sp>
        </p:grpSp>
        <p:sp>
          <p:nvSpPr>
            <p:cNvPr id="24" name="Rectangle 23"/>
            <p:cNvSpPr/>
            <p:nvPr/>
          </p:nvSpPr>
          <p:spPr>
            <a:xfrm>
              <a:off x="4623300" y="1364651"/>
              <a:ext cx="5463355" cy="369332"/>
            </a:xfrm>
            <a:prstGeom prst="rect">
              <a:avLst/>
            </a:prstGeom>
          </p:spPr>
          <p:txBody>
            <a:bodyPr wrap="none">
              <a:spAutoFit/>
            </a:bodyPr>
            <a:lstStyle/>
            <a:p>
              <a:pPr lvl="0" algn="just" defTabSz="889000">
                <a:lnSpc>
                  <a:spcPct val="90000"/>
                </a:lnSpc>
                <a:spcBef>
                  <a:spcPct val="0"/>
                </a:spcBef>
                <a:spcAft>
                  <a:spcPct val="35000"/>
                </a:spcAft>
              </a:pPr>
              <a:r>
                <a:rPr lang="en-US" sz="2000" dirty="0">
                  <a:solidFill>
                    <a:schemeClr val="bg2">
                      <a:lumMod val="20000"/>
                      <a:lumOff val="80000"/>
                    </a:schemeClr>
                  </a:solidFill>
                  <a:latin typeface="Arial Narrow" panose="020B0606020202030204" pitchFamily="34" charset="0"/>
                  <a:cs typeface="Arial" panose="020B0604020202020204" pitchFamily="34" charset="0"/>
                </a:rPr>
                <a:t>Understand</a:t>
              </a:r>
              <a:r>
                <a:rPr lang="en-US" sz="2000" dirty="0">
                  <a:latin typeface="Candara" panose="020E0502030303020204" pitchFamily="34" charset="0"/>
                </a:rPr>
                <a:t> </a:t>
              </a:r>
              <a:r>
                <a:rPr lang="en-US" sz="2000" dirty="0">
                  <a:solidFill>
                    <a:schemeClr val="bg2">
                      <a:lumMod val="20000"/>
                      <a:lumOff val="80000"/>
                    </a:schemeClr>
                  </a:solidFill>
                  <a:latin typeface="Arial Narrow" panose="020B0606020202030204" pitchFamily="34" charset="0"/>
                  <a:cs typeface="Arial" panose="020B0604020202020204" pitchFamily="34" charset="0"/>
                </a:rPr>
                <a:t>an</a:t>
              </a:r>
              <a:r>
                <a:rPr lang="en-US" sz="2000" dirty="0">
                  <a:latin typeface="Candara" panose="020E0502030303020204" pitchFamily="34" charset="0"/>
                </a:rPr>
                <a:t> </a:t>
              </a:r>
              <a:r>
                <a:rPr lang="en-US" sz="2000" dirty="0">
                  <a:solidFill>
                    <a:schemeClr val="bg2">
                      <a:lumMod val="20000"/>
                      <a:lumOff val="80000"/>
                    </a:schemeClr>
                  </a:solidFill>
                  <a:latin typeface="Arial Narrow" panose="020B0606020202030204" pitchFamily="34" charset="0"/>
                  <a:cs typeface="Arial" panose="020B0604020202020204" pitchFamily="34" charset="0"/>
                </a:rPr>
                <a:t>overview</a:t>
              </a:r>
              <a:r>
                <a:rPr lang="en-US" sz="2000" dirty="0">
                  <a:latin typeface="Candara" panose="020E0502030303020204" pitchFamily="34" charset="0"/>
                </a:rPr>
                <a:t> </a:t>
              </a:r>
              <a:r>
                <a:rPr lang="en-US" sz="2000" dirty="0">
                  <a:solidFill>
                    <a:schemeClr val="bg2">
                      <a:lumMod val="20000"/>
                      <a:lumOff val="80000"/>
                    </a:schemeClr>
                  </a:solidFill>
                  <a:latin typeface="Arial Narrow" panose="020B0606020202030204" pitchFamily="34" charset="0"/>
                  <a:cs typeface="Arial" panose="020B0604020202020204" pitchFamily="34" charset="0"/>
                </a:rPr>
                <a:t>of</a:t>
              </a:r>
              <a:r>
                <a:rPr lang="en-US" sz="2000" dirty="0">
                  <a:latin typeface="Candara" panose="020E0502030303020204" pitchFamily="34" charset="0"/>
                </a:rPr>
                <a:t> </a:t>
              </a:r>
              <a:r>
                <a:rPr lang="en-US" sz="2000" dirty="0">
                  <a:solidFill>
                    <a:schemeClr val="bg2">
                      <a:lumMod val="20000"/>
                      <a:lumOff val="80000"/>
                    </a:schemeClr>
                  </a:solidFill>
                  <a:latin typeface="Arial Narrow" panose="020B0606020202030204" pitchFamily="34" charset="0"/>
                  <a:cs typeface="Arial" panose="020B0604020202020204" pitchFamily="34" charset="0"/>
                </a:rPr>
                <a:t>the</a:t>
              </a:r>
              <a:r>
                <a:rPr lang="en-US" sz="2000" dirty="0">
                  <a:latin typeface="Candara" panose="020E0502030303020204" pitchFamily="34" charset="0"/>
                </a:rPr>
                <a:t> </a:t>
              </a:r>
              <a:r>
                <a:rPr lang="en-US" sz="2000" dirty="0">
                  <a:solidFill>
                    <a:schemeClr val="bg2">
                      <a:lumMod val="20000"/>
                      <a:lumOff val="80000"/>
                    </a:schemeClr>
                  </a:solidFill>
                  <a:latin typeface="Arial Narrow" panose="020B0606020202030204" pitchFamily="34" charset="0"/>
                  <a:cs typeface="Arial" panose="020B0604020202020204" pitchFamily="34" charset="0"/>
                </a:rPr>
                <a:t>basic</a:t>
              </a:r>
              <a:r>
                <a:rPr lang="en-US" sz="2000" dirty="0">
                  <a:latin typeface="Candara" panose="020E0502030303020204" pitchFamily="34" charset="0"/>
                </a:rPr>
                <a:t> </a:t>
              </a:r>
              <a:r>
                <a:rPr lang="en-US" sz="2000" dirty="0">
                  <a:solidFill>
                    <a:schemeClr val="bg2">
                      <a:lumMod val="20000"/>
                      <a:lumOff val="80000"/>
                    </a:schemeClr>
                  </a:solidFill>
                  <a:latin typeface="Arial Narrow" panose="020B0606020202030204" pitchFamily="34" charset="0"/>
                  <a:cs typeface="Arial" panose="020B0604020202020204" pitchFamily="34" charset="0"/>
                </a:rPr>
                <a:t>RDBMS</a:t>
              </a:r>
              <a:r>
                <a:rPr lang="en-US" sz="2000" dirty="0">
                  <a:latin typeface="Candara" panose="020E0502030303020204" pitchFamily="34" charset="0"/>
                </a:rPr>
                <a:t> </a:t>
              </a:r>
              <a:r>
                <a:rPr lang="en-US" sz="2000" dirty="0">
                  <a:solidFill>
                    <a:schemeClr val="bg2">
                      <a:lumMod val="20000"/>
                      <a:lumOff val="80000"/>
                    </a:schemeClr>
                  </a:solidFill>
                  <a:latin typeface="Arial Narrow" panose="020B0606020202030204" pitchFamily="34" charset="0"/>
                  <a:cs typeface="Arial" panose="020B0604020202020204" pitchFamily="34" charset="0"/>
                </a:rPr>
                <a:t>Concepts</a:t>
              </a:r>
            </a:p>
          </p:txBody>
        </p:sp>
        <p:sp>
          <p:nvSpPr>
            <p:cNvPr id="25" name="Rectangle 24"/>
            <p:cNvSpPr/>
            <p:nvPr/>
          </p:nvSpPr>
          <p:spPr>
            <a:xfrm>
              <a:off x="4631531" y="2132041"/>
              <a:ext cx="5217143" cy="400110"/>
            </a:xfrm>
            <a:prstGeom prst="rect">
              <a:avLst/>
            </a:prstGeom>
          </p:spPr>
          <p:txBody>
            <a:bodyPr wrap="square">
              <a:spAutoFit/>
            </a:bodyPr>
            <a:lstStyle/>
            <a:p>
              <a:pPr>
                <a:buClr>
                  <a:srgbClr val="000000"/>
                </a:buClr>
              </a:pPr>
              <a:endParaRPr lang="en-US" sz="2000" dirty="0">
                <a:solidFill>
                  <a:schemeClr val="bg2">
                    <a:lumMod val="20000"/>
                    <a:lumOff val="80000"/>
                  </a:schemeClr>
                </a:solidFill>
                <a:latin typeface="Arial Narrow" panose="020B0606020202030204" pitchFamily="34" charset="0"/>
                <a:cs typeface="Arial" panose="020B0604020202020204" pitchFamily="34" charset="0"/>
              </a:endParaRPr>
            </a:p>
          </p:txBody>
        </p:sp>
        <p:sp>
          <p:nvSpPr>
            <p:cNvPr id="26" name="Rectangle 25"/>
            <p:cNvSpPr/>
            <p:nvPr/>
          </p:nvSpPr>
          <p:spPr>
            <a:xfrm>
              <a:off x="4631530" y="5129124"/>
              <a:ext cx="184731" cy="400110"/>
            </a:xfrm>
            <a:prstGeom prst="rect">
              <a:avLst/>
            </a:prstGeom>
          </p:spPr>
          <p:txBody>
            <a:bodyPr wrap="none">
              <a:spAutoFit/>
            </a:bodyPr>
            <a:lstStyle/>
            <a:p>
              <a:pPr>
                <a:buClr>
                  <a:srgbClr val="000000"/>
                </a:buClr>
              </a:pPr>
              <a:endParaRPr lang="en-US" sz="2000" b="1" dirty="0">
                <a:solidFill>
                  <a:schemeClr val="bg2">
                    <a:lumMod val="20000"/>
                    <a:lumOff val="80000"/>
                  </a:schemeClr>
                </a:solidFill>
                <a:latin typeface="Arial Narrow" panose="020B0606020202030204" pitchFamily="34" charset="0"/>
              </a:endParaRPr>
            </a:p>
          </p:txBody>
        </p:sp>
      </p:grpSp>
      <p:sp>
        <p:nvSpPr>
          <p:cNvPr id="33" name="Rectangle 32"/>
          <p:cNvSpPr/>
          <p:nvPr/>
        </p:nvSpPr>
        <p:spPr>
          <a:xfrm>
            <a:off x="5816613" y="3758331"/>
            <a:ext cx="5245777" cy="646331"/>
          </a:xfrm>
          <a:prstGeom prst="rect">
            <a:avLst/>
          </a:prstGeom>
        </p:spPr>
        <p:txBody>
          <a:bodyPr wrap="square">
            <a:spAutoFit/>
          </a:bodyPr>
          <a:lstStyle/>
          <a:p>
            <a:pPr lvl="0" algn="just" defTabSz="889000">
              <a:lnSpc>
                <a:spcPct val="90000"/>
              </a:lnSpc>
              <a:spcBef>
                <a:spcPct val="0"/>
              </a:spcBef>
              <a:spcAft>
                <a:spcPct val="35000"/>
              </a:spcAft>
            </a:pPr>
            <a:r>
              <a:rPr lang="en-US" sz="2000" dirty="0">
                <a:solidFill>
                  <a:schemeClr val="bg1"/>
                </a:solidFill>
                <a:latin typeface="Arial Narrow" panose="020B0606020202030204" pitchFamily="34" charset="0"/>
                <a:cs typeface="Arial" panose="020B0604020202020204" pitchFamily="34" charset="0"/>
              </a:rPr>
              <a:t>Describe</a:t>
            </a:r>
            <a:r>
              <a:rPr lang="en-US" sz="2000" dirty="0">
                <a:solidFill>
                  <a:schemeClr val="bg1"/>
                </a:solidFill>
                <a:latin typeface="Arial Narrow" panose="020B0606020202030204" pitchFamily="34" charset="0"/>
              </a:rPr>
              <a:t> </a:t>
            </a:r>
            <a:r>
              <a:rPr lang="en-US" sz="2000" dirty="0">
                <a:solidFill>
                  <a:schemeClr val="bg1"/>
                </a:solidFill>
                <a:latin typeface="Arial Narrow" panose="020B0606020202030204" pitchFamily="34" charset="0"/>
                <a:cs typeface="Arial" panose="020B0604020202020204" pitchFamily="34" charset="0"/>
              </a:rPr>
              <a:t>how</a:t>
            </a:r>
            <a:r>
              <a:rPr lang="en-US" sz="2000" dirty="0">
                <a:solidFill>
                  <a:schemeClr val="bg1"/>
                </a:solidFill>
                <a:latin typeface="Arial Narrow" panose="020B0606020202030204" pitchFamily="34" charset="0"/>
              </a:rPr>
              <a:t> </a:t>
            </a:r>
            <a:r>
              <a:rPr lang="en-US" sz="2000" dirty="0">
                <a:solidFill>
                  <a:schemeClr val="bg1"/>
                </a:solidFill>
                <a:latin typeface="Arial Narrow" panose="020B0606020202030204" pitchFamily="34" charset="0"/>
                <a:cs typeface="Arial" panose="020B0604020202020204" pitchFamily="34" charset="0"/>
              </a:rPr>
              <a:t>entities</a:t>
            </a:r>
            <a:r>
              <a:rPr lang="en-US" sz="2000" dirty="0">
                <a:solidFill>
                  <a:schemeClr val="bg1"/>
                </a:solidFill>
                <a:latin typeface="Arial Narrow" panose="020B0606020202030204" pitchFamily="34" charset="0"/>
              </a:rPr>
              <a:t>, </a:t>
            </a:r>
            <a:r>
              <a:rPr lang="en-US" sz="2000" dirty="0">
                <a:solidFill>
                  <a:schemeClr val="bg1"/>
                </a:solidFill>
                <a:latin typeface="Arial Narrow" panose="020B0606020202030204" pitchFamily="34" charset="0"/>
                <a:cs typeface="Arial" panose="020B0604020202020204" pitchFamily="34" charset="0"/>
              </a:rPr>
              <a:t>attributes</a:t>
            </a:r>
            <a:r>
              <a:rPr lang="en-US" sz="2000" dirty="0">
                <a:solidFill>
                  <a:schemeClr val="bg1"/>
                </a:solidFill>
                <a:latin typeface="Arial Narrow" panose="020B0606020202030204" pitchFamily="34" charset="0"/>
              </a:rPr>
              <a:t> </a:t>
            </a:r>
            <a:r>
              <a:rPr lang="en-US" sz="2000" dirty="0">
                <a:solidFill>
                  <a:schemeClr val="bg1"/>
                </a:solidFill>
                <a:latin typeface="Arial Narrow" panose="020B0606020202030204" pitchFamily="34" charset="0"/>
                <a:cs typeface="Arial" panose="020B0604020202020204" pitchFamily="34" charset="0"/>
              </a:rPr>
              <a:t>and</a:t>
            </a:r>
            <a:r>
              <a:rPr lang="en-US" sz="2000" dirty="0">
                <a:solidFill>
                  <a:schemeClr val="bg1"/>
                </a:solidFill>
                <a:latin typeface="Arial Narrow" panose="020B0606020202030204" pitchFamily="34" charset="0"/>
              </a:rPr>
              <a:t> </a:t>
            </a:r>
            <a:r>
              <a:rPr lang="en-US" sz="2000" dirty="0">
                <a:solidFill>
                  <a:schemeClr val="bg1"/>
                </a:solidFill>
                <a:latin typeface="Arial Narrow" panose="020B0606020202030204" pitchFamily="34" charset="0"/>
                <a:cs typeface="Arial" panose="020B0604020202020204" pitchFamily="34" charset="0"/>
              </a:rPr>
              <a:t>relationships</a:t>
            </a:r>
            <a:r>
              <a:rPr lang="en-US" sz="2000" dirty="0">
                <a:solidFill>
                  <a:schemeClr val="bg1"/>
                </a:solidFill>
                <a:latin typeface="Arial Narrow" panose="020B0606020202030204" pitchFamily="34" charset="0"/>
              </a:rPr>
              <a:t> </a:t>
            </a:r>
            <a:r>
              <a:rPr lang="en-US" sz="2000" dirty="0">
                <a:solidFill>
                  <a:schemeClr val="bg1"/>
                </a:solidFill>
                <a:latin typeface="Arial Narrow" panose="020B0606020202030204" pitchFamily="34" charset="0"/>
                <a:cs typeface="Arial" panose="020B0604020202020204" pitchFamily="34" charset="0"/>
              </a:rPr>
              <a:t>are</a:t>
            </a:r>
            <a:r>
              <a:rPr lang="en-US" sz="2000" dirty="0">
                <a:solidFill>
                  <a:schemeClr val="bg1"/>
                </a:solidFill>
                <a:latin typeface="Arial Narrow" panose="020B0606020202030204" pitchFamily="34" charset="0"/>
              </a:rPr>
              <a:t> </a:t>
            </a:r>
            <a:r>
              <a:rPr lang="en-US" sz="2000" dirty="0">
                <a:solidFill>
                  <a:schemeClr val="bg1"/>
                </a:solidFill>
                <a:latin typeface="Arial Narrow" panose="020B0606020202030204" pitchFamily="34" charset="0"/>
                <a:cs typeface="Arial" panose="020B0604020202020204" pitchFamily="34" charset="0"/>
              </a:rPr>
              <a:t>used</a:t>
            </a:r>
            <a:r>
              <a:rPr lang="en-US" sz="2000" dirty="0">
                <a:solidFill>
                  <a:schemeClr val="bg1"/>
                </a:solidFill>
                <a:latin typeface="Arial Narrow" panose="020B0606020202030204" pitchFamily="34" charset="0"/>
              </a:rPr>
              <a:t> </a:t>
            </a:r>
            <a:r>
              <a:rPr lang="en-US" sz="2000" dirty="0">
                <a:solidFill>
                  <a:schemeClr val="bg1"/>
                </a:solidFill>
                <a:latin typeface="Arial Narrow" panose="020B0606020202030204" pitchFamily="34" charset="0"/>
                <a:cs typeface="Arial" panose="020B0604020202020204" pitchFamily="34" charset="0"/>
              </a:rPr>
              <a:t>to</a:t>
            </a:r>
            <a:r>
              <a:rPr lang="en-US" sz="2000" dirty="0">
                <a:solidFill>
                  <a:schemeClr val="bg1"/>
                </a:solidFill>
                <a:latin typeface="Arial Narrow" panose="020B0606020202030204" pitchFamily="34" charset="0"/>
              </a:rPr>
              <a:t> </a:t>
            </a:r>
            <a:r>
              <a:rPr lang="en-US" sz="2000" dirty="0">
                <a:solidFill>
                  <a:schemeClr val="bg1"/>
                </a:solidFill>
                <a:latin typeface="Arial Narrow" panose="020B0606020202030204" pitchFamily="34" charset="0"/>
                <a:cs typeface="Arial" panose="020B0604020202020204" pitchFamily="34" charset="0"/>
              </a:rPr>
              <a:t>model</a:t>
            </a:r>
            <a:r>
              <a:rPr lang="en-US" sz="2000" dirty="0">
                <a:solidFill>
                  <a:schemeClr val="bg1"/>
                </a:solidFill>
                <a:latin typeface="Arial Narrow" panose="020B0606020202030204" pitchFamily="34" charset="0"/>
              </a:rPr>
              <a:t> data;</a:t>
            </a:r>
          </a:p>
        </p:txBody>
      </p:sp>
      <p:sp>
        <p:nvSpPr>
          <p:cNvPr id="38" name="Rectangle 37"/>
          <p:cNvSpPr/>
          <p:nvPr/>
        </p:nvSpPr>
        <p:spPr>
          <a:xfrm>
            <a:off x="5865653" y="2726994"/>
            <a:ext cx="5256683" cy="646331"/>
          </a:xfrm>
          <a:prstGeom prst="rect">
            <a:avLst/>
          </a:prstGeom>
        </p:spPr>
        <p:txBody>
          <a:bodyPr wrap="square">
            <a:spAutoFit/>
          </a:bodyPr>
          <a:lstStyle/>
          <a:p>
            <a:pPr lvl="0" defTabSz="889000">
              <a:lnSpc>
                <a:spcPct val="90000"/>
              </a:lnSpc>
              <a:spcBef>
                <a:spcPct val="0"/>
              </a:spcBef>
              <a:spcAft>
                <a:spcPct val="35000"/>
              </a:spcAft>
            </a:pPr>
            <a:r>
              <a:rPr lang="en-US" sz="2000" dirty="0">
                <a:solidFill>
                  <a:schemeClr val="bg2">
                    <a:lumMod val="20000"/>
                    <a:lumOff val="80000"/>
                  </a:schemeClr>
                </a:solidFill>
                <a:latin typeface="Arial Narrow" panose="020B0606020202030204" pitchFamily="34" charset="0"/>
                <a:cs typeface="Arial" panose="020B0604020202020204" pitchFamily="34" charset="0"/>
              </a:rPr>
              <a:t>Understand</a:t>
            </a:r>
            <a:r>
              <a:rPr lang="en-US" sz="2000" dirty="0">
                <a:latin typeface="Candara" panose="020E0502030303020204" pitchFamily="34" charset="0"/>
              </a:rPr>
              <a:t> </a:t>
            </a:r>
            <a:r>
              <a:rPr lang="en-US" sz="2000" dirty="0">
                <a:solidFill>
                  <a:schemeClr val="bg2">
                    <a:lumMod val="20000"/>
                    <a:lumOff val="80000"/>
                  </a:schemeClr>
                </a:solidFill>
                <a:latin typeface="Arial Narrow" panose="020B0606020202030204" pitchFamily="34" charset="0"/>
                <a:cs typeface="Arial" panose="020B0604020202020204" pitchFamily="34" charset="0"/>
              </a:rPr>
              <a:t>an</a:t>
            </a:r>
            <a:r>
              <a:rPr lang="en-US" sz="2000" dirty="0">
                <a:latin typeface="Candara" panose="020E0502030303020204" pitchFamily="34" charset="0"/>
              </a:rPr>
              <a:t> </a:t>
            </a:r>
            <a:r>
              <a:rPr lang="en-US" sz="2000" dirty="0">
                <a:solidFill>
                  <a:schemeClr val="bg2">
                    <a:lumMod val="20000"/>
                    <a:lumOff val="80000"/>
                  </a:schemeClr>
                </a:solidFill>
                <a:latin typeface="Arial Narrow" panose="020B0606020202030204" pitchFamily="34" charset="0"/>
                <a:cs typeface="Arial" panose="020B0604020202020204" pitchFamily="34" charset="0"/>
              </a:rPr>
              <a:t>insight</a:t>
            </a:r>
            <a:r>
              <a:rPr lang="en-US" sz="2000" dirty="0">
                <a:latin typeface="Candara" panose="020E0502030303020204" pitchFamily="34" charset="0"/>
              </a:rPr>
              <a:t> </a:t>
            </a:r>
            <a:r>
              <a:rPr lang="en-US" sz="2000" dirty="0">
                <a:solidFill>
                  <a:schemeClr val="bg2">
                    <a:lumMod val="20000"/>
                    <a:lumOff val="80000"/>
                  </a:schemeClr>
                </a:solidFill>
                <a:latin typeface="Arial Narrow" panose="020B0606020202030204" pitchFamily="34" charset="0"/>
                <a:cs typeface="Arial" panose="020B0604020202020204" pitchFamily="34" charset="0"/>
              </a:rPr>
              <a:t>into</a:t>
            </a:r>
            <a:r>
              <a:rPr lang="en-US" sz="2000" dirty="0">
                <a:latin typeface="Candara" panose="020E0502030303020204" pitchFamily="34" charset="0"/>
              </a:rPr>
              <a:t> </a:t>
            </a:r>
            <a:r>
              <a:rPr lang="en-US" sz="2000" dirty="0">
                <a:solidFill>
                  <a:schemeClr val="bg2">
                    <a:lumMod val="20000"/>
                    <a:lumOff val="80000"/>
                  </a:schemeClr>
                </a:solidFill>
                <a:latin typeface="Arial Narrow" panose="020B0606020202030204" pitchFamily="34" charset="0"/>
                <a:cs typeface="Arial" panose="020B0604020202020204" pitchFamily="34" charset="0"/>
              </a:rPr>
              <a:t>the</a:t>
            </a:r>
            <a:r>
              <a:rPr lang="en-US" sz="2000" dirty="0">
                <a:latin typeface="Candara" panose="020E0502030303020204" pitchFamily="34" charset="0"/>
              </a:rPr>
              <a:t> </a:t>
            </a:r>
            <a:r>
              <a:rPr lang="en-US" sz="2000" dirty="0">
                <a:solidFill>
                  <a:schemeClr val="bg2">
                    <a:lumMod val="20000"/>
                    <a:lumOff val="80000"/>
                  </a:schemeClr>
                </a:solidFill>
                <a:latin typeface="Arial Narrow" panose="020B0606020202030204" pitchFamily="34" charset="0"/>
                <a:cs typeface="Arial" panose="020B0604020202020204" pitchFamily="34" charset="0"/>
              </a:rPr>
              <a:t>architecture</a:t>
            </a:r>
            <a:r>
              <a:rPr lang="en-US" sz="2000" dirty="0">
                <a:latin typeface="Candara" panose="020E0502030303020204" pitchFamily="34" charset="0"/>
              </a:rPr>
              <a:t> </a:t>
            </a:r>
            <a:r>
              <a:rPr lang="en-US" sz="2000" dirty="0">
                <a:solidFill>
                  <a:schemeClr val="bg2">
                    <a:lumMod val="20000"/>
                    <a:lumOff val="80000"/>
                  </a:schemeClr>
                </a:solidFill>
                <a:latin typeface="Arial Narrow" panose="020B0606020202030204" pitchFamily="34" charset="0"/>
                <a:cs typeface="Arial" panose="020B0604020202020204" pitchFamily="34" charset="0"/>
              </a:rPr>
              <a:t>and</a:t>
            </a:r>
            <a:r>
              <a:rPr lang="en-US" sz="2000" dirty="0">
                <a:latin typeface="Candara" panose="020E0502030303020204" pitchFamily="34" charset="0"/>
              </a:rPr>
              <a:t> </a:t>
            </a:r>
            <a:r>
              <a:rPr lang="en-US" sz="2000" dirty="0">
                <a:solidFill>
                  <a:schemeClr val="bg2">
                    <a:lumMod val="20000"/>
                    <a:lumOff val="80000"/>
                  </a:schemeClr>
                </a:solidFill>
                <a:latin typeface="Arial Narrow" panose="020B0606020202030204" pitchFamily="34" charset="0"/>
                <a:cs typeface="Arial" panose="020B0604020202020204" pitchFamily="34" charset="0"/>
              </a:rPr>
              <a:t>components</a:t>
            </a:r>
            <a:r>
              <a:rPr lang="en-US" sz="2000" dirty="0">
                <a:latin typeface="Candara" panose="020E0502030303020204" pitchFamily="34" charset="0"/>
              </a:rPr>
              <a:t> </a:t>
            </a:r>
            <a:r>
              <a:rPr lang="en-US" sz="2000" dirty="0">
                <a:solidFill>
                  <a:schemeClr val="bg2">
                    <a:lumMod val="20000"/>
                    <a:lumOff val="80000"/>
                  </a:schemeClr>
                </a:solidFill>
                <a:latin typeface="Arial Narrow" panose="020B0606020202030204" pitchFamily="34" charset="0"/>
                <a:cs typeface="Arial" panose="020B0604020202020204" pitchFamily="34" charset="0"/>
              </a:rPr>
              <a:t>of</a:t>
            </a:r>
            <a:r>
              <a:rPr lang="en-US" sz="2000" dirty="0">
                <a:latin typeface="Candara" panose="020E0502030303020204" pitchFamily="34" charset="0"/>
              </a:rPr>
              <a:t> </a:t>
            </a:r>
            <a:r>
              <a:rPr lang="en-US" sz="2000" dirty="0">
                <a:solidFill>
                  <a:schemeClr val="bg1"/>
                </a:solidFill>
                <a:latin typeface="Arial Narrow" panose="020B0606020202030204" pitchFamily="34" charset="0"/>
              </a:rPr>
              <a:t>a </a:t>
            </a:r>
            <a:r>
              <a:rPr lang="en-US" sz="2000" dirty="0">
                <a:solidFill>
                  <a:schemeClr val="bg2">
                    <a:lumMod val="20000"/>
                    <a:lumOff val="80000"/>
                  </a:schemeClr>
                </a:solidFill>
                <a:latin typeface="Arial Narrow" panose="020B0606020202030204" pitchFamily="34" charset="0"/>
                <a:cs typeface="Arial" panose="020B0604020202020204" pitchFamily="34" charset="0"/>
              </a:rPr>
              <a:t>Database</a:t>
            </a:r>
            <a:r>
              <a:rPr lang="en-US" sz="2000" dirty="0">
                <a:latin typeface="Candara" panose="020E0502030303020204" pitchFamily="34" charset="0"/>
              </a:rPr>
              <a:t> </a:t>
            </a:r>
            <a:r>
              <a:rPr lang="vi-VN" sz="2000" dirty="0">
                <a:solidFill>
                  <a:schemeClr val="bg2">
                    <a:lumMod val="20000"/>
                    <a:lumOff val="80000"/>
                  </a:schemeClr>
                </a:solidFill>
                <a:latin typeface="Arial Narrow" panose="020B0606020202030204" pitchFamily="34" charset="0"/>
                <a:cs typeface="Arial" panose="020B0604020202020204" pitchFamily="34" charset="0"/>
              </a:rPr>
              <a:t>System.</a:t>
            </a:r>
            <a:endParaRPr lang="en-US" sz="2000" dirty="0">
              <a:latin typeface="Candara" panose="020E0502030303020204" pitchFamily="34" charset="0"/>
            </a:endParaRPr>
          </a:p>
        </p:txBody>
      </p:sp>
      <p:sp>
        <p:nvSpPr>
          <p:cNvPr id="55" name="Rectangle 54"/>
          <p:cNvSpPr/>
          <p:nvPr/>
        </p:nvSpPr>
        <p:spPr>
          <a:xfrm>
            <a:off x="5801158" y="4861427"/>
            <a:ext cx="4262705" cy="369332"/>
          </a:xfrm>
          <a:prstGeom prst="rect">
            <a:avLst/>
          </a:prstGeom>
        </p:spPr>
        <p:txBody>
          <a:bodyPr wrap="none">
            <a:spAutoFit/>
          </a:bodyPr>
          <a:lstStyle/>
          <a:p>
            <a:pPr lvl="0" defTabSz="889000">
              <a:lnSpc>
                <a:spcPct val="90000"/>
              </a:lnSpc>
              <a:spcBef>
                <a:spcPct val="0"/>
              </a:spcBef>
              <a:spcAft>
                <a:spcPct val="35000"/>
              </a:spcAft>
            </a:pPr>
            <a:r>
              <a:rPr lang="en-US" sz="2000" dirty="0">
                <a:solidFill>
                  <a:schemeClr val="bg1"/>
                </a:solidFill>
                <a:latin typeface="Arial Narrow" panose="020B0606020202030204" pitchFamily="34" charset="0"/>
                <a:cs typeface="Arial" panose="020B0604020202020204" pitchFamily="34" charset="0"/>
              </a:rPr>
              <a:t>Converting</a:t>
            </a:r>
            <a:r>
              <a:rPr lang="en-US" sz="2000" dirty="0">
                <a:latin typeface="Candara" panose="020E0502030303020204" pitchFamily="34" charset="0"/>
              </a:rPr>
              <a:t> </a:t>
            </a:r>
            <a:r>
              <a:rPr lang="en-US" sz="2000" dirty="0">
                <a:solidFill>
                  <a:schemeClr val="bg1"/>
                </a:solidFill>
                <a:latin typeface="Arial Narrow" panose="020B0606020202030204" pitchFamily="34" charset="0"/>
                <a:cs typeface="Arial" panose="020B0604020202020204" pitchFamily="34" charset="0"/>
              </a:rPr>
              <a:t>ER</a:t>
            </a:r>
            <a:r>
              <a:rPr lang="en-US" sz="2000" dirty="0">
                <a:latin typeface="Candara" panose="020E0502030303020204" pitchFamily="34" charset="0"/>
              </a:rPr>
              <a:t> </a:t>
            </a:r>
            <a:r>
              <a:rPr lang="en-US" sz="2000" dirty="0">
                <a:solidFill>
                  <a:schemeClr val="bg1"/>
                </a:solidFill>
                <a:latin typeface="Arial Narrow" panose="020B0606020202030204" pitchFamily="34" charset="0"/>
                <a:cs typeface="Arial" panose="020B0604020202020204" pitchFamily="34" charset="0"/>
              </a:rPr>
              <a:t>Model</a:t>
            </a:r>
            <a:r>
              <a:rPr lang="en-US" sz="2000" dirty="0">
                <a:latin typeface="Candara" panose="020E0502030303020204" pitchFamily="34" charset="0"/>
              </a:rPr>
              <a:t> </a:t>
            </a:r>
            <a:r>
              <a:rPr lang="en-US" sz="2000" dirty="0">
                <a:solidFill>
                  <a:schemeClr val="bg1"/>
                </a:solidFill>
                <a:latin typeface="Arial Narrow" panose="020B0606020202030204" pitchFamily="34" charset="0"/>
                <a:cs typeface="Arial" panose="020B0604020202020204" pitchFamily="34" charset="0"/>
              </a:rPr>
              <a:t>to</a:t>
            </a:r>
            <a:r>
              <a:rPr lang="en-US" sz="2000" dirty="0">
                <a:latin typeface="Candara" panose="020E0502030303020204" pitchFamily="34" charset="0"/>
              </a:rPr>
              <a:t> </a:t>
            </a:r>
            <a:r>
              <a:rPr lang="en-US" sz="2000" dirty="0">
                <a:solidFill>
                  <a:schemeClr val="bg1"/>
                </a:solidFill>
                <a:latin typeface="Arial Narrow" panose="020B0606020202030204" pitchFamily="34" charset="0"/>
                <a:cs typeface="Arial" panose="020B0604020202020204" pitchFamily="34" charset="0"/>
              </a:rPr>
              <a:t>relational</a:t>
            </a:r>
            <a:r>
              <a:rPr lang="en-US" sz="2000" dirty="0">
                <a:latin typeface="Candara" panose="020E0502030303020204" pitchFamily="34" charset="0"/>
              </a:rPr>
              <a:t> </a:t>
            </a:r>
            <a:r>
              <a:rPr lang="en-US" sz="2000" dirty="0">
                <a:solidFill>
                  <a:schemeClr val="bg1"/>
                </a:solidFill>
                <a:latin typeface="Arial Narrow" panose="020B0606020202030204" pitchFamily="34" charset="0"/>
                <a:cs typeface="Arial" panose="020B0604020202020204" pitchFamily="34" charset="0"/>
              </a:rPr>
              <a:t>schema</a:t>
            </a:r>
            <a:r>
              <a:rPr lang="en-US" sz="2000" dirty="0">
                <a:latin typeface="Candara" panose="020E0502030303020204" pitchFamily="34" charset="0"/>
              </a:rPr>
              <a:t> </a:t>
            </a:r>
          </a:p>
        </p:txBody>
      </p:sp>
    </p:spTree>
    <p:extLst>
      <p:ext uri="{BB962C8B-B14F-4D97-AF65-F5344CB8AC3E}">
        <p14:creationId xmlns:p14="http://schemas.microsoft.com/office/powerpoint/2010/main" val="1050438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Agenda</a:t>
            </a:r>
          </a:p>
        </p:txBody>
      </p:sp>
      <p:sp>
        <p:nvSpPr>
          <p:cNvPr id="4" name="Footer Placeholder 3"/>
          <p:cNvSpPr>
            <a:spLocks noGrp="1"/>
          </p:cNvSpPr>
          <p:nvPr>
            <p:ph type="ftr" sz="quarter" idx="3"/>
          </p:nvPr>
        </p:nvSpPr>
        <p:spPr/>
        <p:txBody>
          <a:bodyPr/>
          <a:lstStyle/>
          <a:p>
            <a:r>
              <a:rPr lang="en-US" dirty="0"/>
              <a:t>09e-BM/DT/FSOFT - @FPT SOFTWARE - FPT Software Academy - Internal Use</a:t>
            </a:r>
          </a:p>
        </p:txBody>
      </p:sp>
      <p:sp>
        <p:nvSpPr>
          <p:cNvPr id="51" name="Slide Number Placeholder 50"/>
          <p:cNvSpPr>
            <a:spLocks noGrp="1"/>
          </p:cNvSpPr>
          <p:nvPr>
            <p:ph type="sldNum" sz="quarter" idx="12"/>
          </p:nvPr>
        </p:nvSpPr>
        <p:spPr/>
        <p:txBody>
          <a:bodyPr/>
          <a:lstStyle/>
          <a:p>
            <a:fld id="{586DAB0F-01A5-4AB0-84E3-BA9DDAF20443}" type="slidenum">
              <a:rPr lang="en-US" smtClean="0"/>
              <a:t>3</a:t>
            </a:fld>
            <a:endParaRPr lang="en-US"/>
          </a:p>
        </p:txBody>
      </p:sp>
      <p:grpSp>
        <p:nvGrpSpPr>
          <p:cNvPr id="52" name="Google Shape;1425;p25"/>
          <p:cNvGrpSpPr/>
          <p:nvPr/>
        </p:nvGrpSpPr>
        <p:grpSpPr>
          <a:xfrm>
            <a:off x="7744740" y="1864369"/>
            <a:ext cx="2720700" cy="3229482"/>
            <a:chOff x="5517194" y="1299875"/>
            <a:chExt cx="2720700" cy="3229482"/>
          </a:xfrm>
        </p:grpSpPr>
        <p:sp>
          <p:nvSpPr>
            <p:cNvPr id="53" name="Google Shape;1426;p25"/>
            <p:cNvSpPr/>
            <p:nvPr/>
          </p:nvSpPr>
          <p:spPr>
            <a:xfrm rot="-368547" flipH="1">
              <a:off x="5552789" y="3581890"/>
              <a:ext cx="2649511" cy="808032"/>
            </a:xfrm>
            <a:prstGeom prst="ellipse">
              <a:avLst/>
            </a:pr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427;p25"/>
            <p:cNvSpPr/>
            <p:nvPr/>
          </p:nvSpPr>
          <p:spPr>
            <a:xfrm flipH="1">
              <a:off x="8061092" y="3574414"/>
              <a:ext cx="12420" cy="3066"/>
            </a:xfrm>
            <a:custGeom>
              <a:avLst/>
              <a:gdLst/>
              <a:ahLst/>
              <a:cxnLst/>
              <a:rect l="l" t="t" r="r" b="b"/>
              <a:pathLst>
                <a:path w="320" h="79" extrusionOk="0">
                  <a:moveTo>
                    <a:pt x="1" y="1"/>
                  </a:moveTo>
                  <a:lnTo>
                    <a:pt x="1" y="1"/>
                  </a:lnTo>
                  <a:cubicBezTo>
                    <a:pt x="86" y="51"/>
                    <a:pt x="205" y="78"/>
                    <a:pt x="320" y="78"/>
                  </a:cubicBezTo>
                  <a:cubicBezTo>
                    <a:pt x="205" y="78"/>
                    <a:pt x="89" y="51"/>
                    <a:pt x="1" y="1"/>
                  </a:cubicBez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428;p25"/>
            <p:cNvSpPr/>
            <p:nvPr/>
          </p:nvSpPr>
          <p:spPr>
            <a:xfrm flipH="1">
              <a:off x="8136308" y="2785664"/>
              <a:ext cx="14167" cy="2290"/>
            </a:xfrm>
            <a:custGeom>
              <a:avLst/>
              <a:gdLst/>
              <a:ahLst/>
              <a:cxnLst/>
              <a:rect l="l" t="t" r="r" b="b"/>
              <a:pathLst>
                <a:path w="365" h="59" extrusionOk="0">
                  <a:moveTo>
                    <a:pt x="1" y="1"/>
                  </a:moveTo>
                  <a:cubicBezTo>
                    <a:pt x="126" y="1"/>
                    <a:pt x="256" y="21"/>
                    <a:pt x="365" y="59"/>
                  </a:cubicBezTo>
                  <a:cubicBezTo>
                    <a:pt x="256" y="21"/>
                    <a:pt x="130" y="1"/>
                    <a:pt x="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429;p25"/>
            <p:cNvSpPr/>
            <p:nvPr/>
          </p:nvSpPr>
          <p:spPr>
            <a:xfrm flipH="1">
              <a:off x="7053885" y="3663196"/>
              <a:ext cx="410714" cy="249137"/>
            </a:xfrm>
            <a:custGeom>
              <a:avLst/>
              <a:gdLst/>
              <a:ahLst/>
              <a:cxnLst/>
              <a:rect l="l" t="t" r="r" b="b"/>
              <a:pathLst>
                <a:path w="10582" h="6419" extrusionOk="0">
                  <a:moveTo>
                    <a:pt x="10581" y="0"/>
                  </a:moveTo>
                  <a:lnTo>
                    <a:pt x="1" y="6120"/>
                  </a:lnTo>
                  <a:lnTo>
                    <a:pt x="504" y="6418"/>
                  </a:lnTo>
                  <a:lnTo>
                    <a:pt x="10581" y="595"/>
                  </a:lnTo>
                  <a:lnTo>
                    <a:pt x="10581" y="0"/>
                  </a:ln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430;p25"/>
            <p:cNvSpPr/>
            <p:nvPr/>
          </p:nvSpPr>
          <p:spPr>
            <a:xfrm flipH="1">
              <a:off x="7562859" y="2104868"/>
              <a:ext cx="390337" cy="1577029"/>
            </a:xfrm>
            <a:custGeom>
              <a:avLst/>
              <a:gdLst/>
              <a:ahLst/>
              <a:cxnLst/>
              <a:rect l="l" t="t" r="r" b="b"/>
              <a:pathLst>
                <a:path w="10057" h="40632" extrusionOk="0">
                  <a:moveTo>
                    <a:pt x="9155" y="1"/>
                  </a:moveTo>
                  <a:cubicBezTo>
                    <a:pt x="9092" y="1"/>
                    <a:pt x="9031" y="44"/>
                    <a:pt x="9013" y="112"/>
                  </a:cubicBezTo>
                  <a:lnTo>
                    <a:pt x="14" y="40062"/>
                  </a:lnTo>
                  <a:cubicBezTo>
                    <a:pt x="0" y="40123"/>
                    <a:pt x="28" y="40185"/>
                    <a:pt x="82" y="40216"/>
                  </a:cubicBezTo>
                  <a:lnTo>
                    <a:pt x="670" y="40556"/>
                  </a:lnTo>
                  <a:cubicBezTo>
                    <a:pt x="673" y="40559"/>
                    <a:pt x="673" y="40559"/>
                    <a:pt x="677" y="40562"/>
                  </a:cubicBezTo>
                  <a:cubicBezTo>
                    <a:pt x="764" y="40607"/>
                    <a:pt x="872" y="40631"/>
                    <a:pt x="983" y="40631"/>
                  </a:cubicBezTo>
                  <a:cubicBezTo>
                    <a:pt x="998" y="40631"/>
                    <a:pt x="1013" y="40631"/>
                    <a:pt x="1028" y="40630"/>
                  </a:cubicBezTo>
                  <a:lnTo>
                    <a:pt x="1279" y="39525"/>
                  </a:lnTo>
                  <a:lnTo>
                    <a:pt x="10044" y="608"/>
                  </a:lnTo>
                  <a:cubicBezTo>
                    <a:pt x="10057" y="550"/>
                    <a:pt x="10030" y="485"/>
                    <a:pt x="9975" y="455"/>
                  </a:cubicBezTo>
                  <a:lnTo>
                    <a:pt x="9224" y="19"/>
                  </a:lnTo>
                  <a:cubicBezTo>
                    <a:pt x="9202" y="7"/>
                    <a:pt x="9178" y="1"/>
                    <a:pt x="9155" y="1"/>
                  </a:cubicBez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431;p25"/>
            <p:cNvSpPr/>
            <p:nvPr/>
          </p:nvSpPr>
          <p:spPr>
            <a:xfrm flipH="1">
              <a:off x="7523271" y="2101918"/>
              <a:ext cx="390066" cy="1579940"/>
            </a:xfrm>
            <a:custGeom>
              <a:avLst/>
              <a:gdLst/>
              <a:ahLst/>
              <a:cxnLst/>
              <a:rect l="l" t="t" r="r" b="b"/>
              <a:pathLst>
                <a:path w="10050" h="40707" extrusionOk="0">
                  <a:moveTo>
                    <a:pt x="10050" y="1"/>
                  </a:moveTo>
                  <a:lnTo>
                    <a:pt x="9041" y="585"/>
                  </a:lnTo>
                  <a:lnTo>
                    <a:pt x="252" y="39601"/>
                  </a:lnTo>
                  <a:lnTo>
                    <a:pt x="1" y="40706"/>
                  </a:lnTo>
                  <a:cubicBezTo>
                    <a:pt x="112" y="40706"/>
                    <a:pt x="221" y="40682"/>
                    <a:pt x="307" y="40632"/>
                  </a:cubicBezTo>
                  <a:lnTo>
                    <a:pt x="894" y="40292"/>
                  </a:lnTo>
                  <a:cubicBezTo>
                    <a:pt x="949" y="40257"/>
                    <a:pt x="990" y="40204"/>
                    <a:pt x="1007" y="40138"/>
                  </a:cubicBezTo>
                  <a:lnTo>
                    <a:pt x="10050"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432;p25"/>
            <p:cNvSpPr/>
            <p:nvPr/>
          </p:nvSpPr>
          <p:spPr>
            <a:xfrm flipH="1">
              <a:off x="7484043" y="2871050"/>
              <a:ext cx="39395" cy="1375399"/>
            </a:xfrm>
            <a:custGeom>
              <a:avLst/>
              <a:gdLst/>
              <a:ahLst/>
              <a:cxnLst/>
              <a:rect l="l" t="t" r="r" b="b"/>
              <a:pathLst>
                <a:path w="1015" h="35437" extrusionOk="0">
                  <a:moveTo>
                    <a:pt x="1" y="1"/>
                  </a:moveTo>
                  <a:lnTo>
                    <a:pt x="4" y="34856"/>
                  </a:lnTo>
                  <a:cubicBezTo>
                    <a:pt x="4" y="34924"/>
                    <a:pt x="45" y="34992"/>
                    <a:pt x="134" y="35043"/>
                  </a:cubicBezTo>
                  <a:lnTo>
                    <a:pt x="680" y="35359"/>
                  </a:lnTo>
                  <a:cubicBezTo>
                    <a:pt x="684" y="35363"/>
                    <a:pt x="684" y="35363"/>
                    <a:pt x="688" y="35363"/>
                  </a:cubicBezTo>
                  <a:cubicBezTo>
                    <a:pt x="776" y="35413"/>
                    <a:pt x="895" y="35437"/>
                    <a:pt x="1014" y="35437"/>
                  </a:cubicBezTo>
                  <a:lnTo>
                    <a:pt x="1014" y="34278"/>
                  </a:lnTo>
                  <a:lnTo>
                    <a:pt x="1011" y="586"/>
                  </a:lnTo>
                  <a:lnTo>
                    <a:pt x="1" y="1"/>
                  </a:ln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433;p25"/>
            <p:cNvSpPr/>
            <p:nvPr/>
          </p:nvSpPr>
          <p:spPr>
            <a:xfrm flipH="1">
              <a:off x="7444882" y="2871205"/>
              <a:ext cx="39356" cy="1375243"/>
            </a:xfrm>
            <a:custGeom>
              <a:avLst/>
              <a:gdLst/>
              <a:ahLst/>
              <a:cxnLst/>
              <a:rect l="l" t="t" r="r" b="b"/>
              <a:pathLst>
                <a:path w="1014" h="35433" extrusionOk="0">
                  <a:moveTo>
                    <a:pt x="1013" y="0"/>
                  </a:moveTo>
                  <a:lnTo>
                    <a:pt x="1" y="582"/>
                  </a:lnTo>
                  <a:lnTo>
                    <a:pt x="4" y="34274"/>
                  </a:lnTo>
                  <a:lnTo>
                    <a:pt x="4" y="35433"/>
                  </a:lnTo>
                  <a:cubicBezTo>
                    <a:pt x="123" y="35433"/>
                    <a:pt x="246" y="35409"/>
                    <a:pt x="334" y="35355"/>
                  </a:cubicBezTo>
                  <a:lnTo>
                    <a:pt x="878" y="35039"/>
                  </a:lnTo>
                  <a:cubicBezTo>
                    <a:pt x="959" y="34991"/>
                    <a:pt x="1007" y="34927"/>
                    <a:pt x="1010" y="34866"/>
                  </a:cubicBezTo>
                  <a:lnTo>
                    <a:pt x="1010" y="34838"/>
                  </a:lnTo>
                  <a:lnTo>
                    <a:pt x="1013"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434;p25"/>
            <p:cNvSpPr/>
            <p:nvPr/>
          </p:nvSpPr>
          <p:spPr>
            <a:xfrm flipH="1">
              <a:off x="6976460" y="2712698"/>
              <a:ext cx="272619" cy="1240680"/>
            </a:xfrm>
            <a:custGeom>
              <a:avLst/>
              <a:gdLst/>
              <a:ahLst/>
              <a:cxnLst/>
              <a:rect l="l" t="t" r="r" b="b"/>
              <a:pathLst>
                <a:path w="7024" h="31966" extrusionOk="0">
                  <a:moveTo>
                    <a:pt x="0" y="1"/>
                  </a:moveTo>
                  <a:lnTo>
                    <a:pt x="6010" y="31357"/>
                  </a:lnTo>
                  <a:cubicBezTo>
                    <a:pt x="6028" y="31439"/>
                    <a:pt x="6075" y="31511"/>
                    <a:pt x="6150" y="31551"/>
                  </a:cubicBezTo>
                  <a:lnTo>
                    <a:pt x="6711" y="31875"/>
                  </a:lnTo>
                  <a:cubicBezTo>
                    <a:pt x="6830" y="31946"/>
                    <a:pt x="6956" y="31966"/>
                    <a:pt x="7024" y="31966"/>
                  </a:cubicBezTo>
                  <a:lnTo>
                    <a:pt x="6809" y="30837"/>
                  </a:lnTo>
                  <a:lnTo>
                    <a:pt x="1010" y="583"/>
                  </a:lnTo>
                  <a:lnTo>
                    <a:pt x="0" y="1"/>
                  </a:ln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435;p25"/>
            <p:cNvSpPr/>
            <p:nvPr/>
          </p:nvSpPr>
          <p:spPr>
            <a:xfrm flipH="1">
              <a:off x="6937416" y="2712853"/>
              <a:ext cx="272503" cy="1240525"/>
            </a:xfrm>
            <a:custGeom>
              <a:avLst/>
              <a:gdLst/>
              <a:ahLst/>
              <a:cxnLst/>
              <a:rect l="l" t="t" r="r" b="b"/>
              <a:pathLst>
                <a:path w="7021" h="31962" extrusionOk="0">
                  <a:moveTo>
                    <a:pt x="1014" y="0"/>
                  </a:moveTo>
                  <a:lnTo>
                    <a:pt x="1" y="579"/>
                  </a:lnTo>
                  <a:lnTo>
                    <a:pt x="5800" y="30833"/>
                  </a:lnTo>
                  <a:lnTo>
                    <a:pt x="6015" y="31962"/>
                  </a:lnTo>
                  <a:cubicBezTo>
                    <a:pt x="6134" y="31962"/>
                    <a:pt x="6253" y="31935"/>
                    <a:pt x="6345" y="31884"/>
                  </a:cubicBezTo>
                  <a:lnTo>
                    <a:pt x="6371" y="31871"/>
                  </a:lnTo>
                  <a:lnTo>
                    <a:pt x="6886" y="31571"/>
                  </a:lnTo>
                  <a:cubicBezTo>
                    <a:pt x="6977" y="31516"/>
                    <a:pt x="7021" y="31449"/>
                    <a:pt x="7021" y="31381"/>
                  </a:cubicBezTo>
                  <a:lnTo>
                    <a:pt x="7021" y="31374"/>
                  </a:lnTo>
                  <a:lnTo>
                    <a:pt x="7014" y="31337"/>
                  </a:lnTo>
                  <a:lnTo>
                    <a:pt x="7014" y="31330"/>
                  </a:lnTo>
                  <a:lnTo>
                    <a:pt x="1014"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436;p25"/>
            <p:cNvSpPr/>
            <p:nvPr/>
          </p:nvSpPr>
          <p:spPr>
            <a:xfrm flipH="1">
              <a:off x="7014840" y="3663701"/>
              <a:ext cx="443666" cy="301301"/>
            </a:xfrm>
            <a:custGeom>
              <a:avLst/>
              <a:gdLst/>
              <a:ahLst/>
              <a:cxnLst/>
              <a:rect l="l" t="t" r="r" b="b"/>
              <a:pathLst>
                <a:path w="11431" h="7763" extrusionOk="0">
                  <a:moveTo>
                    <a:pt x="11430" y="0"/>
                  </a:moveTo>
                  <a:lnTo>
                    <a:pt x="0" y="6600"/>
                  </a:lnTo>
                  <a:lnTo>
                    <a:pt x="0" y="7762"/>
                  </a:lnTo>
                  <a:lnTo>
                    <a:pt x="11430" y="1163"/>
                  </a:lnTo>
                  <a:lnTo>
                    <a:pt x="11430"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1437;p25"/>
            <p:cNvSpPr/>
            <p:nvPr/>
          </p:nvSpPr>
          <p:spPr>
            <a:xfrm flipH="1">
              <a:off x="6780085" y="2629292"/>
              <a:ext cx="1290671" cy="781839"/>
            </a:xfrm>
            <a:custGeom>
              <a:avLst/>
              <a:gdLst/>
              <a:ahLst/>
              <a:cxnLst/>
              <a:rect l="l" t="t" r="r" b="b"/>
              <a:pathLst>
                <a:path w="33254" h="20144" extrusionOk="0">
                  <a:moveTo>
                    <a:pt x="29221" y="0"/>
                  </a:moveTo>
                  <a:cubicBezTo>
                    <a:pt x="29105" y="0"/>
                    <a:pt x="28988" y="26"/>
                    <a:pt x="28898" y="77"/>
                  </a:cubicBezTo>
                  <a:lnTo>
                    <a:pt x="324" y="16575"/>
                  </a:lnTo>
                  <a:cubicBezTo>
                    <a:pt x="143" y="16681"/>
                    <a:pt x="1" y="16929"/>
                    <a:pt x="1" y="17133"/>
                  </a:cubicBezTo>
                  <a:lnTo>
                    <a:pt x="1" y="17554"/>
                  </a:lnTo>
                  <a:cubicBezTo>
                    <a:pt x="1" y="17758"/>
                    <a:pt x="143" y="18010"/>
                    <a:pt x="324" y="18112"/>
                  </a:cubicBezTo>
                  <a:lnTo>
                    <a:pt x="3710" y="20068"/>
                  </a:lnTo>
                  <a:cubicBezTo>
                    <a:pt x="3798" y="20118"/>
                    <a:pt x="3914" y="20144"/>
                    <a:pt x="4031" y="20144"/>
                  </a:cubicBezTo>
                  <a:cubicBezTo>
                    <a:pt x="4147" y="20144"/>
                    <a:pt x="4263" y="20118"/>
                    <a:pt x="4352" y="20068"/>
                  </a:cubicBezTo>
                  <a:lnTo>
                    <a:pt x="32931" y="3568"/>
                  </a:lnTo>
                  <a:cubicBezTo>
                    <a:pt x="33108" y="3466"/>
                    <a:pt x="33254" y="3214"/>
                    <a:pt x="33254" y="3010"/>
                  </a:cubicBezTo>
                  <a:lnTo>
                    <a:pt x="33254" y="2592"/>
                  </a:lnTo>
                  <a:cubicBezTo>
                    <a:pt x="33254" y="2385"/>
                    <a:pt x="33108" y="2137"/>
                    <a:pt x="32931" y="2031"/>
                  </a:cubicBezTo>
                  <a:lnTo>
                    <a:pt x="29544" y="77"/>
                  </a:lnTo>
                  <a:cubicBezTo>
                    <a:pt x="29454" y="26"/>
                    <a:pt x="29338" y="0"/>
                    <a:pt x="2922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1438;p25"/>
            <p:cNvSpPr/>
            <p:nvPr/>
          </p:nvSpPr>
          <p:spPr>
            <a:xfrm flipH="1">
              <a:off x="6785752" y="2689100"/>
              <a:ext cx="1278173" cy="676851"/>
            </a:xfrm>
            <a:custGeom>
              <a:avLst/>
              <a:gdLst/>
              <a:ahLst/>
              <a:cxnLst/>
              <a:rect l="l" t="t" r="r" b="b"/>
              <a:pathLst>
                <a:path w="32932" h="17439" extrusionOk="0">
                  <a:moveTo>
                    <a:pt x="766" y="14678"/>
                  </a:moveTo>
                  <a:lnTo>
                    <a:pt x="148" y="15034"/>
                  </a:lnTo>
                  <a:cubicBezTo>
                    <a:pt x="76" y="15075"/>
                    <a:pt x="32" y="15130"/>
                    <a:pt x="18" y="15181"/>
                  </a:cubicBezTo>
                  <a:cubicBezTo>
                    <a:pt x="1" y="15246"/>
                    <a:pt x="25" y="15310"/>
                    <a:pt x="82" y="15365"/>
                  </a:cubicBezTo>
                  <a:cubicBezTo>
                    <a:pt x="99" y="15378"/>
                    <a:pt x="123" y="15395"/>
                    <a:pt x="148" y="15409"/>
                  </a:cubicBezTo>
                  <a:lnTo>
                    <a:pt x="1347" y="16102"/>
                  </a:lnTo>
                  <a:cubicBezTo>
                    <a:pt x="1058" y="15925"/>
                    <a:pt x="813" y="15517"/>
                    <a:pt x="793" y="15184"/>
                  </a:cubicBezTo>
                  <a:lnTo>
                    <a:pt x="766" y="14678"/>
                  </a:lnTo>
                  <a:close/>
                  <a:moveTo>
                    <a:pt x="31904" y="0"/>
                  </a:moveTo>
                  <a:cubicBezTo>
                    <a:pt x="31813" y="171"/>
                    <a:pt x="31680" y="320"/>
                    <a:pt x="31531" y="405"/>
                  </a:cubicBezTo>
                  <a:lnTo>
                    <a:pt x="3384" y="16656"/>
                  </a:lnTo>
                  <a:cubicBezTo>
                    <a:pt x="3380" y="16656"/>
                    <a:pt x="3380" y="16660"/>
                    <a:pt x="3380" y="16660"/>
                  </a:cubicBezTo>
                  <a:lnTo>
                    <a:pt x="3377" y="16660"/>
                  </a:lnTo>
                  <a:cubicBezTo>
                    <a:pt x="3231" y="16744"/>
                    <a:pt x="3037" y="16785"/>
                    <a:pt x="2847" y="16785"/>
                  </a:cubicBezTo>
                  <a:cubicBezTo>
                    <a:pt x="2660" y="16785"/>
                    <a:pt x="2473" y="16744"/>
                    <a:pt x="2326" y="16666"/>
                  </a:cubicBezTo>
                  <a:lnTo>
                    <a:pt x="2326" y="16666"/>
                  </a:lnTo>
                  <a:lnTo>
                    <a:pt x="3534" y="17364"/>
                  </a:lnTo>
                  <a:cubicBezTo>
                    <a:pt x="3557" y="17377"/>
                    <a:pt x="3588" y="17391"/>
                    <a:pt x="3619" y="17400"/>
                  </a:cubicBezTo>
                  <a:cubicBezTo>
                    <a:pt x="3625" y="17405"/>
                    <a:pt x="3632" y="17408"/>
                    <a:pt x="3639" y="17408"/>
                  </a:cubicBezTo>
                  <a:cubicBezTo>
                    <a:pt x="3707" y="17428"/>
                    <a:pt x="3782" y="17438"/>
                    <a:pt x="3853" y="17438"/>
                  </a:cubicBezTo>
                  <a:cubicBezTo>
                    <a:pt x="3972" y="17438"/>
                    <a:pt x="4088" y="17414"/>
                    <a:pt x="4176" y="17364"/>
                  </a:cubicBezTo>
                  <a:lnTo>
                    <a:pt x="32755" y="864"/>
                  </a:lnTo>
                  <a:cubicBezTo>
                    <a:pt x="32932" y="762"/>
                    <a:pt x="32932" y="596"/>
                    <a:pt x="32755" y="490"/>
                  </a:cubicBezTo>
                  <a:lnTo>
                    <a:pt x="3190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1439;p25"/>
            <p:cNvSpPr/>
            <p:nvPr/>
          </p:nvSpPr>
          <p:spPr>
            <a:xfrm flipH="1">
              <a:off x="7914384" y="3408126"/>
              <a:ext cx="12420" cy="3066"/>
            </a:xfrm>
            <a:custGeom>
              <a:avLst/>
              <a:gdLst/>
              <a:ahLst/>
              <a:cxnLst/>
              <a:rect l="l" t="t" r="r" b="b"/>
              <a:pathLst>
                <a:path w="320" h="79" extrusionOk="0">
                  <a:moveTo>
                    <a:pt x="1" y="1"/>
                  </a:moveTo>
                  <a:lnTo>
                    <a:pt x="1" y="1"/>
                  </a:lnTo>
                  <a:cubicBezTo>
                    <a:pt x="86" y="51"/>
                    <a:pt x="205" y="78"/>
                    <a:pt x="320" y="78"/>
                  </a:cubicBezTo>
                  <a:cubicBezTo>
                    <a:pt x="205" y="78"/>
                    <a:pt x="89" y="51"/>
                    <a:pt x="1" y="1"/>
                  </a:cubicBez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1440;p25"/>
            <p:cNvSpPr/>
            <p:nvPr/>
          </p:nvSpPr>
          <p:spPr>
            <a:xfrm flipH="1">
              <a:off x="7914381" y="3274458"/>
              <a:ext cx="156376" cy="136736"/>
            </a:xfrm>
            <a:custGeom>
              <a:avLst/>
              <a:gdLst/>
              <a:ahLst/>
              <a:cxnLst/>
              <a:rect l="l" t="t" r="r" b="b"/>
              <a:pathLst>
                <a:path w="4029" h="3523" extrusionOk="0">
                  <a:moveTo>
                    <a:pt x="258" y="0"/>
                  </a:moveTo>
                  <a:cubicBezTo>
                    <a:pt x="109" y="119"/>
                    <a:pt x="1" y="333"/>
                    <a:pt x="1" y="514"/>
                  </a:cubicBezTo>
                  <a:lnTo>
                    <a:pt x="1" y="931"/>
                  </a:lnTo>
                  <a:cubicBezTo>
                    <a:pt x="1" y="1122"/>
                    <a:pt x="126" y="1350"/>
                    <a:pt x="286" y="1466"/>
                  </a:cubicBezTo>
                  <a:cubicBezTo>
                    <a:pt x="296" y="1476"/>
                    <a:pt x="310" y="1482"/>
                    <a:pt x="324" y="1489"/>
                  </a:cubicBezTo>
                  <a:lnTo>
                    <a:pt x="3710" y="3445"/>
                  </a:lnTo>
                  <a:cubicBezTo>
                    <a:pt x="3798" y="3495"/>
                    <a:pt x="3914" y="3522"/>
                    <a:pt x="4029" y="3522"/>
                  </a:cubicBezTo>
                  <a:lnTo>
                    <a:pt x="4029" y="2359"/>
                  </a:lnTo>
                  <a:cubicBezTo>
                    <a:pt x="3958" y="2359"/>
                    <a:pt x="3883" y="2346"/>
                    <a:pt x="3815" y="2326"/>
                  </a:cubicBezTo>
                  <a:cubicBezTo>
                    <a:pt x="3808" y="2326"/>
                    <a:pt x="3801" y="2323"/>
                    <a:pt x="3795" y="2318"/>
                  </a:cubicBezTo>
                  <a:cubicBezTo>
                    <a:pt x="3764" y="2309"/>
                    <a:pt x="3737" y="2295"/>
                    <a:pt x="3710" y="2282"/>
                  </a:cubicBezTo>
                  <a:lnTo>
                    <a:pt x="2489" y="1578"/>
                  </a:lnTo>
                  <a:cubicBezTo>
                    <a:pt x="2489" y="1578"/>
                    <a:pt x="2486" y="1578"/>
                    <a:pt x="2486" y="1574"/>
                  </a:cubicBezTo>
                  <a:lnTo>
                    <a:pt x="1543" y="1030"/>
                  </a:lnTo>
                  <a:lnTo>
                    <a:pt x="1540" y="1030"/>
                  </a:lnTo>
                  <a:lnTo>
                    <a:pt x="324" y="327"/>
                  </a:lnTo>
                  <a:cubicBezTo>
                    <a:pt x="299" y="313"/>
                    <a:pt x="279" y="296"/>
                    <a:pt x="258" y="283"/>
                  </a:cubicBezTo>
                  <a:cubicBezTo>
                    <a:pt x="201" y="228"/>
                    <a:pt x="177" y="164"/>
                    <a:pt x="194" y="99"/>
                  </a:cubicBezTo>
                  <a:cubicBezTo>
                    <a:pt x="205" y="65"/>
                    <a:pt x="225" y="31"/>
                    <a:pt x="25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1441;p25"/>
            <p:cNvSpPr/>
            <p:nvPr/>
          </p:nvSpPr>
          <p:spPr>
            <a:xfrm flipH="1">
              <a:off x="7922648" y="3278301"/>
              <a:ext cx="141277" cy="86435"/>
            </a:xfrm>
            <a:custGeom>
              <a:avLst/>
              <a:gdLst/>
              <a:ahLst/>
              <a:cxnLst/>
              <a:rect l="l" t="t" r="r" b="b"/>
              <a:pathLst>
                <a:path w="3640" h="2227" extrusionOk="0">
                  <a:moveTo>
                    <a:pt x="3619" y="2219"/>
                  </a:moveTo>
                  <a:cubicBezTo>
                    <a:pt x="3625" y="2224"/>
                    <a:pt x="3632" y="2227"/>
                    <a:pt x="3639" y="2227"/>
                  </a:cubicBezTo>
                  <a:cubicBezTo>
                    <a:pt x="3632" y="2227"/>
                    <a:pt x="3625" y="2224"/>
                    <a:pt x="3619" y="2219"/>
                  </a:cubicBezTo>
                  <a:close/>
                  <a:moveTo>
                    <a:pt x="18" y="0"/>
                  </a:moveTo>
                  <a:cubicBezTo>
                    <a:pt x="1" y="65"/>
                    <a:pt x="25" y="129"/>
                    <a:pt x="82" y="184"/>
                  </a:cubicBezTo>
                  <a:cubicBezTo>
                    <a:pt x="25" y="129"/>
                    <a:pt x="1" y="65"/>
                    <a:pt x="18" y="0"/>
                  </a:cubicBezTo>
                  <a:close/>
                </a:path>
              </a:pathLst>
            </a:custGeom>
            <a:solidFill>
              <a:srgbClr val="70D3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1442;p25"/>
            <p:cNvSpPr/>
            <p:nvPr/>
          </p:nvSpPr>
          <p:spPr>
            <a:xfrm flipH="1">
              <a:off x="6819906" y="1299875"/>
              <a:ext cx="1289390" cy="2040800"/>
            </a:xfrm>
            <a:custGeom>
              <a:avLst/>
              <a:gdLst/>
              <a:ahLst/>
              <a:cxnLst/>
              <a:rect l="l" t="t" r="r" b="b"/>
              <a:pathLst>
                <a:path w="33221" h="52581" extrusionOk="0">
                  <a:moveTo>
                    <a:pt x="29207" y="1"/>
                  </a:moveTo>
                  <a:cubicBezTo>
                    <a:pt x="29013" y="1"/>
                    <a:pt x="28819" y="44"/>
                    <a:pt x="28671" y="131"/>
                  </a:cubicBezTo>
                  <a:lnTo>
                    <a:pt x="521" y="16382"/>
                  </a:lnTo>
                  <a:cubicBezTo>
                    <a:pt x="225" y="16552"/>
                    <a:pt x="1" y="16970"/>
                    <a:pt x="21" y="17310"/>
                  </a:cubicBezTo>
                  <a:lnTo>
                    <a:pt x="1962" y="50978"/>
                  </a:lnTo>
                  <a:cubicBezTo>
                    <a:pt x="1982" y="51322"/>
                    <a:pt x="2241" y="51736"/>
                    <a:pt x="2536" y="51906"/>
                  </a:cubicBezTo>
                  <a:lnTo>
                    <a:pt x="3479" y="52450"/>
                  </a:lnTo>
                  <a:cubicBezTo>
                    <a:pt x="3627" y="52537"/>
                    <a:pt x="3820" y="52580"/>
                    <a:pt x="4015" y="52580"/>
                  </a:cubicBezTo>
                  <a:cubicBezTo>
                    <a:pt x="4209" y="52580"/>
                    <a:pt x="4403" y="52537"/>
                    <a:pt x="4553" y="52450"/>
                  </a:cubicBezTo>
                  <a:lnTo>
                    <a:pt x="32700" y="36199"/>
                  </a:lnTo>
                  <a:cubicBezTo>
                    <a:pt x="32996" y="36029"/>
                    <a:pt x="33220" y="35611"/>
                    <a:pt x="33203" y="35271"/>
                  </a:cubicBezTo>
                  <a:lnTo>
                    <a:pt x="31258" y="1603"/>
                  </a:lnTo>
                  <a:cubicBezTo>
                    <a:pt x="31238" y="1259"/>
                    <a:pt x="30983" y="845"/>
                    <a:pt x="30687" y="675"/>
                  </a:cubicBezTo>
                  <a:lnTo>
                    <a:pt x="29742" y="131"/>
                  </a:lnTo>
                  <a:cubicBezTo>
                    <a:pt x="29594" y="44"/>
                    <a:pt x="29400" y="1"/>
                    <a:pt x="29207" y="1"/>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1443;p25"/>
            <p:cNvSpPr/>
            <p:nvPr/>
          </p:nvSpPr>
          <p:spPr>
            <a:xfrm flipH="1">
              <a:off x="6896599" y="1299953"/>
              <a:ext cx="1206913" cy="696607"/>
            </a:xfrm>
            <a:custGeom>
              <a:avLst/>
              <a:gdLst/>
              <a:ahLst/>
              <a:cxnLst/>
              <a:rect l="l" t="t" r="r" b="b"/>
              <a:pathLst>
                <a:path w="31096" h="17948" extrusionOk="0">
                  <a:moveTo>
                    <a:pt x="29060" y="1"/>
                  </a:moveTo>
                  <a:cubicBezTo>
                    <a:pt x="28866" y="1"/>
                    <a:pt x="28671" y="43"/>
                    <a:pt x="28522" y="129"/>
                  </a:cubicBezTo>
                  <a:lnTo>
                    <a:pt x="372" y="16380"/>
                  </a:lnTo>
                  <a:cubicBezTo>
                    <a:pt x="225" y="16468"/>
                    <a:pt x="93" y="16614"/>
                    <a:pt x="1" y="16785"/>
                  </a:cubicBezTo>
                  <a:lnTo>
                    <a:pt x="2017" y="17947"/>
                  </a:lnTo>
                  <a:cubicBezTo>
                    <a:pt x="2106" y="17780"/>
                    <a:pt x="2238" y="17631"/>
                    <a:pt x="2387" y="17543"/>
                  </a:cubicBezTo>
                  <a:lnTo>
                    <a:pt x="30535" y="1291"/>
                  </a:lnTo>
                  <a:cubicBezTo>
                    <a:pt x="30622" y="1242"/>
                    <a:pt x="30706" y="1219"/>
                    <a:pt x="30781" y="1219"/>
                  </a:cubicBezTo>
                  <a:cubicBezTo>
                    <a:pt x="30938" y="1219"/>
                    <a:pt x="31057" y="1322"/>
                    <a:pt x="31096" y="1509"/>
                  </a:cubicBezTo>
                  <a:cubicBezTo>
                    <a:pt x="31045" y="1189"/>
                    <a:pt x="30810" y="833"/>
                    <a:pt x="30542" y="673"/>
                  </a:cubicBezTo>
                  <a:lnTo>
                    <a:pt x="29593" y="125"/>
                  </a:lnTo>
                  <a:cubicBezTo>
                    <a:pt x="29446" y="42"/>
                    <a:pt x="29253" y="1"/>
                    <a:pt x="29060" y="1"/>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1444;p25"/>
            <p:cNvSpPr/>
            <p:nvPr/>
          </p:nvSpPr>
          <p:spPr>
            <a:xfrm flipH="1">
              <a:off x="6819908" y="1347225"/>
              <a:ext cx="1211144" cy="1991275"/>
            </a:xfrm>
            <a:custGeom>
              <a:avLst/>
              <a:gdLst/>
              <a:ahLst/>
              <a:cxnLst/>
              <a:rect l="l" t="t" r="r" b="b"/>
              <a:pathLst>
                <a:path w="31205" h="51305" extrusionOk="0">
                  <a:moveTo>
                    <a:pt x="28915" y="0"/>
                  </a:moveTo>
                  <a:cubicBezTo>
                    <a:pt x="28840" y="0"/>
                    <a:pt x="28757" y="24"/>
                    <a:pt x="28671" y="73"/>
                  </a:cubicBezTo>
                  <a:lnTo>
                    <a:pt x="520" y="16325"/>
                  </a:lnTo>
                  <a:cubicBezTo>
                    <a:pt x="225" y="16494"/>
                    <a:pt x="1" y="16913"/>
                    <a:pt x="21" y="17252"/>
                  </a:cubicBezTo>
                  <a:lnTo>
                    <a:pt x="1962" y="50921"/>
                  </a:lnTo>
                  <a:cubicBezTo>
                    <a:pt x="1977" y="51164"/>
                    <a:pt x="2109" y="51305"/>
                    <a:pt x="2291" y="51305"/>
                  </a:cubicBezTo>
                  <a:cubicBezTo>
                    <a:pt x="2366" y="51305"/>
                    <a:pt x="2449" y="51281"/>
                    <a:pt x="2537" y="51230"/>
                  </a:cubicBezTo>
                  <a:lnTo>
                    <a:pt x="30684" y="34979"/>
                  </a:lnTo>
                  <a:cubicBezTo>
                    <a:pt x="30980" y="34809"/>
                    <a:pt x="31204" y="34391"/>
                    <a:pt x="31187" y="34051"/>
                  </a:cubicBezTo>
                  <a:lnTo>
                    <a:pt x="29242" y="383"/>
                  </a:lnTo>
                  <a:cubicBezTo>
                    <a:pt x="29228" y="139"/>
                    <a:pt x="29096" y="0"/>
                    <a:pt x="28915" y="0"/>
                  </a:cubicBezTo>
                  <a:close/>
                </a:path>
              </a:pathLst>
            </a:custGeom>
            <a:solidFill>
              <a:srgbClr val="F0F0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1445;p25"/>
            <p:cNvSpPr/>
            <p:nvPr/>
          </p:nvSpPr>
          <p:spPr>
            <a:xfrm flipH="1">
              <a:off x="7210406" y="1431291"/>
              <a:ext cx="625735" cy="445762"/>
            </a:xfrm>
            <a:custGeom>
              <a:avLst/>
              <a:gdLst/>
              <a:ahLst/>
              <a:cxnLst/>
              <a:rect l="l" t="t" r="r" b="b"/>
              <a:pathLst>
                <a:path w="16122" h="11485" extrusionOk="0">
                  <a:moveTo>
                    <a:pt x="12092" y="0"/>
                  </a:moveTo>
                  <a:cubicBezTo>
                    <a:pt x="12010" y="0"/>
                    <a:pt x="11928" y="19"/>
                    <a:pt x="11866" y="56"/>
                  </a:cubicBezTo>
                  <a:lnTo>
                    <a:pt x="224" y="6774"/>
                  </a:lnTo>
                  <a:cubicBezTo>
                    <a:pt x="102" y="6849"/>
                    <a:pt x="0" y="7022"/>
                    <a:pt x="0" y="7165"/>
                  </a:cubicBezTo>
                  <a:lnTo>
                    <a:pt x="3" y="9232"/>
                  </a:lnTo>
                  <a:lnTo>
                    <a:pt x="1006" y="8651"/>
                  </a:lnTo>
                  <a:lnTo>
                    <a:pt x="3022" y="9814"/>
                  </a:lnTo>
                  <a:lnTo>
                    <a:pt x="3022" y="10718"/>
                  </a:lnTo>
                  <a:cubicBezTo>
                    <a:pt x="3022" y="10861"/>
                    <a:pt x="3124" y="11038"/>
                    <a:pt x="3250" y="11109"/>
                  </a:cubicBezTo>
                  <a:lnTo>
                    <a:pt x="3805" y="11428"/>
                  </a:lnTo>
                  <a:cubicBezTo>
                    <a:pt x="3868" y="11466"/>
                    <a:pt x="3949" y="11485"/>
                    <a:pt x="4031" y="11485"/>
                  </a:cubicBezTo>
                  <a:cubicBezTo>
                    <a:pt x="4112" y="11485"/>
                    <a:pt x="4194" y="11466"/>
                    <a:pt x="4257" y="11428"/>
                  </a:cubicBezTo>
                  <a:lnTo>
                    <a:pt x="15897" y="4711"/>
                  </a:lnTo>
                  <a:cubicBezTo>
                    <a:pt x="16024" y="4636"/>
                    <a:pt x="16122" y="4462"/>
                    <a:pt x="16122" y="4319"/>
                  </a:cubicBezTo>
                  <a:lnTo>
                    <a:pt x="16122" y="2511"/>
                  </a:lnTo>
                  <a:cubicBezTo>
                    <a:pt x="16122" y="2368"/>
                    <a:pt x="16020" y="2194"/>
                    <a:pt x="15897" y="2120"/>
                  </a:cubicBezTo>
                  <a:lnTo>
                    <a:pt x="12318" y="56"/>
                  </a:lnTo>
                  <a:cubicBezTo>
                    <a:pt x="12255" y="19"/>
                    <a:pt x="12173" y="0"/>
                    <a:pt x="12092"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1446;p25"/>
            <p:cNvSpPr/>
            <p:nvPr/>
          </p:nvSpPr>
          <p:spPr>
            <a:xfrm flipH="1">
              <a:off x="7210410" y="1514736"/>
              <a:ext cx="469243" cy="362276"/>
            </a:xfrm>
            <a:custGeom>
              <a:avLst/>
              <a:gdLst/>
              <a:ahLst/>
              <a:cxnLst/>
              <a:rect l="l" t="t" r="r" b="b"/>
              <a:pathLst>
                <a:path w="12090" h="9334" extrusionOk="0">
                  <a:moveTo>
                    <a:pt x="11903" y="0"/>
                  </a:moveTo>
                  <a:cubicBezTo>
                    <a:pt x="11988" y="68"/>
                    <a:pt x="11975" y="170"/>
                    <a:pt x="11865" y="231"/>
                  </a:cubicBezTo>
                  <a:lnTo>
                    <a:pt x="225" y="6953"/>
                  </a:lnTo>
                  <a:cubicBezTo>
                    <a:pt x="164" y="6987"/>
                    <a:pt x="82" y="7008"/>
                    <a:pt x="1" y="7008"/>
                  </a:cubicBezTo>
                  <a:lnTo>
                    <a:pt x="1" y="9333"/>
                  </a:lnTo>
                  <a:cubicBezTo>
                    <a:pt x="82" y="9333"/>
                    <a:pt x="160" y="9316"/>
                    <a:pt x="225" y="9282"/>
                  </a:cubicBezTo>
                  <a:lnTo>
                    <a:pt x="11865" y="2557"/>
                  </a:lnTo>
                  <a:cubicBezTo>
                    <a:pt x="11988" y="2486"/>
                    <a:pt x="12090" y="2312"/>
                    <a:pt x="12090" y="2169"/>
                  </a:cubicBezTo>
                  <a:lnTo>
                    <a:pt x="12090" y="361"/>
                  </a:lnTo>
                  <a:cubicBezTo>
                    <a:pt x="12090" y="235"/>
                    <a:pt x="12012" y="82"/>
                    <a:pt x="1190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1447;p25"/>
            <p:cNvSpPr/>
            <p:nvPr/>
          </p:nvSpPr>
          <p:spPr>
            <a:xfrm flipH="1">
              <a:off x="7214365" y="1431291"/>
              <a:ext cx="617817" cy="355406"/>
            </a:xfrm>
            <a:custGeom>
              <a:avLst/>
              <a:gdLst/>
              <a:ahLst/>
              <a:cxnLst/>
              <a:rect l="l" t="t" r="r" b="b"/>
              <a:pathLst>
                <a:path w="15918" h="9157" extrusionOk="0">
                  <a:moveTo>
                    <a:pt x="11990" y="0"/>
                  </a:moveTo>
                  <a:cubicBezTo>
                    <a:pt x="11908" y="0"/>
                    <a:pt x="11826" y="19"/>
                    <a:pt x="11764" y="56"/>
                  </a:cubicBezTo>
                  <a:lnTo>
                    <a:pt x="122" y="6774"/>
                  </a:lnTo>
                  <a:cubicBezTo>
                    <a:pt x="0" y="6849"/>
                    <a:pt x="0" y="6964"/>
                    <a:pt x="122" y="7036"/>
                  </a:cubicBezTo>
                  <a:lnTo>
                    <a:pt x="3703" y="9103"/>
                  </a:lnTo>
                  <a:cubicBezTo>
                    <a:pt x="3766" y="9138"/>
                    <a:pt x="3847" y="9156"/>
                    <a:pt x="3929" y="9156"/>
                  </a:cubicBezTo>
                  <a:cubicBezTo>
                    <a:pt x="4010" y="9156"/>
                    <a:pt x="4092" y="9138"/>
                    <a:pt x="4155" y="9103"/>
                  </a:cubicBezTo>
                  <a:lnTo>
                    <a:pt x="15795" y="2381"/>
                  </a:lnTo>
                  <a:cubicBezTo>
                    <a:pt x="15918" y="2310"/>
                    <a:pt x="15918" y="2194"/>
                    <a:pt x="15795" y="2120"/>
                  </a:cubicBezTo>
                  <a:lnTo>
                    <a:pt x="12216" y="56"/>
                  </a:lnTo>
                  <a:cubicBezTo>
                    <a:pt x="12153" y="19"/>
                    <a:pt x="12071" y="0"/>
                    <a:pt x="1199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1448;p25"/>
            <p:cNvSpPr/>
            <p:nvPr/>
          </p:nvSpPr>
          <p:spPr>
            <a:xfrm flipH="1">
              <a:off x="7593716" y="1994721"/>
              <a:ext cx="308831" cy="379043"/>
            </a:xfrm>
            <a:custGeom>
              <a:avLst/>
              <a:gdLst/>
              <a:ahLst/>
              <a:cxnLst/>
              <a:rect l="l" t="t" r="r" b="b"/>
              <a:pathLst>
                <a:path w="7957" h="9766" extrusionOk="0">
                  <a:moveTo>
                    <a:pt x="5495" y="1"/>
                  </a:moveTo>
                  <a:cubicBezTo>
                    <a:pt x="4955" y="1"/>
                    <a:pt x="4354" y="172"/>
                    <a:pt x="3727" y="532"/>
                  </a:cubicBezTo>
                  <a:cubicBezTo>
                    <a:pt x="1609" y="1756"/>
                    <a:pt x="1" y="4697"/>
                    <a:pt x="140" y="7097"/>
                  </a:cubicBezTo>
                  <a:cubicBezTo>
                    <a:pt x="239" y="8791"/>
                    <a:pt x="1176" y="9765"/>
                    <a:pt x="2463" y="9765"/>
                  </a:cubicBezTo>
                  <a:cubicBezTo>
                    <a:pt x="3003" y="9765"/>
                    <a:pt x="3604" y="9594"/>
                    <a:pt x="4231" y="9232"/>
                  </a:cubicBezTo>
                  <a:cubicBezTo>
                    <a:pt x="6348" y="8008"/>
                    <a:pt x="7956" y="5068"/>
                    <a:pt x="7817" y="2667"/>
                  </a:cubicBezTo>
                  <a:cubicBezTo>
                    <a:pt x="7719" y="973"/>
                    <a:pt x="6782" y="1"/>
                    <a:pt x="549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1449;p25"/>
            <p:cNvSpPr/>
            <p:nvPr/>
          </p:nvSpPr>
          <p:spPr>
            <a:xfrm flipH="1">
              <a:off x="7652676" y="1994759"/>
              <a:ext cx="105221" cy="189560"/>
            </a:xfrm>
            <a:custGeom>
              <a:avLst/>
              <a:gdLst/>
              <a:ahLst/>
              <a:cxnLst/>
              <a:rect l="l" t="t" r="r" b="b"/>
              <a:pathLst>
                <a:path w="2711" h="4884" extrusionOk="0">
                  <a:moveTo>
                    <a:pt x="1768" y="0"/>
                  </a:moveTo>
                  <a:cubicBezTo>
                    <a:pt x="1227" y="0"/>
                    <a:pt x="626" y="171"/>
                    <a:pt x="0" y="535"/>
                  </a:cubicBezTo>
                  <a:lnTo>
                    <a:pt x="252" y="4883"/>
                  </a:lnTo>
                  <a:lnTo>
                    <a:pt x="2710" y="204"/>
                  </a:lnTo>
                  <a:cubicBezTo>
                    <a:pt x="2428" y="69"/>
                    <a:pt x="2108" y="0"/>
                    <a:pt x="1768" y="0"/>
                  </a:cubicBezTo>
                  <a:close/>
                </a:path>
              </a:pathLst>
            </a:custGeom>
            <a:solidFill>
              <a:srgbClr val="23C7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1450;p25"/>
            <p:cNvSpPr/>
            <p:nvPr/>
          </p:nvSpPr>
          <p:spPr>
            <a:xfrm flipH="1">
              <a:off x="7597062" y="2021695"/>
              <a:ext cx="30080" cy="192937"/>
            </a:xfrm>
            <a:custGeom>
              <a:avLst/>
              <a:gdLst/>
              <a:ahLst/>
              <a:cxnLst/>
              <a:rect l="l" t="t" r="r" b="b"/>
              <a:pathLst>
                <a:path w="775" h="4971" extrusionOk="0">
                  <a:moveTo>
                    <a:pt x="0" y="0"/>
                  </a:moveTo>
                  <a:lnTo>
                    <a:pt x="0" y="0"/>
                  </a:lnTo>
                  <a:cubicBezTo>
                    <a:pt x="412" y="456"/>
                    <a:pt x="674" y="1122"/>
                    <a:pt x="721" y="1972"/>
                  </a:cubicBezTo>
                  <a:cubicBezTo>
                    <a:pt x="674" y="1122"/>
                    <a:pt x="412" y="453"/>
                    <a:pt x="0" y="0"/>
                  </a:cubicBezTo>
                  <a:close/>
                  <a:moveTo>
                    <a:pt x="721" y="1976"/>
                  </a:moveTo>
                  <a:cubicBezTo>
                    <a:pt x="775" y="2937"/>
                    <a:pt x="551" y="3983"/>
                    <a:pt x="129" y="4971"/>
                  </a:cubicBezTo>
                  <a:cubicBezTo>
                    <a:pt x="554" y="3983"/>
                    <a:pt x="775" y="2937"/>
                    <a:pt x="721" y="1976"/>
                  </a:cubicBezTo>
                  <a:close/>
                </a:path>
              </a:pathLst>
            </a:custGeom>
            <a:solidFill>
              <a:srgbClr val="C0C0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1451;p25"/>
            <p:cNvSpPr/>
            <p:nvPr/>
          </p:nvSpPr>
          <p:spPr>
            <a:xfrm flipH="1">
              <a:off x="7597020" y="2002677"/>
              <a:ext cx="151136" cy="211955"/>
            </a:xfrm>
            <a:custGeom>
              <a:avLst/>
              <a:gdLst/>
              <a:ahLst/>
              <a:cxnLst/>
              <a:rect l="l" t="t" r="r" b="b"/>
              <a:pathLst>
                <a:path w="3894" h="5461" extrusionOk="0">
                  <a:moveTo>
                    <a:pt x="2459" y="0"/>
                  </a:moveTo>
                  <a:lnTo>
                    <a:pt x="1" y="4679"/>
                  </a:lnTo>
                  <a:lnTo>
                    <a:pt x="3247" y="5461"/>
                  </a:lnTo>
                  <a:cubicBezTo>
                    <a:pt x="3669" y="4472"/>
                    <a:pt x="3894" y="3424"/>
                    <a:pt x="3839" y="2462"/>
                  </a:cubicBezTo>
                  <a:cubicBezTo>
                    <a:pt x="3792" y="1612"/>
                    <a:pt x="3530" y="946"/>
                    <a:pt x="3118" y="490"/>
                  </a:cubicBezTo>
                  <a:cubicBezTo>
                    <a:pt x="2932" y="280"/>
                    <a:pt x="2707" y="116"/>
                    <a:pt x="245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1452;p25"/>
            <p:cNvSpPr/>
            <p:nvPr/>
          </p:nvSpPr>
          <p:spPr>
            <a:xfrm flipH="1">
              <a:off x="6992948" y="1670992"/>
              <a:ext cx="532430" cy="338988"/>
            </a:xfrm>
            <a:custGeom>
              <a:avLst/>
              <a:gdLst/>
              <a:ahLst/>
              <a:cxnLst/>
              <a:rect l="l" t="t" r="r" b="b"/>
              <a:pathLst>
                <a:path w="13718" h="8734" extrusionOk="0">
                  <a:moveTo>
                    <a:pt x="13487" y="0"/>
                  </a:moveTo>
                  <a:cubicBezTo>
                    <a:pt x="13442" y="0"/>
                    <a:pt x="13392" y="15"/>
                    <a:pt x="13341" y="44"/>
                  </a:cubicBezTo>
                  <a:lnTo>
                    <a:pt x="313" y="7564"/>
                  </a:lnTo>
                  <a:cubicBezTo>
                    <a:pt x="135" y="7666"/>
                    <a:pt x="0" y="7914"/>
                    <a:pt x="13" y="8122"/>
                  </a:cubicBezTo>
                  <a:lnTo>
                    <a:pt x="33" y="8502"/>
                  </a:lnTo>
                  <a:cubicBezTo>
                    <a:pt x="41" y="8649"/>
                    <a:pt x="120" y="8733"/>
                    <a:pt x="229" y="8733"/>
                  </a:cubicBezTo>
                  <a:cubicBezTo>
                    <a:pt x="274" y="8733"/>
                    <a:pt x="324" y="8719"/>
                    <a:pt x="377" y="8689"/>
                  </a:cubicBezTo>
                  <a:cubicBezTo>
                    <a:pt x="2233" y="7619"/>
                    <a:pt x="11546" y="2243"/>
                    <a:pt x="13402" y="1169"/>
                  </a:cubicBezTo>
                  <a:cubicBezTo>
                    <a:pt x="13582" y="1067"/>
                    <a:pt x="13718" y="819"/>
                    <a:pt x="13704" y="611"/>
                  </a:cubicBezTo>
                  <a:lnTo>
                    <a:pt x="13684" y="231"/>
                  </a:lnTo>
                  <a:cubicBezTo>
                    <a:pt x="13677" y="84"/>
                    <a:pt x="13596" y="0"/>
                    <a:pt x="134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1453;p25"/>
            <p:cNvSpPr/>
            <p:nvPr/>
          </p:nvSpPr>
          <p:spPr>
            <a:xfrm flipH="1">
              <a:off x="7483150" y="2064349"/>
              <a:ext cx="36212" cy="56162"/>
            </a:xfrm>
            <a:custGeom>
              <a:avLst/>
              <a:gdLst/>
              <a:ahLst/>
              <a:cxnLst/>
              <a:rect l="l" t="t" r="r" b="b"/>
              <a:pathLst>
                <a:path w="933" h="1447" extrusionOk="0">
                  <a:moveTo>
                    <a:pt x="758" y="1"/>
                  </a:moveTo>
                  <a:cubicBezTo>
                    <a:pt x="729" y="1"/>
                    <a:pt x="695" y="10"/>
                    <a:pt x="661" y="30"/>
                  </a:cubicBezTo>
                  <a:lnTo>
                    <a:pt x="208" y="292"/>
                  </a:lnTo>
                  <a:cubicBezTo>
                    <a:pt x="90" y="360"/>
                    <a:pt x="1" y="526"/>
                    <a:pt x="8" y="663"/>
                  </a:cubicBezTo>
                  <a:lnTo>
                    <a:pt x="42" y="1295"/>
                  </a:lnTo>
                  <a:cubicBezTo>
                    <a:pt x="47" y="1391"/>
                    <a:pt x="100" y="1446"/>
                    <a:pt x="172" y="1446"/>
                  </a:cubicBezTo>
                  <a:cubicBezTo>
                    <a:pt x="202" y="1446"/>
                    <a:pt x="235" y="1437"/>
                    <a:pt x="269" y="1417"/>
                  </a:cubicBezTo>
                  <a:lnTo>
                    <a:pt x="725" y="1156"/>
                  </a:lnTo>
                  <a:cubicBezTo>
                    <a:pt x="845" y="1088"/>
                    <a:pt x="933" y="921"/>
                    <a:pt x="926" y="785"/>
                  </a:cubicBezTo>
                  <a:lnTo>
                    <a:pt x="889" y="156"/>
                  </a:lnTo>
                  <a:cubicBezTo>
                    <a:pt x="883" y="57"/>
                    <a:pt x="831" y="1"/>
                    <a:pt x="75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1454;p25"/>
            <p:cNvSpPr/>
            <p:nvPr/>
          </p:nvSpPr>
          <p:spPr>
            <a:xfrm flipH="1">
              <a:off x="6986857" y="1779704"/>
              <a:ext cx="458065" cy="296062"/>
            </a:xfrm>
            <a:custGeom>
              <a:avLst/>
              <a:gdLst/>
              <a:ahLst/>
              <a:cxnLst/>
              <a:rect l="l" t="t" r="r" b="b"/>
              <a:pathLst>
                <a:path w="11802" h="7628" extrusionOk="0">
                  <a:moveTo>
                    <a:pt x="11569" y="1"/>
                  </a:moveTo>
                  <a:cubicBezTo>
                    <a:pt x="11525" y="1"/>
                    <a:pt x="11475" y="15"/>
                    <a:pt x="11424" y="44"/>
                  </a:cubicBezTo>
                  <a:lnTo>
                    <a:pt x="314" y="6456"/>
                  </a:lnTo>
                  <a:cubicBezTo>
                    <a:pt x="137" y="6558"/>
                    <a:pt x="0" y="6810"/>
                    <a:pt x="11" y="7014"/>
                  </a:cubicBezTo>
                  <a:lnTo>
                    <a:pt x="31" y="7398"/>
                  </a:lnTo>
                  <a:cubicBezTo>
                    <a:pt x="41" y="7542"/>
                    <a:pt x="120" y="7627"/>
                    <a:pt x="228" y="7627"/>
                  </a:cubicBezTo>
                  <a:cubicBezTo>
                    <a:pt x="273" y="7627"/>
                    <a:pt x="323" y="7612"/>
                    <a:pt x="375" y="7581"/>
                  </a:cubicBezTo>
                  <a:lnTo>
                    <a:pt x="11488" y="1170"/>
                  </a:lnTo>
                  <a:cubicBezTo>
                    <a:pt x="11665" y="1068"/>
                    <a:pt x="11801" y="820"/>
                    <a:pt x="11788" y="612"/>
                  </a:cubicBezTo>
                  <a:lnTo>
                    <a:pt x="11767" y="231"/>
                  </a:lnTo>
                  <a:cubicBezTo>
                    <a:pt x="11757" y="84"/>
                    <a:pt x="11678" y="1"/>
                    <a:pt x="115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1455;p25"/>
            <p:cNvSpPr/>
            <p:nvPr/>
          </p:nvSpPr>
          <p:spPr>
            <a:xfrm flipH="1">
              <a:off x="7478260" y="2174031"/>
              <a:ext cx="36212" cy="56123"/>
            </a:xfrm>
            <a:custGeom>
              <a:avLst/>
              <a:gdLst/>
              <a:ahLst/>
              <a:cxnLst/>
              <a:rect l="l" t="t" r="r" b="b"/>
              <a:pathLst>
                <a:path w="933" h="1446" extrusionOk="0">
                  <a:moveTo>
                    <a:pt x="758" y="0"/>
                  </a:moveTo>
                  <a:cubicBezTo>
                    <a:pt x="728" y="0"/>
                    <a:pt x="695" y="10"/>
                    <a:pt x="661" y="29"/>
                  </a:cubicBezTo>
                  <a:lnTo>
                    <a:pt x="209" y="291"/>
                  </a:lnTo>
                  <a:cubicBezTo>
                    <a:pt x="89" y="359"/>
                    <a:pt x="1" y="526"/>
                    <a:pt x="8" y="662"/>
                  </a:cubicBezTo>
                  <a:lnTo>
                    <a:pt x="41" y="1294"/>
                  </a:lnTo>
                  <a:cubicBezTo>
                    <a:pt x="47" y="1390"/>
                    <a:pt x="101" y="1446"/>
                    <a:pt x="173" y="1446"/>
                  </a:cubicBezTo>
                  <a:cubicBezTo>
                    <a:pt x="203" y="1446"/>
                    <a:pt x="236" y="1436"/>
                    <a:pt x="270" y="1416"/>
                  </a:cubicBezTo>
                  <a:lnTo>
                    <a:pt x="722" y="1158"/>
                  </a:lnTo>
                  <a:cubicBezTo>
                    <a:pt x="841" y="1087"/>
                    <a:pt x="932" y="920"/>
                    <a:pt x="923" y="784"/>
                  </a:cubicBezTo>
                  <a:lnTo>
                    <a:pt x="888" y="155"/>
                  </a:lnTo>
                  <a:cubicBezTo>
                    <a:pt x="884" y="56"/>
                    <a:pt x="831" y="0"/>
                    <a:pt x="758" y="0"/>
                  </a:cubicBezTo>
                  <a:close/>
                </a:path>
              </a:pathLst>
            </a:custGeom>
            <a:solidFill>
              <a:srgbClr val="27DE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1456;p25"/>
            <p:cNvSpPr/>
            <p:nvPr/>
          </p:nvSpPr>
          <p:spPr>
            <a:xfrm flipH="1">
              <a:off x="7478648" y="2174108"/>
              <a:ext cx="35552" cy="56123"/>
            </a:xfrm>
            <a:custGeom>
              <a:avLst/>
              <a:gdLst/>
              <a:ahLst/>
              <a:cxnLst/>
              <a:rect l="l" t="t" r="r" b="b"/>
              <a:pathLst>
                <a:path w="916" h="1446" extrusionOk="0">
                  <a:moveTo>
                    <a:pt x="752" y="0"/>
                  </a:moveTo>
                  <a:cubicBezTo>
                    <a:pt x="721" y="0"/>
                    <a:pt x="687" y="7"/>
                    <a:pt x="654" y="27"/>
                  </a:cubicBezTo>
                  <a:lnTo>
                    <a:pt x="202" y="289"/>
                  </a:lnTo>
                  <a:cubicBezTo>
                    <a:pt x="89" y="354"/>
                    <a:pt x="1" y="510"/>
                    <a:pt x="1" y="646"/>
                  </a:cubicBezTo>
                  <a:lnTo>
                    <a:pt x="1" y="660"/>
                  </a:lnTo>
                  <a:lnTo>
                    <a:pt x="34" y="1292"/>
                  </a:lnTo>
                  <a:cubicBezTo>
                    <a:pt x="42" y="1387"/>
                    <a:pt x="92" y="1445"/>
                    <a:pt x="167" y="1445"/>
                  </a:cubicBezTo>
                  <a:cubicBezTo>
                    <a:pt x="198" y="1445"/>
                    <a:pt x="229" y="1435"/>
                    <a:pt x="263" y="1414"/>
                  </a:cubicBezTo>
                  <a:lnTo>
                    <a:pt x="715" y="1156"/>
                  </a:lnTo>
                  <a:cubicBezTo>
                    <a:pt x="830" y="1088"/>
                    <a:pt x="916" y="932"/>
                    <a:pt x="916" y="799"/>
                  </a:cubicBezTo>
                  <a:lnTo>
                    <a:pt x="916" y="782"/>
                  </a:lnTo>
                  <a:lnTo>
                    <a:pt x="881" y="153"/>
                  </a:lnTo>
                  <a:cubicBezTo>
                    <a:pt x="878" y="55"/>
                    <a:pt x="823" y="0"/>
                    <a:pt x="75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1457;p25"/>
            <p:cNvSpPr/>
            <p:nvPr/>
          </p:nvSpPr>
          <p:spPr>
            <a:xfrm flipH="1">
              <a:off x="6981966" y="1889386"/>
              <a:ext cx="458220" cy="296101"/>
            </a:xfrm>
            <a:custGeom>
              <a:avLst/>
              <a:gdLst/>
              <a:ahLst/>
              <a:cxnLst/>
              <a:rect l="l" t="t" r="r" b="b"/>
              <a:pathLst>
                <a:path w="11806" h="7629" extrusionOk="0">
                  <a:moveTo>
                    <a:pt x="11575" y="0"/>
                  </a:moveTo>
                  <a:cubicBezTo>
                    <a:pt x="11531" y="0"/>
                    <a:pt x="11482" y="14"/>
                    <a:pt x="11431" y="43"/>
                  </a:cubicBezTo>
                  <a:lnTo>
                    <a:pt x="314" y="6459"/>
                  </a:lnTo>
                  <a:cubicBezTo>
                    <a:pt x="137" y="6561"/>
                    <a:pt x="1" y="6812"/>
                    <a:pt x="15" y="7016"/>
                  </a:cubicBezTo>
                  <a:lnTo>
                    <a:pt x="35" y="7401"/>
                  </a:lnTo>
                  <a:cubicBezTo>
                    <a:pt x="42" y="7545"/>
                    <a:pt x="121" y="7628"/>
                    <a:pt x="230" y="7628"/>
                  </a:cubicBezTo>
                  <a:cubicBezTo>
                    <a:pt x="276" y="7628"/>
                    <a:pt x="326" y="7614"/>
                    <a:pt x="379" y="7584"/>
                  </a:cubicBezTo>
                  <a:lnTo>
                    <a:pt x="11493" y="1173"/>
                  </a:lnTo>
                  <a:cubicBezTo>
                    <a:pt x="11669" y="1067"/>
                    <a:pt x="11805" y="818"/>
                    <a:pt x="11795" y="614"/>
                  </a:cubicBezTo>
                  <a:lnTo>
                    <a:pt x="11771" y="231"/>
                  </a:lnTo>
                  <a:cubicBezTo>
                    <a:pt x="11764" y="85"/>
                    <a:pt x="11684" y="0"/>
                    <a:pt x="115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1458;p25"/>
            <p:cNvSpPr/>
            <p:nvPr/>
          </p:nvSpPr>
          <p:spPr>
            <a:xfrm flipH="1">
              <a:off x="7473408" y="2284683"/>
              <a:ext cx="36329" cy="56045"/>
            </a:xfrm>
            <a:custGeom>
              <a:avLst/>
              <a:gdLst/>
              <a:ahLst/>
              <a:cxnLst/>
              <a:rect l="l" t="t" r="r" b="b"/>
              <a:pathLst>
                <a:path w="936" h="1444" extrusionOk="0">
                  <a:moveTo>
                    <a:pt x="760" y="0"/>
                  </a:moveTo>
                  <a:cubicBezTo>
                    <a:pt x="729" y="0"/>
                    <a:pt x="696" y="10"/>
                    <a:pt x="661" y="31"/>
                  </a:cubicBezTo>
                  <a:lnTo>
                    <a:pt x="209" y="293"/>
                  </a:lnTo>
                  <a:cubicBezTo>
                    <a:pt x="90" y="360"/>
                    <a:pt x="1" y="527"/>
                    <a:pt x="8" y="663"/>
                  </a:cubicBezTo>
                  <a:lnTo>
                    <a:pt x="42" y="1292"/>
                  </a:lnTo>
                  <a:cubicBezTo>
                    <a:pt x="47" y="1389"/>
                    <a:pt x="100" y="1444"/>
                    <a:pt x="172" y="1444"/>
                  </a:cubicBezTo>
                  <a:cubicBezTo>
                    <a:pt x="202" y="1444"/>
                    <a:pt x="235" y="1434"/>
                    <a:pt x="270" y="1415"/>
                  </a:cubicBezTo>
                  <a:lnTo>
                    <a:pt x="725" y="1153"/>
                  </a:lnTo>
                  <a:cubicBezTo>
                    <a:pt x="845" y="1085"/>
                    <a:pt x="936" y="918"/>
                    <a:pt x="926" y="782"/>
                  </a:cubicBezTo>
                  <a:lnTo>
                    <a:pt x="892" y="153"/>
                  </a:lnTo>
                  <a:cubicBezTo>
                    <a:pt x="885" y="57"/>
                    <a:pt x="832" y="0"/>
                    <a:pt x="760" y="0"/>
                  </a:cubicBezTo>
                  <a:close/>
                </a:path>
              </a:pathLst>
            </a:custGeom>
            <a:solidFill>
              <a:srgbClr val="27DE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1459;p25"/>
            <p:cNvSpPr/>
            <p:nvPr/>
          </p:nvSpPr>
          <p:spPr>
            <a:xfrm flipH="1">
              <a:off x="7473641" y="2284683"/>
              <a:ext cx="35785" cy="56084"/>
            </a:xfrm>
            <a:custGeom>
              <a:avLst/>
              <a:gdLst/>
              <a:ahLst/>
              <a:cxnLst/>
              <a:rect l="l" t="t" r="r" b="b"/>
              <a:pathLst>
                <a:path w="922" h="1445" extrusionOk="0">
                  <a:moveTo>
                    <a:pt x="752" y="1"/>
                  </a:moveTo>
                  <a:cubicBezTo>
                    <a:pt x="721" y="1"/>
                    <a:pt x="691" y="10"/>
                    <a:pt x="653" y="31"/>
                  </a:cubicBezTo>
                  <a:lnTo>
                    <a:pt x="201" y="293"/>
                  </a:lnTo>
                  <a:cubicBezTo>
                    <a:pt x="85" y="357"/>
                    <a:pt x="0" y="514"/>
                    <a:pt x="0" y="646"/>
                  </a:cubicBezTo>
                  <a:lnTo>
                    <a:pt x="0" y="663"/>
                  </a:lnTo>
                  <a:lnTo>
                    <a:pt x="34" y="1292"/>
                  </a:lnTo>
                  <a:cubicBezTo>
                    <a:pt x="41" y="1388"/>
                    <a:pt x="92" y="1445"/>
                    <a:pt x="167" y="1445"/>
                  </a:cubicBezTo>
                  <a:cubicBezTo>
                    <a:pt x="194" y="1445"/>
                    <a:pt x="228" y="1435"/>
                    <a:pt x="262" y="1415"/>
                  </a:cubicBezTo>
                  <a:lnTo>
                    <a:pt x="717" y="1153"/>
                  </a:lnTo>
                  <a:cubicBezTo>
                    <a:pt x="833" y="1088"/>
                    <a:pt x="921" y="932"/>
                    <a:pt x="918" y="796"/>
                  </a:cubicBezTo>
                  <a:lnTo>
                    <a:pt x="918" y="782"/>
                  </a:lnTo>
                  <a:lnTo>
                    <a:pt x="884" y="153"/>
                  </a:lnTo>
                  <a:cubicBezTo>
                    <a:pt x="877" y="54"/>
                    <a:pt x="823" y="1"/>
                    <a:pt x="75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1460;p25"/>
            <p:cNvSpPr/>
            <p:nvPr/>
          </p:nvSpPr>
          <p:spPr>
            <a:xfrm flipH="1">
              <a:off x="6977231" y="1999960"/>
              <a:ext cx="458065" cy="296062"/>
            </a:xfrm>
            <a:custGeom>
              <a:avLst/>
              <a:gdLst/>
              <a:ahLst/>
              <a:cxnLst/>
              <a:rect l="l" t="t" r="r" b="b"/>
              <a:pathLst>
                <a:path w="11802" h="7628" extrusionOk="0">
                  <a:moveTo>
                    <a:pt x="11570" y="0"/>
                  </a:moveTo>
                  <a:cubicBezTo>
                    <a:pt x="11525" y="0"/>
                    <a:pt x="11476" y="14"/>
                    <a:pt x="11424" y="44"/>
                  </a:cubicBezTo>
                  <a:lnTo>
                    <a:pt x="314" y="6459"/>
                  </a:lnTo>
                  <a:cubicBezTo>
                    <a:pt x="137" y="6561"/>
                    <a:pt x="0" y="6813"/>
                    <a:pt x="11" y="7017"/>
                  </a:cubicBezTo>
                  <a:lnTo>
                    <a:pt x="31" y="7398"/>
                  </a:lnTo>
                  <a:cubicBezTo>
                    <a:pt x="41" y="7543"/>
                    <a:pt x="121" y="7628"/>
                    <a:pt x="231" y="7628"/>
                  </a:cubicBezTo>
                  <a:cubicBezTo>
                    <a:pt x="275" y="7628"/>
                    <a:pt x="324" y="7614"/>
                    <a:pt x="375" y="7585"/>
                  </a:cubicBezTo>
                  <a:lnTo>
                    <a:pt x="11489" y="1172"/>
                  </a:lnTo>
                  <a:cubicBezTo>
                    <a:pt x="11665" y="1067"/>
                    <a:pt x="11802" y="819"/>
                    <a:pt x="11788" y="615"/>
                  </a:cubicBezTo>
                  <a:lnTo>
                    <a:pt x="11767" y="230"/>
                  </a:lnTo>
                  <a:cubicBezTo>
                    <a:pt x="11760" y="85"/>
                    <a:pt x="11680" y="0"/>
                    <a:pt x="115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1461;p25"/>
            <p:cNvSpPr/>
            <p:nvPr/>
          </p:nvSpPr>
          <p:spPr>
            <a:xfrm flipH="1">
              <a:off x="7608894" y="2356057"/>
              <a:ext cx="237144" cy="188396"/>
            </a:xfrm>
            <a:custGeom>
              <a:avLst/>
              <a:gdLst/>
              <a:ahLst/>
              <a:cxnLst/>
              <a:rect l="l" t="t" r="r" b="b"/>
              <a:pathLst>
                <a:path w="6110" h="4854" extrusionOk="0">
                  <a:moveTo>
                    <a:pt x="5850" y="1"/>
                  </a:moveTo>
                  <a:cubicBezTo>
                    <a:pt x="5806" y="1"/>
                    <a:pt x="5756" y="15"/>
                    <a:pt x="5705" y="45"/>
                  </a:cubicBezTo>
                  <a:lnTo>
                    <a:pt x="313" y="3163"/>
                  </a:lnTo>
                  <a:cubicBezTo>
                    <a:pt x="136" y="3268"/>
                    <a:pt x="1" y="3516"/>
                    <a:pt x="14" y="3720"/>
                  </a:cubicBezTo>
                  <a:lnTo>
                    <a:pt x="65" y="4624"/>
                  </a:lnTo>
                  <a:cubicBezTo>
                    <a:pt x="74" y="4768"/>
                    <a:pt x="154" y="4853"/>
                    <a:pt x="262" y="4853"/>
                  </a:cubicBezTo>
                  <a:cubicBezTo>
                    <a:pt x="307" y="4853"/>
                    <a:pt x="357" y="4839"/>
                    <a:pt x="408" y="4807"/>
                  </a:cubicBezTo>
                  <a:lnTo>
                    <a:pt x="5800" y="1691"/>
                  </a:lnTo>
                  <a:cubicBezTo>
                    <a:pt x="5977" y="1589"/>
                    <a:pt x="6110" y="1336"/>
                    <a:pt x="6100" y="1132"/>
                  </a:cubicBezTo>
                  <a:lnTo>
                    <a:pt x="6048" y="232"/>
                  </a:lnTo>
                  <a:cubicBezTo>
                    <a:pt x="6039" y="85"/>
                    <a:pt x="5959" y="1"/>
                    <a:pt x="58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1462;p25"/>
            <p:cNvSpPr/>
            <p:nvPr/>
          </p:nvSpPr>
          <p:spPr>
            <a:xfrm flipH="1">
              <a:off x="7555448" y="2582640"/>
              <a:ext cx="334137" cy="224569"/>
            </a:xfrm>
            <a:custGeom>
              <a:avLst/>
              <a:gdLst/>
              <a:ahLst/>
              <a:cxnLst/>
              <a:rect l="l" t="t" r="r" b="b"/>
              <a:pathLst>
                <a:path w="8609" h="5786" extrusionOk="0">
                  <a:moveTo>
                    <a:pt x="8375" y="1"/>
                  </a:moveTo>
                  <a:cubicBezTo>
                    <a:pt x="8331" y="1"/>
                    <a:pt x="8282" y="15"/>
                    <a:pt x="8231" y="44"/>
                  </a:cubicBezTo>
                  <a:lnTo>
                    <a:pt x="313" y="4617"/>
                  </a:lnTo>
                  <a:cubicBezTo>
                    <a:pt x="136" y="4719"/>
                    <a:pt x="1" y="4971"/>
                    <a:pt x="14" y="5175"/>
                  </a:cubicBezTo>
                  <a:lnTo>
                    <a:pt x="34" y="5558"/>
                  </a:lnTo>
                  <a:cubicBezTo>
                    <a:pt x="44" y="5703"/>
                    <a:pt x="123" y="5786"/>
                    <a:pt x="232" y="5786"/>
                  </a:cubicBezTo>
                  <a:cubicBezTo>
                    <a:pt x="276" y="5786"/>
                    <a:pt x="326" y="5772"/>
                    <a:pt x="378" y="5742"/>
                  </a:cubicBezTo>
                  <a:lnTo>
                    <a:pt x="8296" y="1173"/>
                  </a:lnTo>
                  <a:cubicBezTo>
                    <a:pt x="8473" y="1067"/>
                    <a:pt x="8609" y="819"/>
                    <a:pt x="8595" y="615"/>
                  </a:cubicBezTo>
                  <a:lnTo>
                    <a:pt x="8575" y="231"/>
                  </a:lnTo>
                  <a:cubicBezTo>
                    <a:pt x="8565" y="86"/>
                    <a:pt x="8485" y="1"/>
                    <a:pt x="83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1463;p25"/>
            <p:cNvSpPr/>
            <p:nvPr/>
          </p:nvSpPr>
          <p:spPr>
            <a:xfrm flipH="1">
              <a:off x="7548733" y="2699153"/>
              <a:ext cx="334137" cy="224569"/>
            </a:xfrm>
            <a:custGeom>
              <a:avLst/>
              <a:gdLst/>
              <a:ahLst/>
              <a:cxnLst/>
              <a:rect l="l" t="t" r="r" b="b"/>
              <a:pathLst>
                <a:path w="8609" h="5786" extrusionOk="0">
                  <a:moveTo>
                    <a:pt x="8378" y="0"/>
                  </a:moveTo>
                  <a:cubicBezTo>
                    <a:pt x="8333" y="0"/>
                    <a:pt x="8283" y="14"/>
                    <a:pt x="8232" y="44"/>
                  </a:cubicBezTo>
                  <a:lnTo>
                    <a:pt x="313" y="4621"/>
                  </a:lnTo>
                  <a:cubicBezTo>
                    <a:pt x="137" y="4723"/>
                    <a:pt x="1" y="4971"/>
                    <a:pt x="14" y="5178"/>
                  </a:cubicBezTo>
                  <a:lnTo>
                    <a:pt x="35" y="5555"/>
                  </a:lnTo>
                  <a:cubicBezTo>
                    <a:pt x="44" y="5700"/>
                    <a:pt x="125" y="5786"/>
                    <a:pt x="235" y="5786"/>
                  </a:cubicBezTo>
                  <a:cubicBezTo>
                    <a:pt x="279" y="5786"/>
                    <a:pt x="328" y="5772"/>
                    <a:pt x="378" y="5743"/>
                  </a:cubicBezTo>
                  <a:lnTo>
                    <a:pt x="8296" y="1169"/>
                  </a:lnTo>
                  <a:cubicBezTo>
                    <a:pt x="8477" y="1067"/>
                    <a:pt x="8609" y="816"/>
                    <a:pt x="8599" y="612"/>
                  </a:cubicBezTo>
                  <a:lnTo>
                    <a:pt x="8575" y="228"/>
                  </a:lnTo>
                  <a:cubicBezTo>
                    <a:pt x="8568" y="83"/>
                    <a:pt x="8487" y="0"/>
                    <a:pt x="83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1464;p25"/>
            <p:cNvSpPr/>
            <p:nvPr/>
          </p:nvSpPr>
          <p:spPr>
            <a:xfrm flipH="1">
              <a:off x="7541980" y="2815549"/>
              <a:ext cx="334020" cy="224608"/>
            </a:xfrm>
            <a:custGeom>
              <a:avLst/>
              <a:gdLst/>
              <a:ahLst/>
              <a:cxnLst/>
              <a:rect l="l" t="t" r="r" b="b"/>
              <a:pathLst>
                <a:path w="8606" h="5787" extrusionOk="0">
                  <a:moveTo>
                    <a:pt x="8374" y="0"/>
                  </a:moveTo>
                  <a:cubicBezTo>
                    <a:pt x="8329" y="0"/>
                    <a:pt x="8280" y="14"/>
                    <a:pt x="8228" y="44"/>
                  </a:cubicBezTo>
                  <a:lnTo>
                    <a:pt x="313" y="4624"/>
                  </a:lnTo>
                  <a:cubicBezTo>
                    <a:pt x="133" y="4729"/>
                    <a:pt x="1" y="4977"/>
                    <a:pt x="10" y="5184"/>
                  </a:cubicBezTo>
                  <a:lnTo>
                    <a:pt x="31" y="5559"/>
                  </a:lnTo>
                  <a:cubicBezTo>
                    <a:pt x="41" y="5703"/>
                    <a:pt x="120" y="5786"/>
                    <a:pt x="229" y="5786"/>
                  </a:cubicBezTo>
                  <a:cubicBezTo>
                    <a:pt x="275" y="5786"/>
                    <a:pt x="325" y="5772"/>
                    <a:pt x="378" y="5742"/>
                  </a:cubicBezTo>
                  <a:lnTo>
                    <a:pt x="8292" y="1173"/>
                  </a:lnTo>
                  <a:cubicBezTo>
                    <a:pt x="8473" y="1067"/>
                    <a:pt x="8606" y="819"/>
                    <a:pt x="8595" y="615"/>
                  </a:cubicBezTo>
                  <a:lnTo>
                    <a:pt x="8571" y="230"/>
                  </a:lnTo>
                  <a:cubicBezTo>
                    <a:pt x="8564" y="85"/>
                    <a:pt x="8484" y="0"/>
                    <a:pt x="83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1465;p25"/>
            <p:cNvSpPr/>
            <p:nvPr/>
          </p:nvSpPr>
          <p:spPr>
            <a:xfrm flipH="1">
              <a:off x="7535149" y="2932023"/>
              <a:ext cx="334137" cy="224608"/>
            </a:xfrm>
            <a:custGeom>
              <a:avLst/>
              <a:gdLst/>
              <a:ahLst/>
              <a:cxnLst/>
              <a:rect l="l" t="t" r="r" b="b"/>
              <a:pathLst>
                <a:path w="8609" h="5787" extrusionOk="0">
                  <a:moveTo>
                    <a:pt x="8378" y="1"/>
                  </a:moveTo>
                  <a:cubicBezTo>
                    <a:pt x="8333" y="1"/>
                    <a:pt x="8283" y="15"/>
                    <a:pt x="8232" y="45"/>
                  </a:cubicBezTo>
                  <a:lnTo>
                    <a:pt x="314" y="4628"/>
                  </a:lnTo>
                  <a:cubicBezTo>
                    <a:pt x="137" y="4730"/>
                    <a:pt x="1" y="4981"/>
                    <a:pt x="11" y="5185"/>
                  </a:cubicBezTo>
                  <a:lnTo>
                    <a:pt x="35" y="5556"/>
                  </a:lnTo>
                  <a:cubicBezTo>
                    <a:pt x="42" y="5702"/>
                    <a:pt x="122" y="5786"/>
                    <a:pt x="232" y="5786"/>
                  </a:cubicBezTo>
                  <a:cubicBezTo>
                    <a:pt x="277" y="5786"/>
                    <a:pt x="326" y="5773"/>
                    <a:pt x="378" y="5743"/>
                  </a:cubicBezTo>
                  <a:lnTo>
                    <a:pt x="8296" y="1171"/>
                  </a:lnTo>
                  <a:cubicBezTo>
                    <a:pt x="8473" y="1069"/>
                    <a:pt x="8609" y="816"/>
                    <a:pt x="8596" y="612"/>
                  </a:cubicBezTo>
                  <a:lnTo>
                    <a:pt x="8575" y="228"/>
                  </a:lnTo>
                  <a:cubicBezTo>
                    <a:pt x="8566" y="84"/>
                    <a:pt x="8486" y="1"/>
                    <a:pt x="83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1466;p25"/>
            <p:cNvSpPr/>
            <p:nvPr/>
          </p:nvSpPr>
          <p:spPr>
            <a:xfrm flipH="1">
              <a:off x="7380492" y="2557179"/>
              <a:ext cx="83680" cy="290395"/>
            </a:xfrm>
            <a:custGeom>
              <a:avLst/>
              <a:gdLst/>
              <a:ahLst/>
              <a:cxnLst/>
              <a:rect l="l" t="t" r="r" b="b"/>
              <a:pathLst>
                <a:path w="2156" h="7482" extrusionOk="0">
                  <a:moveTo>
                    <a:pt x="1596" y="0"/>
                  </a:moveTo>
                  <a:cubicBezTo>
                    <a:pt x="1551" y="0"/>
                    <a:pt x="1501" y="14"/>
                    <a:pt x="1449" y="44"/>
                  </a:cubicBezTo>
                  <a:lnTo>
                    <a:pt x="313" y="700"/>
                  </a:lnTo>
                  <a:cubicBezTo>
                    <a:pt x="132" y="805"/>
                    <a:pt x="0" y="1053"/>
                    <a:pt x="10" y="1257"/>
                  </a:cubicBezTo>
                  <a:lnTo>
                    <a:pt x="364" y="7251"/>
                  </a:lnTo>
                  <a:cubicBezTo>
                    <a:pt x="371" y="7397"/>
                    <a:pt x="451" y="7481"/>
                    <a:pt x="561" y="7481"/>
                  </a:cubicBezTo>
                  <a:cubicBezTo>
                    <a:pt x="606" y="7481"/>
                    <a:pt x="656" y="7468"/>
                    <a:pt x="708" y="7438"/>
                  </a:cubicBezTo>
                  <a:lnTo>
                    <a:pt x="1846" y="6779"/>
                  </a:lnTo>
                  <a:cubicBezTo>
                    <a:pt x="2023" y="6677"/>
                    <a:pt x="2156" y="6429"/>
                    <a:pt x="2145" y="6222"/>
                  </a:cubicBezTo>
                  <a:lnTo>
                    <a:pt x="1795" y="231"/>
                  </a:lnTo>
                  <a:cubicBezTo>
                    <a:pt x="1786" y="84"/>
                    <a:pt x="1706" y="0"/>
                    <a:pt x="159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1467;p25"/>
            <p:cNvSpPr/>
            <p:nvPr/>
          </p:nvSpPr>
          <p:spPr>
            <a:xfrm flipH="1">
              <a:off x="7376534" y="2861851"/>
              <a:ext cx="69979" cy="51737"/>
            </a:xfrm>
            <a:custGeom>
              <a:avLst/>
              <a:gdLst/>
              <a:ahLst/>
              <a:cxnLst/>
              <a:rect l="l" t="t" r="r" b="b"/>
              <a:pathLst>
                <a:path w="1803" h="1333" extrusionOk="0">
                  <a:moveTo>
                    <a:pt x="1636" y="0"/>
                  </a:moveTo>
                  <a:cubicBezTo>
                    <a:pt x="1583" y="0"/>
                    <a:pt x="1521" y="19"/>
                    <a:pt x="1456" y="57"/>
                  </a:cubicBezTo>
                  <a:lnTo>
                    <a:pt x="317" y="714"/>
                  </a:lnTo>
                  <a:cubicBezTo>
                    <a:pt x="140" y="816"/>
                    <a:pt x="1" y="1027"/>
                    <a:pt x="11" y="1179"/>
                  </a:cubicBezTo>
                  <a:cubicBezTo>
                    <a:pt x="15" y="1278"/>
                    <a:pt x="78" y="1332"/>
                    <a:pt x="168" y="1332"/>
                  </a:cubicBezTo>
                  <a:cubicBezTo>
                    <a:pt x="220" y="1332"/>
                    <a:pt x="282" y="1314"/>
                    <a:pt x="347" y="1275"/>
                  </a:cubicBezTo>
                  <a:lnTo>
                    <a:pt x="1486" y="619"/>
                  </a:lnTo>
                  <a:cubicBezTo>
                    <a:pt x="1667" y="517"/>
                    <a:pt x="1803" y="306"/>
                    <a:pt x="1792" y="153"/>
                  </a:cubicBezTo>
                  <a:cubicBezTo>
                    <a:pt x="1788" y="54"/>
                    <a:pt x="1726" y="0"/>
                    <a:pt x="16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1468;p25"/>
            <p:cNvSpPr/>
            <p:nvPr/>
          </p:nvSpPr>
          <p:spPr>
            <a:xfrm flipH="1">
              <a:off x="7229555" y="2580505"/>
              <a:ext cx="77315" cy="179741"/>
            </a:xfrm>
            <a:custGeom>
              <a:avLst/>
              <a:gdLst/>
              <a:ahLst/>
              <a:cxnLst/>
              <a:rect l="l" t="t" r="r" b="b"/>
              <a:pathLst>
                <a:path w="1992" h="4631" extrusionOk="0">
                  <a:moveTo>
                    <a:pt x="1597" y="1"/>
                  </a:moveTo>
                  <a:cubicBezTo>
                    <a:pt x="1553" y="1"/>
                    <a:pt x="1503" y="15"/>
                    <a:pt x="1452" y="44"/>
                  </a:cubicBezTo>
                  <a:lnTo>
                    <a:pt x="313" y="701"/>
                  </a:lnTo>
                  <a:cubicBezTo>
                    <a:pt x="136" y="807"/>
                    <a:pt x="0" y="1055"/>
                    <a:pt x="13" y="1259"/>
                  </a:cubicBezTo>
                  <a:lnTo>
                    <a:pt x="197" y="4403"/>
                  </a:lnTo>
                  <a:cubicBezTo>
                    <a:pt x="204" y="4548"/>
                    <a:pt x="285" y="4631"/>
                    <a:pt x="394" y="4631"/>
                  </a:cubicBezTo>
                  <a:cubicBezTo>
                    <a:pt x="439" y="4631"/>
                    <a:pt x="489" y="4617"/>
                    <a:pt x="540" y="4587"/>
                  </a:cubicBezTo>
                  <a:lnTo>
                    <a:pt x="1679" y="3931"/>
                  </a:lnTo>
                  <a:cubicBezTo>
                    <a:pt x="1856" y="3829"/>
                    <a:pt x="1992" y="3578"/>
                    <a:pt x="1979" y="3374"/>
                  </a:cubicBezTo>
                  <a:lnTo>
                    <a:pt x="1795" y="232"/>
                  </a:lnTo>
                  <a:cubicBezTo>
                    <a:pt x="1788" y="85"/>
                    <a:pt x="1707" y="1"/>
                    <a:pt x="1597" y="1"/>
                  </a:cubicBezTo>
                  <a:close/>
                </a:path>
              </a:pathLst>
            </a:custGeom>
            <a:solidFill>
              <a:srgbClr val="27DE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1469;p25"/>
            <p:cNvSpPr/>
            <p:nvPr/>
          </p:nvSpPr>
          <p:spPr>
            <a:xfrm flipH="1">
              <a:off x="7230060" y="2580505"/>
              <a:ext cx="76305" cy="179741"/>
            </a:xfrm>
            <a:custGeom>
              <a:avLst/>
              <a:gdLst/>
              <a:ahLst/>
              <a:cxnLst/>
              <a:rect l="l" t="t" r="r" b="b"/>
              <a:pathLst>
                <a:path w="1966" h="4631" extrusionOk="0">
                  <a:moveTo>
                    <a:pt x="1585" y="0"/>
                  </a:moveTo>
                  <a:cubicBezTo>
                    <a:pt x="1541" y="0"/>
                    <a:pt x="1489" y="14"/>
                    <a:pt x="1439" y="44"/>
                  </a:cubicBezTo>
                  <a:lnTo>
                    <a:pt x="300" y="701"/>
                  </a:lnTo>
                  <a:cubicBezTo>
                    <a:pt x="130" y="799"/>
                    <a:pt x="0" y="1034"/>
                    <a:pt x="0" y="1235"/>
                  </a:cubicBezTo>
                  <a:lnTo>
                    <a:pt x="0" y="1259"/>
                  </a:lnTo>
                  <a:lnTo>
                    <a:pt x="184" y="4403"/>
                  </a:lnTo>
                  <a:cubicBezTo>
                    <a:pt x="191" y="4549"/>
                    <a:pt x="273" y="4631"/>
                    <a:pt x="381" y="4631"/>
                  </a:cubicBezTo>
                  <a:cubicBezTo>
                    <a:pt x="425" y="4631"/>
                    <a:pt x="477" y="4618"/>
                    <a:pt x="527" y="4587"/>
                  </a:cubicBezTo>
                  <a:lnTo>
                    <a:pt x="1666" y="3931"/>
                  </a:lnTo>
                  <a:cubicBezTo>
                    <a:pt x="1836" y="3832"/>
                    <a:pt x="1966" y="3601"/>
                    <a:pt x="1966" y="3400"/>
                  </a:cubicBezTo>
                  <a:lnTo>
                    <a:pt x="1966" y="3374"/>
                  </a:lnTo>
                  <a:lnTo>
                    <a:pt x="1782" y="232"/>
                  </a:lnTo>
                  <a:cubicBezTo>
                    <a:pt x="1775" y="85"/>
                    <a:pt x="1693" y="0"/>
                    <a:pt x="158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1470;p25"/>
            <p:cNvSpPr/>
            <p:nvPr/>
          </p:nvSpPr>
          <p:spPr>
            <a:xfrm flipH="1">
              <a:off x="7225713" y="2774564"/>
              <a:ext cx="69979" cy="51737"/>
            </a:xfrm>
            <a:custGeom>
              <a:avLst/>
              <a:gdLst/>
              <a:ahLst/>
              <a:cxnLst/>
              <a:rect l="l" t="t" r="r" b="b"/>
              <a:pathLst>
                <a:path w="1803" h="1333" extrusionOk="0">
                  <a:moveTo>
                    <a:pt x="1634" y="1"/>
                  </a:moveTo>
                  <a:cubicBezTo>
                    <a:pt x="1582" y="1"/>
                    <a:pt x="1521" y="19"/>
                    <a:pt x="1456" y="56"/>
                  </a:cubicBezTo>
                  <a:lnTo>
                    <a:pt x="317" y="712"/>
                  </a:lnTo>
                  <a:cubicBezTo>
                    <a:pt x="140" y="817"/>
                    <a:pt x="1" y="1025"/>
                    <a:pt x="11" y="1181"/>
                  </a:cubicBezTo>
                  <a:cubicBezTo>
                    <a:pt x="17" y="1280"/>
                    <a:pt x="79" y="1333"/>
                    <a:pt x="169" y="1333"/>
                  </a:cubicBezTo>
                  <a:cubicBezTo>
                    <a:pt x="222" y="1333"/>
                    <a:pt x="284" y="1314"/>
                    <a:pt x="351" y="1277"/>
                  </a:cubicBezTo>
                  <a:lnTo>
                    <a:pt x="1487" y="621"/>
                  </a:lnTo>
                  <a:cubicBezTo>
                    <a:pt x="1666" y="519"/>
                    <a:pt x="1803" y="307"/>
                    <a:pt x="1793" y="151"/>
                  </a:cubicBezTo>
                  <a:cubicBezTo>
                    <a:pt x="1788" y="54"/>
                    <a:pt x="1725" y="1"/>
                    <a:pt x="16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1471;p25"/>
            <p:cNvSpPr/>
            <p:nvPr/>
          </p:nvSpPr>
          <p:spPr>
            <a:xfrm flipH="1">
              <a:off x="7078695" y="2315810"/>
              <a:ext cx="87018" cy="357230"/>
            </a:xfrm>
            <a:custGeom>
              <a:avLst/>
              <a:gdLst/>
              <a:ahLst/>
              <a:cxnLst/>
              <a:rect l="l" t="t" r="r" b="b"/>
              <a:pathLst>
                <a:path w="2242" h="9204" extrusionOk="0">
                  <a:moveTo>
                    <a:pt x="1597" y="1"/>
                  </a:moveTo>
                  <a:cubicBezTo>
                    <a:pt x="1552" y="1"/>
                    <a:pt x="1501" y="15"/>
                    <a:pt x="1449" y="45"/>
                  </a:cubicBezTo>
                  <a:lnTo>
                    <a:pt x="313" y="701"/>
                  </a:lnTo>
                  <a:cubicBezTo>
                    <a:pt x="133" y="806"/>
                    <a:pt x="1" y="1055"/>
                    <a:pt x="10" y="1259"/>
                  </a:cubicBezTo>
                  <a:lnTo>
                    <a:pt x="446" y="8973"/>
                  </a:lnTo>
                  <a:cubicBezTo>
                    <a:pt x="455" y="9120"/>
                    <a:pt x="535" y="9204"/>
                    <a:pt x="644" y="9204"/>
                  </a:cubicBezTo>
                  <a:cubicBezTo>
                    <a:pt x="689" y="9204"/>
                    <a:pt x="738" y="9189"/>
                    <a:pt x="790" y="9160"/>
                  </a:cubicBezTo>
                  <a:lnTo>
                    <a:pt x="1928" y="8504"/>
                  </a:lnTo>
                  <a:cubicBezTo>
                    <a:pt x="2105" y="8398"/>
                    <a:pt x="2241" y="8150"/>
                    <a:pt x="2231" y="7946"/>
                  </a:cubicBezTo>
                  <a:lnTo>
                    <a:pt x="1792" y="232"/>
                  </a:lnTo>
                  <a:cubicBezTo>
                    <a:pt x="1785" y="85"/>
                    <a:pt x="1706" y="1"/>
                    <a:pt x="1597" y="1"/>
                  </a:cubicBezTo>
                  <a:close/>
                </a:path>
              </a:pathLst>
            </a:custGeom>
            <a:solidFill>
              <a:srgbClr val="27DE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1472;p25"/>
            <p:cNvSpPr/>
            <p:nvPr/>
          </p:nvSpPr>
          <p:spPr>
            <a:xfrm flipH="1">
              <a:off x="7079122" y="2315810"/>
              <a:ext cx="86203" cy="357230"/>
            </a:xfrm>
            <a:custGeom>
              <a:avLst/>
              <a:gdLst/>
              <a:ahLst/>
              <a:cxnLst/>
              <a:rect l="l" t="t" r="r" b="b"/>
              <a:pathLst>
                <a:path w="2221" h="9204" extrusionOk="0">
                  <a:moveTo>
                    <a:pt x="1588" y="1"/>
                  </a:moveTo>
                  <a:cubicBezTo>
                    <a:pt x="1541" y="1"/>
                    <a:pt x="1494" y="14"/>
                    <a:pt x="1439" y="45"/>
                  </a:cubicBezTo>
                  <a:lnTo>
                    <a:pt x="303" y="701"/>
                  </a:lnTo>
                  <a:cubicBezTo>
                    <a:pt x="130" y="799"/>
                    <a:pt x="0" y="1034"/>
                    <a:pt x="0" y="1234"/>
                  </a:cubicBezTo>
                  <a:lnTo>
                    <a:pt x="0" y="1259"/>
                  </a:lnTo>
                  <a:lnTo>
                    <a:pt x="436" y="8973"/>
                  </a:lnTo>
                  <a:cubicBezTo>
                    <a:pt x="446" y="9119"/>
                    <a:pt x="524" y="9204"/>
                    <a:pt x="633" y="9204"/>
                  </a:cubicBezTo>
                  <a:cubicBezTo>
                    <a:pt x="678" y="9204"/>
                    <a:pt x="728" y="9190"/>
                    <a:pt x="780" y="9160"/>
                  </a:cubicBezTo>
                  <a:lnTo>
                    <a:pt x="1918" y="8504"/>
                  </a:lnTo>
                  <a:cubicBezTo>
                    <a:pt x="2088" y="8405"/>
                    <a:pt x="2221" y="8170"/>
                    <a:pt x="2221" y="7970"/>
                  </a:cubicBezTo>
                  <a:lnTo>
                    <a:pt x="2221" y="7946"/>
                  </a:lnTo>
                  <a:lnTo>
                    <a:pt x="1782" y="232"/>
                  </a:lnTo>
                  <a:cubicBezTo>
                    <a:pt x="1775" y="85"/>
                    <a:pt x="1698" y="1"/>
                    <a:pt x="158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473;p25"/>
            <p:cNvSpPr/>
            <p:nvPr/>
          </p:nvSpPr>
          <p:spPr>
            <a:xfrm flipH="1">
              <a:off x="7074892" y="2687315"/>
              <a:ext cx="69863" cy="51737"/>
            </a:xfrm>
            <a:custGeom>
              <a:avLst/>
              <a:gdLst/>
              <a:ahLst/>
              <a:cxnLst/>
              <a:rect l="l" t="t" r="r" b="b"/>
              <a:pathLst>
                <a:path w="1800" h="1333" extrusionOk="0">
                  <a:moveTo>
                    <a:pt x="1633" y="1"/>
                  </a:moveTo>
                  <a:cubicBezTo>
                    <a:pt x="1580" y="1"/>
                    <a:pt x="1518" y="19"/>
                    <a:pt x="1453" y="57"/>
                  </a:cubicBezTo>
                  <a:lnTo>
                    <a:pt x="314" y="713"/>
                  </a:lnTo>
                  <a:cubicBezTo>
                    <a:pt x="137" y="815"/>
                    <a:pt x="1" y="1025"/>
                    <a:pt x="8" y="1182"/>
                  </a:cubicBezTo>
                  <a:cubicBezTo>
                    <a:pt x="14" y="1279"/>
                    <a:pt x="77" y="1333"/>
                    <a:pt x="168" y="1333"/>
                  </a:cubicBezTo>
                  <a:cubicBezTo>
                    <a:pt x="220" y="1333"/>
                    <a:pt x="282" y="1315"/>
                    <a:pt x="348" y="1278"/>
                  </a:cubicBezTo>
                  <a:lnTo>
                    <a:pt x="1487" y="617"/>
                  </a:lnTo>
                  <a:cubicBezTo>
                    <a:pt x="1664" y="515"/>
                    <a:pt x="1800" y="308"/>
                    <a:pt x="1793" y="152"/>
                  </a:cubicBezTo>
                  <a:cubicBezTo>
                    <a:pt x="1786" y="54"/>
                    <a:pt x="1723" y="1"/>
                    <a:pt x="16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474;p25"/>
            <p:cNvSpPr/>
            <p:nvPr/>
          </p:nvSpPr>
          <p:spPr>
            <a:xfrm flipH="1">
              <a:off x="6927913" y="2360754"/>
              <a:ext cx="79333" cy="225035"/>
            </a:xfrm>
            <a:custGeom>
              <a:avLst/>
              <a:gdLst/>
              <a:ahLst/>
              <a:cxnLst/>
              <a:rect l="l" t="t" r="r" b="b"/>
              <a:pathLst>
                <a:path w="2044" h="5798" extrusionOk="0">
                  <a:moveTo>
                    <a:pt x="1601" y="1"/>
                  </a:moveTo>
                  <a:cubicBezTo>
                    <a:pt x="1555" y="1"/>
                    <a:pt x="1505" y="15"/>
                    <a:pt x="1452" y="46"/>
                  </a:cubicBezTo>
                  <a:lnTo>
                    <a:pt x="317" y="702"/>
                  </a:lnTo>
                  <a:cubicBezTo>
                    <a:pt x="137" y="804"/>
                    <a:pt x="1" y="1055"/>
                    <a:pt x="14" y="1259"/>
                  </a:cubicBezTo>
                  <a:lnTo>
                    <a:pt x="252" y="5568"/>
                  </a:lnTo>
                  <a:cubicBezTo>
                    <a:pt x="259" y="5713"/>
                    <a:pt x="339" y="5798"/>
                    <a:pt x="448" y="5798"/>
                  </a:cubicBezTo>
                  <a:cubicBezTo>
                    <a:pt x="492" y="5798"/>
                    <a:pt x="541" y="5784"/>
                    <a:pt x="592" y="5755"/>
                  </a:cubicBezTo>
                  <a:lnTo>
                    <a:pt x="1731" y="5094"/>
                  </a:lnTo>
                  <a:cubicBezTo>
                    <a:pt x="1912" y="4992"/>
                    <a:pt x="2044" y="4744"/>
                    <a:pt x="2034" y="4537"/>
                  </a:cubicBezTo>
                  <a:lnTo>
                    <a:pt x="1796" y="230"/>
                  </a:lnTo>
                  <a:cubicBezTo>
                    <a:pt x="1789" y="85"/>
                    <a:pt x="1710" y="1"/>
                    <a:pt x="1601" y="1"/>
                  </a:cubicBezTo>
                  <a:close/>
                </a:path>
              </a:pathLst>
            </a:custGeom>
            <a:solidFill>
              <a:srgbClr val="27DE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475;p25"/>
            <p:cNvSpPr/>
            <p:nvPr/>
          </p:nvSpPr>
          <p:spPr>
            <a:xfrm flipH="1">
              <a:off x="6928301" y="2360831"/>
              <a:ext cx="78401" cy="224996"/>
            </a:xfrm>
            <a:custGeom>
              <a:avLst/>
              <a:gdLst/>
              <a:ahLst/>
              <a:cxnLst/>
              <a:rect l="l" t="t" r="r" b="b"/>
              <a:pathLst>
                <a:path w="2020" h="5797" extrusionOk="0">
                  <a:moveTo>
                    <a:pt x="1584" y="0"/>
                  </a:moveTo>
                  <a:cubicBezTo>
                    <a:pt x="1540" y="0"/>
                    <a:pt x="1493" y="13"/>
                    <a:pt x="1438" y="44"/>
                  </a:cubicBezTo>
                  <a:lnTo>
                    <a:pt x="303" y="700"/>
                  </a:lnTo>
                  <a:cubicBezTo>
                    <a:pt x="129" y="799"/>
                    <a:pt x="0" y="1033"/>
                    <a:pt x="0" y="1234"/>
                  </a:cubicBezTo>
                  <a:lnTo>
                    <a:pt x="0" y="1257"/>
                  </a:lnTo>
                  <a:lnTo>
                    <a:pt x="238" y="5566"/>
                  </a:lnTo>
                  <a:cubicBezTo>
                    <a:pt x="245" y="5712"/>
                    <a:pt x="324" y="5797"/>
                    <a:pt x="432" y="5797"/>
                  </a:cubicBezTo>
                  <a:cubicBezTo>
                    <a:pt x="479" y="5797"/>
                    <a:pt x="528" y="5779"/>
                    <a:pt x="578" y="5753"/>
                  </a:cubicBezTo>
                  <a:lnTo>
                    <a:pt x="1717" y="5092"/>
                  </a:lnTo>
                  <a:cubicBezTo>
                    <a:pt x="1890" y="4995"/>
                    <a:pt x="2020" y="4760"/>
                    <a:pt x="2020" y="4559"/>
                  </a:cubicBezTo>
                  <a:lnTo>
                    <a:pt x="2020" y="4535"/>
                  </a:lnTo>
                  <a:lnTo>
                    <a:pt x="1782" y="228"/>
                  </a:lnTo>
                  <a:cubicBezTo>
                    <a:pt x="1775" y="82"/>
                    <a:pt x="1694" y="0"/>
                    <a:pt x="158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476;p25"/>
            <p:cNvSpPr/>
            <p:nvPr/>
          </p:nvSpPr>
          <p:spPr>
            <a:xfrm flipH="1">
              <a:off x="6923954" y="2600028"/>
              <a:ext cx="69940" cy="51776"/>
            </a:xfrm>
            <a:custGeom>
              <a:avLst/>
              <a:gdLst/>
              <a:ahLst/>
              <a:cxnLst/>
              <a:rect l="l" t="t" r="r" b="b"/>
              <a:pathLst>
                <a:path w="1802" h="1334" extrusionOk="0">
                  <a:moveTo>
                    <a:pt x="1631" y="0"/>
                  </a:moveTo>
                  <a:cubicBezTo>
                    <a:pt x="1579" y="0"/>
                    <a:pt x="1517" y="18"/>
                    <a:pt x="1452" y="55"/>
                  </a:cubicBezTo>
                  <a:lnTo>
                    <a:pt x="313" y="715"/>
                  </a:lnTo>
                  <a:cubicBezTo>
                    <a:pt x="136" y="817"/>
                    <a:pt x="0" y="1027"/>
                    <a:pt x="7" y="1181"/>
                  </a:cubicBezTo>
                  <a:cubicBezTo>
                    <a:pt x="13" y="1279"/>
                    <a:pt x="76" y="1333"/>
                    <a:pt x="167" y="1333"/>
                  </a:cubicBezTo>
                  <a:cubicBezTo>
                    <a:pt x="219" y="1333"/>
                    <a:pt x="282" y="1315"/>
                    <a:pt x="347" y="1275"/>
                  </a:cubicBezTo>
                  <a:lnTo>
                    <a:pt x="1486" y="619"/>
                  </a:lnTo>
                  <a:cubicBezTo>
                    <a:pt x="1662" y="517"/>
                    <a:pt x="1802" y="307"/>
                    <a:pt x="1792" y="153"/>
                  </a:cubicBezTo>
                  <a:cubicBezTo>
                    <a:pt x="1785" y="54"/>
                    <a:pt x="1723" y="0"/>
                    <a:pt x="16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477;p25"/>
            <p:cNvSpPr/>
            <p:nvPr/>
          </p:nvSpPr>
          <p:spPr>
            <a:xfrm flipH="1">
              <a:off x="5675929" y="2780424"/>
              <a:ext cx="223288" cy="241336"/>
            </a:xfrm>
            <a:custGeom>
              <a:avLst/>
              <a:gdLst/>
              <a:ahLst/>
              <a:cxnLst/>
              <a:rect l="l" t="t" r="r" b="b"/>
              <a:pathLst>
                <a:path w="5753" h="6218" extrusionOk="0">
                  <a:moveTo>
                    <a:pt x="1934" y="0"/>
                  </a:moveTo>
                  <a:lnTo>
                    <a:pt x="0" y="1140"/>
                  </a:lnTo>
                  <a:cubicBezTo>
                    <a:pt x="265" y="1989"/>
                    <a:pt x="755" y="2985"/>
                    <a:pt x="1064" y="3618"/>
                  </a:cubicBezTo>
                  <a:cubicBezTo>
                    <a:pt x="2037" y="5587"/>
                    <a:pt x="2874" y="6217"/>
                    <a:pt x="3787" y="6217"/>
                  </a:cubicBezTo>
                  <a:cubicBezTo>
                    <a:pt x="3889" y="6217"/>
                    <a:pt x="3992" y="6209"/>
                    <a:pt x="4096" y="6194"/>
                  </a:cubicBezTo>
                  <a:cubicBezTo>
                    <a:pt x="5753" y="5963"/>
                    <a:pt x="5637" y="5352"/>
                    <a:pt x="4685" y="4451"/>
                  </a:cubicBezTo>
                  <a:cubicBezTo>
                    <a:pt x="3981" y="3784"/>
                    <a:pt x="3644" y="3098"/>
                    <a:pt x="3644" y="3098"/>
                  </a:cubicBezTo>
                  <a:lnTo>
                    <a:pt x="3644" y="3098"/>
                  </a:lnTo>
                  <a:cubicBezTo>
                    <a:pt x="4015" y="3271"/>
                    <a:pt x="4311" y="3404"/>
                    <a:pt x="4532" y="3441"/>
                  </a:cubicBezTo>
                  <a:cubicBezTo>
                    <a:pt x="4584" y="3449"/>
                    <a:pt x="4632" y="3453"/>
                    <a:pt x="4678" y="3453"/>
                  </a:cubicBezTo>
                  <a:cubicBezTo>
                    <a:pt x="5021" y="3453"/>
                    <a:pt x="5193" y="3226"/>
                    <a:pt x="5229" y="3087"/>
                  </a:cubicBezTo>
                  <a:cubicBezTo>
                    <a:pt x="5259" y="2968"/>
                    <a:pt x="4953" y="2914"/>
                    <a:pt x="4559" y="2598"/>
                  </a:cubicBezTo>
                  <a:cubicBezTo>
                    <a:pt x="4059" y="2193"/>
                    <a:pt x="3774" y="1846"/>
                    <a:pt x="3142" y="1557"/>
                  </a:cubicBezTo>
                  <a:cubicBezTo>
                    <a:pt x="2903" y="1449"/>
                    <a:pt x="2400" y="1132"/>
                    <a:pt x="2298" y="895"/>
                  </a:cubicBezTo>
                  <a:cubicBezTo>
                    <a:pt x="2189" y="650"/>
                    <a:pt x="2067" y="344"/>
                    <a:pt x="1934" y="0"/>
                  </a:cubicBezTo>
                  <a:close/>
                </a:path>
              </a:pathLst>
            </a:custGeom>
            <a:solidFill>
              <a:srgbClr val="B166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478;p25"/>
            <p:cNvSpPr/>
            <p:nvPr/>
          </p:nvSpPr>
          <p:spPr>
            <a:xfrm flipH="1">
              <a:off x="5809596" y="2078670"/>
              <a:ext cx="240055" cy="754981"/>
            </a:xfrm>
            <a:custGeom>
              <a:avLst/>
              <a:gdLst/>
              <a:ahLst/>
              <a:cxnLst/>
              <a:rect l="l" t="t" r="r" b="b"/>
              <a:pathLst>
                <a:path w="6185" h="19452" extrusionOk="0">
                  <a:moveTo>
                    <a:pt x="1108" y="1"/>
                  </a:moveTo>
                  <a:cubicBezTo>
                    <a:pt x="1108" y="1"/>
                    <a:pt x="707" y="1130"/>
                    <a:pt x="316" y="1796"/>
                  </a:cubicBezTo>
                  <a:cubicBezTo>
                    <a:pt x="0" y="2334"/>
                    <a:pt x="266" y="10925"/>
                    <a:pt x="425" y="11645"/>
                  </a:cubicBezTo>
                  <a:cubicBezTo>
                    <a:pt x="585" y="12367"/>
                    <a:pt x="3726" y="19390"/>
                    <a:pt x="3726" y="19390"/>
                  </a:cubicBezTo>
                  <a:cubicBezTo>
                    <a:pt x="3726" y="19390"/>
                    <a:pt x="3930" y="19451"/>
                    <a:pt x="4250" y="19451"/>
                  </a:cubicBezTo>
                  <a:cubicBezTo>
                    <a:pt x="4731" y="19451"/>
                    <a:pt x="5476" y="19314"/>
                    <a:pt x="6184" y="18625"/>
                  </a:cubicBezTo>
                  <a:lnTo>
                    <a:pt x="3848" y="11268"/>
                  </a:lnTo>
                  <a:lnTo>
                    <a:pt x="3702" y="4998"/>
                  </a:lnTo>
                  <a:cubicBezTo>
                    <a:pt x="3702" y="4998"/>
                    <a:pt x="3795" y="481"/>
                    <a:pt x="1108" y="1"/>
                  </a:cubicBezTo>
                  <a:close/>
                </a:path>
              </a:pathLst>
            </a:custGeom>
            <a:solidFill>
              <a:srgbClr val="27DE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479;p25"/>
            <p:cNvSpPr/>
            <p:nvPr/>
          </p:nvSpPr>
          <p:spPr>
            <a:xfrm flipH="1">
              <a:off x="5809597" y="2078670"/>
              <a:ext cx="197051" cy="754981"/>
            </a:xfrm>
            <a:custGeom>
              <a:avLst/>
              <a:gdLst/>
              <a:ahLst/>
              <a:cxnLst/>
              <a:rect l="l" t="t" r="r" b="b"/>
              <a:pathLst>
                <a:path w="5077" h="19452" extrusionOk="0">
                  <a:moveTo>
                    <a:pt x="0" y="1"/>
                  </a:moveTo>
                  <a:lnTo>
                    <a:pt x="0" y="1"/>
                  </a:lnTo>
                  <a:cubicBezTo>
                    <a:pt x="1687" y="521"/>
                    <a:pt x="1714" y="1589"/>
                    <a:pt x="1894" y="3921"/>
                  </a:cubicBezTo>
                  <a:cubicBezTo>
                    <a:pt x="2054" y="5941"/>
                    <a:pt x="2152" y="18160"/>
                    <a:pt x="2152" y="18160"/>
                  </a:cubicBezTo>
                  <a:cubicBezTo>
                    <a:pt x="2132" y="18176"/>
                    <a:pt x="2111" y="18190"/>
                    <a:pt x="2091" y="18207"/>
                  </a:cubicBezTo>
                  <a:cubicBezTo>
                    <a:pt x="2407" y="18918"/>
                    <a:pt x="2618" y="19390"/>
                    <a:pt x="2618" y="19390"/>
                  </a:cubicBezTo>
                  <a:cubicBezTo>
                    <a:pt x="2618" y="19390"/>
                    <a:pt x="2822" y="19451"/>
                    <a:pt x="3142" y="19451"/>
                  </a:cubicBezTo>
                  <a:cubicBezTo>
                    <a:pt x="3621" y="19451"/>
                    <a:pt x="4366" y="19312"/>
                    <a:pt x="5076" y="18625"/>
                  </a:cubicBezTo>
                  <a:lnTo>
                    <a:pt x="2740" y="11268"/>
                  </a:lnTo>
                  <a:lnTo>
                    <a:pt x="2594" y="4998"/>
                  </a:lnTo>
                  <a:lnTo>
                    <a:pt x="2594" y="4948"/>
                  </a:lnTo>
                  <a:cubicBezTo>
                    <a:pt x="2594" y="4441"/>
                    <a:pt x="2516" y="450"/>
                    <a:pt x="0" y="1"/>
                  </a:cubicBezTo>
                  <a:close/>
                </a:path>
              </a:pathLst>
            </a:custGeom>
            <a:solidFill>
              <a:srgbClr val="146F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480;p25"/>
            <p:cNvSpPr/>
            <p:nvPr/>
          </p:nvSpPr>
          <p:spPr>
            <a:xfrm flipH="1">
              <a:off x="6298624" y="3847513"/>
              <a:ext cx="90278" cy="154435"/>
            </a:xfrm>
            <a:custGeom>
              <a:avLst/>
              <a:gdLst/>
              <a:ahLst/>
              <a:cxnLst/>
              <a:rect l="l" t="t" r="r" b="b"/>
              <a:pathLst>
                <a:path w="2326" h="3979" extrusionOk="0">
                  <a:moveTo>
                    <a:pt x="0" y="1"/>
                  </a:moveTo>
                  <a:lnTo>
                    <a:pt x="0" y="3979"/>
                  </a:lnTo>
                  <a:lnTo>
                    <a:pt x="2326" y="3979"/>
                  </a:lnTo>
                  <a:lnTo>
                    <a:pt x="2326" y="1"/>
                  </a:lnTo>
                  <a:close/>
                </a:path>
              </a:pathLst>
            </a:custGeom>
            <a:solidFill>
              <a:srgbClr val="B166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481;p25"/>
            <p:cNvSpPr/>
            <p:nvPr/>
          </p:nvSpPr>
          <p:spPr>
            <a:xfrm flipH="1">
              <a:off x="5925335" y="3721646"/>
              <a:ext cx="94664" cy="166544"/>
            </a:xfrm>
            <a:custGeom>
              <a:avLst/>
              <a:gdLst/>
              <a:ahLst/>
              <a:cxnLst/>
              <a:rect l="l" t="t" r="r" b="b"/>
              <a:pathLst>
                <a:path w="2439" h="4291" extrusionOk="0">
                  <a:moveTo>
                    <a:pt x="1" y="0"/>
                  </a:moveTo>
                  <a:lnTo>
                    <a:pt x="1" y="4212"/>
                  </a:lnTo>
                  <a:lnTo>
                    <a:pt x="2323" y="4291"/>
                  </a:lnTo>
                  <a:lnTo>
                    <a:pt x="2439" y="82"/>
                  </a:lnTo>
                  <a:lnTo>
                    <a:pt x="1" y="0"/>
                  </a:lnTo>
                  <a:close/>
                </a:path>
              </a:pathLst>
            </a:custGeom>
            <a:solidFill>
              <a:srgbClr val="B166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482;p25"/>
            <p:cNvSpPr/>
            <p:nvPr/>
          </p:nvSpPr>
          <p:spPr>
            <a:xfrm flipH="1">
              <a:off x="5913952" y="2726825"/>
              <a:ext cx="498702" cy="1210019"/>
            </a:xfrm>
            <a:custGeom>
              <a:avLst/>
              <a:gdLst/>
              <a:ahLst/>
              <a:cxnLst/>
              <a:rect l="l" t="t" r="r" b="b"/>
              <a:pathLst>
                <a:path w="12849" h="31176" extrusionOk="0">
                  <a:moveTo>
                    <a:pt x="12151" y="1"/>
                  </a:moveTo>
                  <a:lnTo>
                    <a:pt x="938" y="481"/>
                  </a:lnTo>
                  <a:cubicBezTo>
                    <a:pt x="938" y="2700"/>
                    <a:pt x="786" y="15603"/>
                    <a:pt x="786" y="15603"/>
                  </a:cubicBezTo>
                  <a:cubicBezTo>
                    <a:pt x="734" y="16238"/>
                    <a:pt x="119" y="17374"/>
                    <a:pt x="72" y="19676"/>
                  </a:cubicBezTo>
                  <a:cubicBezTo>
                    <a:pt x="0" y="23011"/>
                    <a:pt x="513" y="30868"/>
                    <a:pt x="513" y="30868"/>
                  </a:cubicBezTo>
                  <a:cubicBezTo>
                    <a:pt x="513" y="30868"/>
                    <a:pt x="1043" y="31175"/>
                    <a:pt x="1844" y="31175"/>
                  </a:cubicBezTo>
                  <a:cubicBezTo>
                    <a:pt x="2214" y="31175"/>
                    <a:pt x="2641" y="31110"/>
                    <a:pt x="3101" y="30919"/>
                  </a:cubicBezTo>
                  <a:cubicBezTo>
                    <a:pt x="3101" y="30919"/>
                    <a:pt x="4927" y="19805"/>
                    <a:pt x="5341" y="16504"/>
                  </a:cubicBezTo>
                  <a:cubicBezTo>
                    <a:pt x="5705" y="13624"/>
                    <a:pt x="6959" y="5934"/>
                    <a:pt x="6959" y="5934"/>
                  </a:cubicBezTo>
                  <a:lnTo>
                    <a:pt x="8734" y="15670"/>
                  </a:lnTo>
                  <a:cubicBezTo>
                    <a:pt x="8734" y="15670"/>
                    <a:pt x="8306" y="17387"/>
                    <a:pt x="8448" y="19363"/>
                  </a:cubicBezTo>
                  <a:cubicBezTo>
                    <a:pt x="8558" y="20889"/>
                    <a:pt x="9972" y="28539"/>
                    <a:pt x="9972" y="28539"/>
                  </a:cubicBezTo>
                  <a:cubicBezTo>
                    <a:pt x="9972" y="28539"/>
                    <a:pt x="10560" y="28938"/>
                    <a:pt x="11502" y="28938"/>
                  </a:cubicBezTo>
                  <a:cubicBezTo>
                    <a:pt x="11843" y="28938"/>
                    <a:pt x="12231" y="28886"/>
                    <a:pt x="12654" y="28743"/>
                  </a:cubicBezTo>
                  <a:cubicBezTo>
                    <a:pt x="12654" y="28743"/>
                    <a:pt x="12790" y="16739"/>
                    <a:pt x="12817" y="15338"/>
                  </a:cubicBezTo>
                  <a:cubicBezTo>
                    <a:pt x="12848" y="13740"/>
                    <a:pt x="12151" y="1"/>
                    <a:pt x="12151" y="1"/>
                  </a:cubicBezTo>
                  <a:close/>
                </a:path>
              </a:pathLst>
            </a:custGeom>
            <a:solidFill>
              <a:srgbClr val="146B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483;p25"/>
            <p:cNvSpPr/>
            <p:nvPr/>
          </p:nvSpPr>
          <p:spPr>
            <a:xfrm flipH="1">
              <a:off x="6179857" y="3944425"/>
              <a:ext cx="234156" cy="262528"/>
            </a:xfrm>
            <a:custGeom>
              <a:avLst/>
              <a:gdLst/>
              <a:ahLst/>
              <a:cxnLst/>
              <a:rect l="l" t="t" r="r" b="b"/>
              <a:pathLst>
                <a:path w="6033" h="6764" extrusionOk="0">
                  <a:moveTo>
                    <a:pt x="631" y="0"/>
                  </a:moveTo>
                  <a:cubicBezTo>
                    <a:pt x="499" y="0"/>
                    <a:pt x="388" y="433"/>
                    <a:pt x="283" y="829"/>
                  </a:cubicBezTo>
                  <a:cubicBezTo>
                    <a:pt x="158" y="1305"/>
                    <a:pt x="1" y="1841"/>
                    <a:pt x="198" y="2318"/>
                  </a:cubicBezTo>
                  <a:cubicBezTo>
                    <a:pt x="307" y="2583"/>
                    <a:pt x="481" y="2814"/>
                    <a:pt x="644" y="3052"/>
                  </a:cubicBezTo>
                  <a:cubicBezTo>
                    <a:pt x="923" y="3464"/>
                    <a:pt x="1171" y="3912"/>
                    <a:pt x="1225" y="4402"/>
                  </a:cubicBezTo>
                  <a:cubicBezTo>
                    <a:pt x="1249" y="4619"/>
                    <a:pt x="1239" y="4837"/>
                    <a:pt x="1273" y="5051"/>
                  </a:cubicBezTo>
                  <a:cubicBezTo>
                    <a:pt x="1392" y="5796"/>
                    <a:pt x="1915" y="6377"/>
                    <a:pt x="2640" y="6588"/>
                  </a:cubicBezTo>
                  <a:cubicBezTo>
                    <a:pt x="3016" y="6699"/>
                    <a:pt x="3453" y="6763"/>
                    <a:pt x="3899" y="6763"/>
                  </a:cubicBezTo>
                  <a:cubicBezTo>
                    <a:pt x="4572" y="6763"/>
                    <a:pt x="5263" y="6617"/>
                    <a:pt x="5791" y="6265"/>
                  </a:cubicBezTo>
                  <a:cubicBezTo>
                    <a:pt x="6032" y="6105"/>
                    <a:pt x="5982" y="5408"/>
                    <a:pt x="5842" y="5160"/>
                  </a:cubicBezTo>
                  <a:cubicBezTo>
                    <a:pt x="5699" y="4909"/>
                    <a:pt x="5298" y="4551"/>
                    <a:pt x="5121" y="4327"/>
                  </a:cubicBezTo>
                  <a:cubicBezTo>
                    <a:pt x="4366" y="3382"/>
                    <a:pt x="4091" y="3079"/>
                    <a:pt x="3765" y="2270"/>
                  </a:cubicBezTo>
                  <a:cubicBezTo>
                    <a:pt x="3561" y="1774"/>
                    <a:pt x="3465" y="1512"/>
                    <a:pt x="3357" y="1080"/>
                  </a:cubicBezTo>
                  <a:cubicBezTo>
                    <a:pt x="3285" y="801"/>
                    <a:pt x="3255" y="638"/>
                    <a:pt x="3221" y="424"/>
                  </a:cubicBezTo>
                  <a:cubicBezTo>
                    <a:pt x="3174" y="129"/>
                    <a:pt x="3097" y="6"/>
                    <a:pt x="2977" y="6"/>
                  </a:cubicBezTo>
                  <a:cubicBezTo>
                    <a:pt x="2976" y="6"/>
                    <a:pt x="2974" y="6"/>
                    <a:pt x="2973" y="6"/>
                  </a:cubicBezTo>
                  <a:lnTo>
                    <a:pt x="2973" y="335"/>
                  </a:lnTo>
                  <a:cubicBezTo>
                    <a:pt x="2976" y="574"/>
                    <a:pt x="2272" y="650"/>
                    <a:pt x="1896" y="650"/>
                  </a:cubicBezTo>
                  <a:cubicBezTo>
                    <a:pt x="1865" y="650"/>
                    <a:pt x="1836" y="650"/>
                    <a:pt x="1810" y="649"/>
                  </a:cubicBezTo>
                  <a:cubicBezTo>
                    <a:pt x="1283" y="628"/>
                    <a:pt x="817" y="445"/>
                    <a:pt x="647" y="258"/>
                  </a:cubicBezTo>
                  <a:lnTo>
                    <a:pt x="647" y="2"/>
                  </a:lnTo>
                  <a:cubicBezTo>
                    <a:pt x="642" y="1"/>
                    <a:pt x="636" y="0"/>
                    <a:pt x="631"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484;p25"/>
            <p:cNvSpPr/>
            <p:nvPr/>
          </p:nvSpPr>
          <p:spPr>
            <a:xfrm flipH="1">
              <a:off x="5709343" y="3854421"/>
              <a:ext cx="344422" cy="177373"/>
            </a:xfrm>
            <a:custGeom>
              <a:avLst/>
              <a:gdLst/>
              <a:ahLst/>
              <a:cxnLst/>
              <a:rect l="l" t="t" r="r" b="b"/>
              <a:pathLst>
                <a:path w="8874" h="4570" extrusionOk="0">
                  <a:moveTo>
                    <a:pt x="857" y="1"/>
                  </a:moveTo>
                  <a:cubicBezTo>
                    <a:pt x="645" y="1"/>
                    <a:pt x="466" y="992"/>
                    <a:pt x="323" y="1634"/>
                  </a:cubicBezTo>
                  <a:cubicBezTo>
                    <a:pt x="191" y="2236"/>
                    <a:pt x="0" y="2933"/>
                    <a:pt x="474" y="3263"/>
                  </a:cubicBezTo>
                  <a:cubicBezTo>
                    <a:pt x="833" y="3510"/>
                    <a:pt x="1609" y="3576"/>
                    <a:pt x="2244" y="3576"/>
                  </a:cubicBezTo>
                  <a:cubicBezTo>
                    <a:pt x="2448" y="3576"/>
                    <a:pt x="2638" y="3569"/>
                    <a:pt x="2795" y="3559"/>
                  </a:cubicBezTo>
                  <a:cubicBezTo>
                    <a:pt x="2811" y="3558"/>
                    <a:pt x="2828" y="3558"/>
                    <a:pt x="2844" y="3558"/>
                  </a:cubicBezTo>
                  <a:cubicBezTo>
                    <a:pt x="3489" y="3558"/>
                    <a:pt x="4474" y="4246"/>
                    <a:pt x="5236" y="4416"/>
                  </a:cubicBezTo>
                  <a:cubicBezTo>
                    <a:pt x="5716" y="4524"/>
                    <a:pt x="6169" y="4569"/>
                    <a:pt x="6578" y="4569"/>
                  </a:cubicBezTo>
                  <a:cubicBezTo>
                    <a:pt x="7391" y="4569"/>
                    <a:pt x="8029" y="4390"/>
                    <a:pt x="8357" y="4171"/>
                  </a:cubicBezTo>
                  <a:cubicBezTo>
                    <a:pt x="8853" y="3841"/>
                    <a:pt x="8874" y="3266"/>
                    <a:pt x="8395" y="3049"/>
                  </a:cubicBezTo>
                  <a:cubicBezTo>
                    <a:pt x="7629" y="2706"/>
                    <a:pt x="5940" y="2036"/>
                    <a:pt x="5070" y="1601"/>
                  </a:cubicBezTo>
                  <a:cubicBezTo>
                    <a:pt x="4549" y="1339"/>
                    <a:pt x="4023" y="965"/>
                    <a:pt x="3703" y="614"/>
                  </a:cubicBezTo>
                  <a:cubicBezTo>
                    <a:pt x="3435" y="329"/>
                    <a:pt x="3339" y="156"/>
                    <a:pt x="3217" y="153"/>
                  </a:cubicBezTo>
                  <a:lnTo>
                    <a:pt x="3203" y="512"/>
                  </a:lnTo>
                  <a:cubicBezTo>
                    <a:pt x="2988" y="621"/>
                    <a:pt x="2670" y="671"/>
                    <a:pt x="2336" y="671"/>
                  </a:cubicBezTo>
                  <a:cubicBezTo>
                    <a:pt x="1721" y="671"/>
                    <a:pt x="1052" y="502"/>
                    <a:pt x="871" y="227"/>
                  </a:cubicBezTo>
                  <a:lnTo>
                    <a:pt x="871" y="2"/>
                  </a:lnTo>
                  <a:cubicBezTo>
                    <a:pt x="866" y="1"/>
                    <a:pt x="862" y="1"/>
                    <a:pt x="857"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485;p25"/>
            <p:cNvSpPr/>
            <p:nvPr/>
          </p:nvSpPr>
          <p:spPr>
            <a:xfrm flipH="1">
              <a:off x="6016891" y="2885061"/>
              <a:ext cx="125675" cy="423871"/>
            </a:xfrm>
            <a:custGeom>
              <a:avLst/>
              <a:gdLst/>
              <a:ahLst/>
              <a:cxnLst/>
              <a:rect l="l" t="t" r="r" b="b"/>
              <a:pathLst>
                <a:path w="3238" h="10921" extrusionOk="0">
                  <a:moveTo>
                    <a:pt x="3237" y="0"/>
                  </a:moveTo>
                  <a:lnTo>
                    <a:pt x="3237" y="0"/>
                  </a:lnTo>
                  <a:cubicBezTo>
                    <a:pt x="1857" y="1333"/>
                    <a:pt x="0" y="1857"/>
                    <a:pt x="0" y="1857"/>
                  </a:cubicBezTo>
                  <a:lnTo>
                    <a:pt x="1653" y="10920"/>
                  </a:lnTo>
                  <a:lnTo>
                    <a:pt x="755" y="2258"/>
                  </a:lnTo>
                  <a:cubicBezTo>
                    <a:pt x="2611" y="1170"/>
                    <a:pt x="3237" y="1"/>
                    <a:pt x="3237" y="0"/>
                  </a:cubicBezTo>
                  <a:close/>
                </a:path>
              </a:pathLst>
            </a:custGeom>
            <a:solidFill>
              <a:srgbClr val="125A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486;p25"/>
            <p:cNvSpPr/>
            <p:nvPr/>
          </p:nvSpPr>
          <p:spPr>
            <a:xfrm flipH="1">
              <a:off x="5933089" y="2080921"/>
              <a:ext cx="420883" cy="711550"/>
            </a:xfrm>
            <a:custGeom>
              <a:avLst/>
              <a:gdLst/>
              <a:ahLst/>
              <a:cxnLst/>
              <a:rect l="l" t="t" r="r" b="b"/>
              <a:pathLst>
                <a:path w="10844" h="18333" extrusionOk="0">
                  <a:moveTo>
                    <a:pt x="6852" y="1"/>
                  </a:moveTo>
                  <a:lnTo>
                    <a:pt x="3456" y="99"/>
                  </a:lnTo>
                  <a:cubicBezTo>
                    <a:pt x="2667" y="290"/>
                    <a:pt x="1072" y="551"/>
                    <a:pt x="715" y="2125"/>
                  </a:cubicBezTo>
                  <a:cubicBezTo>
                    <a:pt x="286" y="4019"/>
                    <a:pt x="147" y="8137"/>
                    <a:pt x="147" y="8137"/>
                  </a:cubicBezTo>
                  <a:lnTo>
                    <a:pt x="1" y="17302"/>
                  </a:lnTo>
                  <a:cubicBezTo>
                    <a:pt x="797" y="17883"/>
                    <a:pt x="2655" y="18332"/>
                    <a:pt x="4736" y="18332"/>
                  </a:cubicBezTo>
                  <a:cubicBezTo>
                    <a:pt x="6832" y="18332"/>
                    <a:pt x="9154" y="17877"/>
                    <a:pt x="10843" y="16643"/>
                  </a:cubicBezTo>
                  <a:cubicBezTo>
                    <a:pt x="10843" y="16643"/>
                    <a:pt x="10432" y="5638"/>
                    <a:pt x="10432" y="3925"/>
                  </a:cubicBezTo>
                  <a:cubicBezTo>
                    <a:pt x="10432" y="2211"/>
                    <a:pt x="9480" y="154"/>
                    <a:pt x="6852" y="1"/>
                  </a:cubicBez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487;p25"/>
            <p:cNvSpPr/>
            <p:nvPr/>
          </p:nvSpPr>
          <p:spPr>
            <a:xfrm flipH="1">
              <a:off x="5923082" y="2065203"/>
              <a:ext cx="166428" cy="753545"/>
            </a:xfrm>
            <a:custGeom>
              <a:avLst/>
              <a:gdLst/>
              <a:ahLst/>
              <a:cxnLst/>
              <a:rect l="l" t="t" r="r" b="b"/>
              <a:pathLst>
                <a:path w="4288" h="19415" extrusionOk="0">
                  <a:moveTo>
                    <a:pt x="3" y="1"/>
                  </a:moveTo>
                  <a:lnTo>
                    <a:pt x="0" y="229"/>
                  </a:lnTo>
                  <a:cubicBezTo>
                    <a:pt x="0" y="229"/>
                    <a:pt x="1183" y="1164"/>
                    <a:pt x="1503" y="2551"/>
                  </a:cubicBezTo>
                  <a:cubicBezTo>
                    <a:pt x="1823" y="3938"/>
                    <a:pt x="1874" y="19414"/>
                    <a:pt x="1874" y="19414"/>
                  </a:cubicBezTo>
                  <a:cubicBezTo>
                    <a:pt x="1874" y="19414"/>
                    <a:pt x="3516" y="19111"/>
                    <a:pt x="4287" y="18507"/>
                  </a:cubicBezTo>
                  <a:cubicBezTo>
                    <a:pt x="4287" y="18507"/>
                    <a:pt x="4189" y="6288"/>
                    <a:pt x="4029" y="4268"/>
                  </a:cubicBezTo>
                  <a:cubicBezTo>
                    <a:pt x="3794" y="1205"/>
                    <a:pt x="3818" y="324"/>
                    <a:pt x="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488;p25"/>
            <p:cNvSpPr/>
            <p:nvPr/>
          </p:nvSpPr>
          <p:spPr>
            <a:xfrm flipH="1">
              <a:off x="6153853" y="2065203"/>
              <a:ext cx="240599" cy="757504"/>
            </a:xfrm>
            <a:custGeom>
              <a:avLst/>
              <a:gdLst/>
              <a:ahLst/>
              <a:cxnLst/>
              <a:rect l="l" t="t" r="r" b="b"/>
              <a:pathLst>
                <a:path w="6199" h="19517" extrusionOk="0">
                  <a:moveTo>
                    <a:pt x="3808" y="1"/>
                  </a:moveTo>
                  <a:cubicBezTo>
                    <a:pt x="3808" y="1"/>
                    <a:pt x="3808" y="1"/>
                    <a:pt x="3808" y="1"/>
                  </a:cubicBezTo>
                  <a:cubicBezTo>
                    <a:pt x="3808" y="1"/>
                    <a:pt x="2363" y="304"/>
                    <a:pt x="1201" y="773"/>
                  </a:cubicBezTo>
                  <a:cubicBezTo>
                    <a:pt x="562" y="1028"/>
                    <a:pt x="96" y="3605"/>
                    <a:pt x="44" y="5598"/>
                  </a:cubicBezTo>
                  <a:cubicBezTo>
                    <a:pt x="0" y="7338"/>
                    <a:pt x="276" y="18575"/>
                    <a:pt x="276" y="18575"/>
                  </a:cubicBezTo>
                  <a:cubicBezTo>
                    <a:pt x="1567" y="19347"/>
                    <a:pt x="3280" y="19516"/>
                    <a:pt x="4532" y="19516"/>
                  </a:cubicBezTo>
                  <a:cubicBezTo>
                    <a:pt x="5504" y="19516"/>
                    <a:pt x="6198" y="19414"/>
                    <a:pt x="6198" y="19414"/>
                  </a:cubicBezTo>
                  <a:cubicBezTo>
                    <a:pt x="6198" y="19414"/>
                    <a:pt x="6042" y="11343"/>
                    <a:pt x="6021" y="6709"/>
                  </a:cubicBezTo>
                  <a:cubicBezTo>
                    <a:pt x="5998" y="1354"/>
                    <a:pt x="3814" y="1"/>
                    <a:pt x="380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489;p25"/>
            <p:cNvSpPr/>
            <p:nvPr/>
          </p:nvSpPr>
          <p:spPr>
            <a:xfrm flipH="1">
              <a:off x="6332528" y="2123265"/>
              <a:ext cx="715470" cy="404543"/>
            </a:xfrm>
            <a:custGeom>
              <a:avLst/>
              <a:gdLst/>
              <a:ahLst/>
              <a:cxnLst/>
              <a:rect l="l" t="t" r="r" b="b"/>
              <a:pathLst>
                <a:path w="18434" h="10423" extrusionOk="0">
                  <a:moveTo>
                    <a:pt x="4188" y="1"/>
                  </a:moveTo>
                  <a:cubicBezTo>
                    <a:pt x="4055" y="1"/>
                    <a:pt x="3918" y="115"/>
                    <a:pt x="3876" y="253"/>
                  </a:cubicBezTo>
                  <a:cubicBezTo>
                    <a:pt x="3825" y="427"/>
                    <a:pt x="3883" y="617"/>
                    <a:pt x="3941" y="790"/>
                  </a:cubicBezTo>
                  <a:cubicBezTo>
                    <a:pt x="4015" y="1018"/>
                    <a:pt x="4247" y="1337"/>
                    <a:pt x="3924" y="1389"/>
                  </a:cubicBezTo>
                  <a:cubicBezTo>
                    <a:pt x="3884" y="1395"/>
                    <a:pt x="3843" y="1398"/>
                    <a:pt x="3803" y="1398"/>
                  </a:cubicBezTo>
                  <a:cubicBezTo>
                    <a:pt x="3567" y="1398"/>
                    <a:pt x="3324" y="1298"/>
                    <a:pt x="3117" y="1208"/>
                  </a:cubicBezTo>
                  <a:cubicBezTo>
                    <a:pt x="2703" y="1031"/>
                    <a:pt x="2298" y="835"/>
                    <a:pt x="1901" y="623"/>
                  </a:cubicBezTo>
                  <a:cubicBezTo>
                    <a:pt x="1642" y="488"/>
                    <a:pt x="1377" y="338"/>
                    <a:pt x="1088" y="334"/>
                  </a:cubicBezTo>
                  <a:cubicBezTo>
                    <a:pt x="1084" y="334"/>
                    <a:pt x="1080" y="334"/>
                    <a:pt x="1075" y="334"/>
                  </a:cubicBezTo>
                  <a:cubicBezTo>
                    <a:pt x="655" y="334"/>
                    <a:pt x="274" y="655"/>
                    <a:pt x="139" y="1052"/>
                  </a:cubicBezTo>
                  <a:cubicBezTo>
                    <a:pt x="0" y="1453"/>
                    <a:pt x="85" y="1905"/>
                    <a:pt x="289" y="2279"/>
                  </a:cubicBezTo>
                  <a:cubicBezTo>
                    <a:pt x="493" y="2650"/>
                    <a:pt x="806" y="2949"/>
                    <a:pt x="1143" y="3211"/>
                  </a:cubicBezTo>
                  <a:cubicBezTo>
                    <a:pt x="1870" y="3772"/>
                    <a:pt x="2832" y="4030"/>
                    <a:pt x="3713" y="4265"/>
                  </a:cubicBezTo>
                  <a:cubicBezTo>
                    <a:pt x="4137" y="4377"/>
                    <a:pt x="4423" y="4510"/>
                    <a:pt x="4953" y="4842"/>
                  </a:cubicBezTo>
                  <a:cubicBezTo>
                    <a:pt x="5657" y="5335"/>
                    <a:pt x="9312" y="8450"/>
                    <a:pt x="11063" y="9732"/>
                  </a:cubicBezTo>
                  <a:cubicBezTo>
                    <a:pt x="11731" y="10221"/>
                    <a:pt x="12198" y="10423"/>
                    <a:pt x="12583" y="10423"/>
                  </a:cubicBezTo>
                  <a:cubicBezTo>
                    <a:pt x="13111" y="10423"/>
                    <a:pt x="13486" y="10043"/>
                    <a:pt x="14021" y="9500"/>
                  </a:cubicBezTo>
                  <a:cubicBezTo>
                    <a:pt x="14945" y="8562"/>
                    <a:pt x="18434" y="4155"/>
                    <a:pt x="18434" y="4155"/>
                  </a:cubicBezTo>
                  <a:lnTo>
                    <a:pt x="15622" y="2208"/>
                  </a:lnTo>
                  <a:cubicBezTo>
                    <a:pt x="14599" y="3951"/>
                    <a:pt x="12375" y="7467"/>
                    <a:pt x="12375" y="7467"/>
                  </a:cubicBezTo>
                  <a:cubicBezTo>
                    <a:pt x="12179" y="7314"/>
                    <a:pt x="7503" y="4387"/>
                    <a:pt x="6450" y="3082"/>
                  </a:cubicBezTo>
                  <a:cubicBezTo>
                    <a:pt x="6202" y="2568"/>
                    <a:pt x="6008" y="2140"/>
                    <a:pt x="5657" y="1681"/>
                  </a:cubicBezTo>
                  <a:cubicBezTo>
                    <a:pt x="5253" y="1154"/>
                    <a:pt x="4838" y="637"/>
                    <a:pt x="4410" y="134"/>
                  </a:cubicBezTo>
                  <a:cubicBezTo>
                    <a:pt x="4376" y="96"/>
                    <a:pt x="4341" y="55"/>
                    <a:pt x="4301" y="32"/>
                  </a:cubicBezTo>
                  <a:cubicBezTo>
                    <a:pt x="4265" y="10"/>
                    <a:pt x="4227" y="1"/>
                    <a:pt x="4188" y="1"/>
                  </a:cubicBezTo>
                  <a:close/>
                </a:path>
              </a:pathLst>
            </a:custGeom>
            <a:solidFill>
              <a:srgbClr val="B166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490;p25"/>
            <p:cNvSpPr/>
            <p:nvPr/>
          </p:nvSpPr>
          <p:spPr>
            <a:xfrm flipH="1">
              <a:off x="6282233" y="2085967"/>
              <a:ext cx="549507" cy="450419"/>
            </a:xfrm>
            <a:custGeom>
              <a:avLst/>
              <a:gdLst/>
              <a:ahLst/>
              <a:cxnLst/>
              <a:rect l="l" t="t" r="r" b="b"/>
              <a:pathLst>
                <a:path w="14158" h="11605" extrusionOk="0">
                  <a:moveTo>
                    <a:pt x="13117" y="0"/>
                  </a:moveTo>
                  <a:lnTo>
                    <a:pt x="13117" y="0"/>
                  </a:lnTo>
                  <a:cubicBezTo>
                    <a:pt x="10737" y="694"/>
                    <a:pt x="10897" y="1537"/>
                    <a:pt x="9316" y="4063"/>
                  </a:cubicBezTo>
                  <a:cubicBezTo>
                    <a:pt x="7732" y="6589"/>
                    <a:pt x="6674" y="7735"/>
                    <a:pt x="6674" y="7735"/>
                  </a:cubicBezTo>
                  <a:lnTo>
                    <a:pt x="1622" y="4553"/>
                  </a:lnTo>
                  <a:cubicBezTo>
                    <a:pt x="1622" y="4553"/>
                    <a:pt x="569" y="5232"/>
                    <a:pt x="1" y="6626"/>
                  </a:cubicBezTo>
                  <a:cubicBezTo>
                    <a:pt x="1" y="6626"/>
                    <a:pt x="5080" y="10563"/>
                    <a:pt x="5787" y="11005"/>
                  </a:cubicBezTo>
                  <a:cubicBezTo>
                    <a:pt x="6367" y="11370"/>
                    <a:pt x="6785" y="11604"/>
                    <a:pt x="7194" y="11604"/>
                  </a:cubicBezTo>
                  <a:cubicBezTo>
                    <a:pt x="7494" y="11604"/>
                    <a:pt x="7790" y="11477"/>
                    <a:pt x="8140" y="11182"/>
                  </a:cubicBezTo>
                  <a:cubicBezTo>
                    <a:pt x="8969" y="10481"/>
                    <a:pt x="12311" y="6806"/>
                    <a:pt x="12311" y="6806"/>
                  </a:cubicBezTo>
                  <a:cubicBezTo>
                    <a:pt x="13838" y="5263"/>
                    <a:pt x="14157" y="1139"/>
                    <a:pt x="13117" y="0"/>
                  </a:cubicBezTo>
                  <a:close/>
                </a:path>
              </a:pathLst>
            </a:custGeom>
            <a:solidFill>
              <a:srgbClr val="27DE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491;p25"/>
            <p:cNvSpPr/>
            <p:nvPr/>
          </p:nvSpPr>
          <p:spPr>
            <a:xfrm flipH="1">
              <a:off x="6299155" y="2085967"/>
              <a:ext cx="532585" cy="450380"/>
            </a:xfrm>
            <a:custGeom>
              <a:avLst/>
              <a:gdLst/>
              <a:ahLst/>
              <a:cxnLst/>
              <a:rect l="l" t="t" r="r" b="b"/>
              <a:pathLst>
                <a:path w="13722" h="11604" extrusionOk="0">
                  <a:moveTo>
                    <a:pt x="13117" y="0"/>
                  </a:moveTo>
                  <a:cubicBezTo>
                    <a:pt x="10737" y="694"/>
                    <a:pt x="10897" y="1537"/>
                    <a:pt x="9316" y="4063"/>
                  </a:cubicBezTo>
                  <a:cubicBezTo>
                    <a:pt x="7732" y="6589"/>
                    <a:pt x="6674" y="7735"/>
                    <a:pt x="6674" y="7735"/>
                  </a:cubicBezTo>
                  <a:lnTo>
                    <a:pt x="1622" y="4553"/>
                  </a:lnTo>
                  <a:cubicBezTo>
                    <a:pt x="1622" y="4553"/>
                    <a:pt x="1571" y="4586"/>
                    <a:pt x="1486" y="4651"/>
                  </a:cubicBezTo>
                  <a:cubicBezTo>
                    <a:pt x="1207" y="4865"/>
                    <a:pt x="558" y="5436"/>
                    <a:pt x="112" y="6375"/>
                  </a:cubicBezTo>
                  <a:cubicBezTo>
                    <a:pt x="75" y="6456"/>
                    <a:pt x="38" y="6538"/>
                    <a:pt x="1" y="6626"/>
                  </a:cubicBezTo>
                  <a:cubicBezTo>
                    <a:pt x="1" y="6626"/>
                    <a:pt x="5080" y="10563"/>
                    <a:pt x="5787" y="11005"/>
                  </a:cubicBezTo>
                  <a:cubicBezTo>
                    <a:pt x="6368" y="11369"/>
                    <a:pt x="6786" y="11603"/>
                    <a:pt x="7194" y="11603"/>
                  </a:cubicBezTo>
                  <a:cubicBezTo>
                    <a:pt x="7494" y="11603"/>
                    <a:pt x="7790" y="11478"/>
                    <a:pt x="8140" y="11182"/>
                  </a:cubicBezTo>
                  <a:cubicBezTo>
                    <a:pt x="8969" y="10481"/>
                    <a:pt x="12311" y="6806"/>
                    <a:pt x="12311" y="6806"/>
                  </a:cubicBezTo>
                  <a:cubicBezTo>
                    <a:pt x="13239" y="5865"/>
                    <a:pt x="13722" y="3968"/>
                    <a:pt x="13722" y="2370"/>
                  </a:cubicBezTo>
                  <a:cubicBezTo>
                    <a:pt x="13722" y="1347"/>
                    <a:pt x="13522" y="445"/>
                    <a:pt x="13117" y="0"/>
                  </a:cubicBezTo>
                  <a:close/>
                </a:path>
              </a:pathLst>
            </a:custGeom>
            <a:solidFill>
              <a:srgbClr val="146F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492;p25"/>
            <p:cNvSpPr/>
            <p:nvPr/>
          </p:nvSpPr>
          <p:spPr>
            <a:xfrm flipH="1">
              <a:off x="6185528" y="2178960"/>
              <a:ext cx="70639" cy="234156"/>
            </a:xfrm>
            <a:custGeom>
              <a:avLst/>
              <a:gdLst/>
              <a:ahLst/>
              <a:cxnLst/>
              <a:rect l="l" t="t" r="r" b="b"/>
              <a:pathLst>
                <a:path w="1820" h="6033" extrusionOk="0">
                  <a:moveTo>
                    <a:pt x="1" y="1"/>
                  </a:moveTo>
                  <a:lnTo>
                    <a:pt x="785" y="1320"/>
                  </a:lnTo>
                  <a:lnTo>
                    <a:pt x="228" y="2656"/>
                  </a:lnTo>
                  <a:lnTo>
                    <a:pt x="1819" y="6032"/>
                  </a:lnTo>
                  <a:lnTo>
                    <a:pt x="500" y="2656"/>
                  </a:lnTo>
                  <a:lnTo>
                    <a:pt x="1003" y="1242"/>
                  </a:lnTo>
                  <a:lnTo>
                    <a:pt x="1" y="1"/>
                  </a:lnTo>
                  <a:close/>
                </a:path>
              </a:pathLst>
            </a:custGeom>
            <a:solidFill>
              <a:srgbClr val="146F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493;p25"/>
            <p:cNvSpPr/>
            <p:nvPr/>
          </p:nvSpPr>
          <p:spPr>
            <a:xfrm flipH="1">
              <a:off x="5956347" y="2163396"/>
              <a:ext cx="47002" cy="241375"/>
            </a:xfrm>
            <a:custGeom>
              <a:avLst/>
              <a:gdLst/>
              <a:ahLst/>
              <a:cxnLst/>
              <a:rect l="l" t="t" r="r" b="b"/>
              <a:pathLst>
                <a:path w="1211" h="6219" extrusionOk="0">
                  <a:moveTo>
                    <a:pt x="558" y="0"/>
                  </a:moveTo>
                  <a:lnTo>
                    <a:pt x="137" y="1401"/>
                  </a:lnTo>
                  <a:lnTo>
                    <a:pt x="935" y="2459"/>
                  </a:lnTo>
                  <a:lnTo>
                    <a:pt x="0" y="6219"/>
                  </a:lnTo>
                  <a:lnTo>
                    <a:pt x="1210" y="2415"/>
                  </a:lnTo>
                  <a:lnTo>
                    <a:pt x="341" y="1286"/>
                  </a:lnTo>
                  <a:lnTo>
                    <a:pt x="558" y="0"/>
                  </a:lnTo>
                  <a:close/>
                </a:path>
              </a:pathLst>
            </a:custGeom>
            <a:solidFill>
              <a:srgbClr val="146F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494;p25"/>
            <p:cNvSpPr/>
            <p:nvPr/>
          </p:nvSpPr>
          <p:spPr>
            <a:xfrm flipH="1">
              <a:off x="5949860" y="1664472"/>
              <a:ext cx="248012" cy="247857"/>
            </a:xfrm>
            <a:custGeom>
              <a:avLst/>
              <a:gdLst/>
              <a:ahLst/>
              <a:cxnLst/>
              <a:rect l="l" t="t" r="r" b="b"/>
              <a:pathLst>
                <a:path w="6390" h="6386" extrusionOk="0">
                  <a:moveTo>
                    <a:pt x="3194" y="1"/>
                  </a:moveTo>
                  <a:cubicBezTo>
                    <a:pt x="1433" y="1"/>
                    <a:pt x="1" y="1429"/>
                    <a:pt x="1" y="3194"/>
                  </a:cubicBezTo>
                  <a:cubicBezTo>
                    <a:pt x="1" y="4958"/>
                    <a:pt x="1433" y="6386"/>
                    <a:pt x="3194" y="6386"/>
                  </a:cubicBezTo>
                  <a:cubicBezTo>
                    <a:pt x="4958" y="6386"/>
                    <a:pt x="6390" y="4958"/>
                    <a:pt x="6390" y="3194"/>
                  </a:cubicBezTo>
                  <a:cubicBezTo>
                    <a:pt x="6390" y="1429"/>
                    <a:pt x="4958" y="1"/>
                    <a:pt x="31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495;p25"/>
            <p:cNvSpPr/>
            <p:nvPr/>
          </p:nvSpPr>
          <p:spPr>
            <a:xfrm flipH="1">
              <a:off x="6235284" y="1876539"/>
              <a:ext cx="52824" cy="129750"/>
            </a:xfrm>
            <a:custGeom>
              <a:avLst/>
              <a:gdLst/>
              <a:ahLst/>
              <a:cxnLst/>
              <a:rect l="l" t="t" r="r" b="b"/>
              <a:pathLst>
                <a:path w="1361" h="3343" extrusionOk="0">
                  <a:moveTo>
                    <a:pt x="0" y="1"/>
                  </a:moveTo>
                  <a:lnTo>
                    <a:pt x="0" y="1"/>
                  </a:lnTo>
                  <a:cubicBezTo>
                    <a:pt x="0" y="1"/>
                    <a:pt x="518" y="2431"/>
                    <a:pt x="725" y="2829"/>
                  </a:cubicBezTo>
                  <a:cubicBezTo>
                    <a:pt x="932" y="3230"/>
                    <a:pt x="1360" y="3343"/>
                    <a:pt x="1360" y="3343"/>
                  </a:cubicBezTo>
                  <a:lnTo>
                    <a:pt x="1326" y="1632"/>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496;p25"/>
            <p:cNvSpPr/>
            <p:nvPr/>
          </p:nvSpPr>
          <p:spPr>
            <a:xfrm flipH="1">
              <a:off x="6250188" y="1740970"/>
              <a:ext cx="67728" cy="139997"/>
            </a:xfrm>
            <a:custGeom>
              <a:avLst/>
              <a:gdLst/>
              <a:ahLst/>
              <a:cxnLst/>
              <a:rect l="l" t="t" r="r" b="b"/>
              <a:pathLst>
                <a:path w="1745" h="3607" extrusionOk="0">
                  <a:moveTo>
                    <a:pt x="1287" y="0"/>
                  </a:moveTo>
                  <a:cubicBezTo>
                    <a:pt x="1096" y="0"/>
                    <a:pt x="731" y="47"/>
                    <a:pt x="426" y="359"/>
                  </a:cubicBezTo>
                  <a:cubicBezTo>
                    <a:pt x="0" y="794"/>
                    <a:pt x="238" y="2158"/>
                    <a:pt x="768" y="3494"/>
                  </a:cubicBezTo>
                  <a:lnTo>
                    <a:pt x="1744" y="3606"/>
                  </a:lnTo>
                  <a:lnTo>
                    <a:pt x="1744" y="3606"/>
                  </a:lnTo>
                  <a:lnTo>
                    <a:pt x="1418" y="9"/>
                  </a:lnTo>
                  <a:cubicBezTo>
                    <a:pt x="1418" y="9"/>
                    <a:pt x="1368" y="0"/>
                    <a:pt x="12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497;p25"/>
            <p:cNvSpPr/>
            <p:nvPr/>
          </p:nvSpPr>
          <p:spPr>
            <a:xfrm flipH="1">
              <a:off x="5963596" y="1683102"/>
              <a:ext cx="373726" cy="485195"/>
            </a:xfrm>
            <a:custGeom>
              <a:avLst/>
              <a:gdLst/>
              <a:ahLst/>
              <a:cxnLst/>
              <a:rect l="l" t="t" r="r" b="b"/>
              <a:pathLst>
                <a:path w="9629" h="12501" extrusionOk="0">
                  <a:moveTo>
                    <a:pt x="6227" y="0"/>
                  </a:moveTo>
                  <a:cubicBezTo>
                    <a:pt x="5320" y="0"/>
                    <a:pt x="4384" y="270"/>
                    <a:pt x="3679" y="715"/>
                  </a:cubicBezTo>
                  <a:cubicBezTo>
                    <a:pt x="1830" y="1877"/>
                    <a:pt x="2533" y="5097"/>
                    <a:pt x="2533" y="5097"/>
                  </a:cubicBezTo>
                  <a:cubicBezTo>
                    <a:pt x="2508" y="5112"/>
                    <a:pt x="2482" y="5119"/>
                    <a:pt x="2455" y="5119"/>
                  </a:cubicBezTo>
                  <a:cubicBezTo>
                    <a:pt x="2269" y="5119"/>
                    <a:pt x="2030" y="4806"/>
                    <a:pt x="1819" y="4587"/>
                  </a:cubicBezTo>
                  <a:cubicBezTo>
                    <a:pt x="1692" y="4453"/>
                    <a:pt x="1415" y="4294"/>
                    <a:pt x="1123" y="4294"/>
                  </a:cubicBezTo>
                  <a:cubicBezTo>
                    <a:pt x="860" y="4294"/>
                    <a:pt x="585" y="4423"/>
                    <a:pt x="398" y="4815"/>
                  </a:cubicBezTo>
                  <a:cubicBezTo>
                    <a:pt x="0" y="5658"/>
                    <a:pt x="745" y="6773"/>
                    <a:pt x="1364" y="6966"/>
                  </a:cubicBezTo>
                  <a:cubicBezTo>
                    <a:pt x="1573" y="7032"/>
                    <a:pt x="1748" y="7058"/>
                    <a:pt x="1893" y="7058"/>
                  </a:cubicBezTo>
                  <a:cubicBezTo>
                    <a:pt x="2489" y="7058"/>
                    <a:pt x="2594" y="6616"/>
                    <a:pt x="2594" y="6616"/>
                  </a:cubicBezTo>
                  <a:lnTo>
                    <a:pt x="2673" y="10584"/>
                  </a:lnTo>
                  <a:cubicBezTo>
                    <a:pt x="3362" y="11471"/>
                    <a:pt x="4857" y="12500"/>
                    <a:pt x="5776" y="12500"/>
                  </a:cubicBezTo>
                  <a:cubicBezTo>
                    <a:pt x="5840" y="12500"/>
                    <a:pt x="5902" y="12495"/>
                    <a:pt x="5960" y="12485"/>
                  </a:cubicBezTo>
                  <a:cubicBezTo>
                    <a:pt x="6674" y="12359"/>
                    <a:pt x="6831" y="11156"/>
                    <a:pt x="6148" y="10367"/>
                  </a:cubicBezTo>
                  <a:lnTo>
                    <a:pt x="6144" y="9193"/>
                  </a:lnTo>
                  <a:lnTo>
                    <a:pt x="6144" y="9193"/>
                  </a:lnTo>
                  <a:cubicBezTo>
                    <a:pt x="6144" y="9193"/>
                    <a:pt x="6770" y="9288"/>
                    <a:pt x="7261" y="9288"/>
                  </a:cubicBezTo>
                  <a:cubicBezTo>
                    <a:pt x="7381" y="9288"/>
                    <a:pt x="7493" y="9282"/>
                    <a:pt x="7585" y="9268"/>
                  </a:cubicBezTo>
                  <a:cubicBezTo>
                    <a:pt x="8371" y="9146"/>
                    <a:pt x="8864" y="8527"/>
                    <a:pt x="9101" y="7677"/>
                  </a:cubicBezTo>
                  <a:cubicBezTo>
                    <a:pt x="9482" y="6310"/>
                    <a:pt x="9628" y="5209"/>
                    <a:pt x="9305" y="2527"/>
                  </a:cubicBezTo>
                  <a:cubicBezTo>
                    <a:pt x="9085" y="707"/>
                    <a:pt x="7693" y="0"/>
                    <a:pt x="6227" y="0"/>
                  </a:cubicBezTo>
                  <a:close/>
                </a:path>
              </a:pathLst>
            </a:custGeom>
            <a:solidFill>
              <a:srgbClr val="B166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498;p25"/>
            <p:cNvSpPr/>
            <p:nvPr/>
          </p:nvSpPr>
          <p:spPr>
            <a:xfrm flipH="1">
              <a:off x="5949858" y="1646735"/>
              <a:ext cx="329945" cy="247003"/>
            </a:xfrm>
            <a:custGeom>
              <a:avLst/>
              <a:gdLst/>
              <a:ahLst/>
              <a:cxnLst/>
              <a:rect l="l" t="t" r="r" b="b"/>
              <a:pathLst>
                <a:path w="8501" h="6364" extrusionOk="0">
                  <a:moveTo>
                    <a:pt x="2986" y="1"/>
                  </a:moveTo>
                  <a:cubicBezTo>
                    <a:pt x="1575" y="1"/>
                    <a:pt x="1057" y="510"/>
                    <a:pt x="667" y="938"/>
                  </a:cubicBezTo>
                  <a:cubicBezTo>
                    <a:pt x="18" y="1652"/>
                    <a:pt x="436" y="2437"/>
                    <a:pt x="436" y="2437"/>
                  </a:cubicBezTo>
                  <a:cubicBezTo>
                    <a:pt x="436" y="2437"/>
                    <a:pt x="1" y="5214"/>
                    <a:pt x="337" y="5524"/>
                  </a:cubicBezTo>
                  <a:cubicBezTo>
                    <a:pt x="582" y="5744"/>
                    <a:pt x="956" y="6364"/>
                    <a:pt x="1055" y="6364"/>
                  </a:cubicBezTo>
                  <a:cubicBezTo>
                    <a:pt x="1385" y="6356"/>
                    <a:pt x="1527" y="4925"/>
                    <a:pt x="1697" y="4086"/>
                  </a:cubicBezTo>
                  <a:cubicBezTo>
                    <a:pt x="1883" y="3180"/>
                    <a:pt x="1960" y="2817"/>
                    <a:pt x="2272" y="2817"/>
                  </a:cubicBezTo>
                  <a:cubicBezTo>
                    <a:pt x="2291" y="2817"/>
                    <a:pt x="2312" y="2818"/>
                    <a:pt x="2333" y="2821"/>
                  </a:cubicBezTo>
                  <a:cubicBezTo>
                    <a:pt x="2522" y="2848"/>
                    <a:pt x="3571" y="2947"/>
                    <a:pt x="4611" y="2947"/>
                  </a:cubicBezTo>
                  <a:cubicBezTo>
                    <a:pt x="5026" y="2947"/>
                    <a:pt x="5440" y="2931"/>
                    <a:pt x="5797" y="2889"/>
                  </a:cubicBezTo>
                  <a:cubicBezTo>
                    <a:pt x="7048" y="2736"/>
                    <a:pt x="7525" y="2430"/>
                    <a:pt x="7525" y="2430"/>
                  </a:cubicBezTo>
                  <a:cubicBezTo>
                    <a:pt x="8341" y="1784"/>
                    <a:pt x="8501" y="873"/>
                    <a:pt x="8303" y="53"/>
                  </a:cubicBezTo>
                  <a:lnTo>
                    <a:pt x="8303" y="53"/>
                  </a:lnTo>
                  <a:cubicBezTo>
                    <a:pt x="7799" y="301"/>
                    <a:pt x="7250" y="385"/>
                    <a:pt x="6680" y="385"/>
                  </a:cubicBezTo>
                  <a:cubicBezTo>
                    <a:pt x="5762" y="385"/>
                    <a:pt x="4791" y="166"/>
                    <a:pt x="3870" y="57"/>
                  </a:cubicBezTo>
                  <a:cubicBezTo>
                    <a:pt x="3541" y="18"/>
                    <a:pt x="3248" y="1"/>
                    <a:pt x="29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499;p25"/>
            <p:cNvSpPr/>
            <p:nvPr/>
          </p:nvSpPr>
          <p:spPr>
            <a:xfrm flipH="1">
              <a:off x="6256243" y="1710619"/>
              <a:ext cx="52475" cy="39162"/>
            </a:xfrm>
            <a:custGeom>
              <a:avLst/>
              <a:gdLst/>
              <a:ahLst/>
              <a:cxnLst/>
              <a:rect l="l" t="t" r="r" b="b"/>
              <a:pathLst>
                <a:path w="1352" h="1009" extrusionOk="0">
                  <a:moveTo>
                    <a:pt x="592" y="1"/>
                  </a:moveTo>
                  <a:cubicBezTo>
                    <a:pt x="351" y="1"/>
                    <a:pt x="118" y="136"/>
                    <a:pt x="1" y="373"/>
                  </a:cubicBezTo>
                  <a:lnTo>
                    <a:pt x="1181" y="1008"/>
                  </a:lnTo>
                  <a:cubicBezTo>
                    <a:pt x="1351" y="668"/>
                    <a:pt x="1222" y="254"/>
                    <a:pt x="895" y="77"/>
                  </a:cubicBezTo>
                  <a:cubicBezTo>
                    <a:pt x="798" y="25"/>
                    <a:pt x="694" y="1"/>
                    <a:pt x="5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500;p25"/>
            <p:cNvSpPr/>
            <p:nvPr/>
          </p:nvSpPr>
          <p:spPr>
            <a:xfrm flipH="1">
              <a:off x="6098860" y="1981059"/>
              <a:ext cx="124705" cy="76965"/>
            </a:xfrm>
            <a:custGeom>
              <a:avLst/>
              <a:gdLst/>
              <a:ahLst/>
              <a:cxnLst/>
              <a:rect l="l" t="t" r="r" b="b"/>
              <a:pathLst>
                <a:path w="3213" h="1983" extrusionOk="0">
                  <a:moveTo>
                    <a:pt x="0" y="0"/>
                  </a:moveTo>
                  <a:cubicBezTo>
                    <a:pt x="0" y="0"/>
                    <a:pt x="116" y="521"/>
                    <a:pt x="483" y="990"/>
                  </a:cubicBezTo>
                  <a:cubicBezTo>
                    <a:pt x="932" y="1561"/>
                    <a:pt x="3213" y="1982"/>
                    <a:pt x="3213" y="1982"/>
                  </a:cubicBezTo>
                  <a:lnTo>
                    <a:pt x="3213" y="1516"/>
                  </a:lnTo>
                  <a:cubicBezTo>
                    <a:pt x="3213" y="1516"/>
                    <a:pt x="1462" y="1163"/>
                    <a:pt x="850" y="837"/>
                  </a:cubicBezTo>
                  <a:cubicBezTo>
                    <a:pt x="438" y="619"/>
                    <a:pt x="102" y="242"/>
                    <a:pt x="0" y="0"/>
                  </a:cubicBezTo>
                  <a:close/>
                </a:path>
              </a:pathLst>
            </a:custGeom>
            <a:solidFill>
              <a:srgbClr val="9A4A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501;p25"/>
            <p:cNvSpPr/>
            <p:nvPr/>
          </p:nvSpPr>
          <p:spPr>
            <a:xfrm flipH="1">
              <a:off x="6115203" y="1849604"/>
              <a:ext cx="27246" cy="28450"/>
            </a:xfrm>
            <a:custGeom>
              <a:avLst/>
              <a:gdLst/>
              <a:ahLst/>
              <a:cxnLst/>
              <a:rect l="l" t="t" r="r" b="b"/>
              <a:pathLst>
                <a:path w="702" h="733" extrusionOk="0">
                  <a:moveTo>
                    <a:pt x="351" y="1"/>
                  </a:moveTo>
                  <a:cubicBezTo>
                    <a:pt x="157" y="1"/>
                    <a:pt x="1" y="164"/>
                    <a:pt x="1" y="365"/>
                  </a:cubicBezTo>
                  <a:cubicBezTo>
                    <a:pt x="1" y="569"/>
                    <a:pt x="157" y="732"/>
                    <a:pt x="351" y="732"/>
                  </a:cubicBezTo>
                  <a:cubicBezTo>
                    <a:pt x="545" y="732"/>
                    <a:pt x="702" y="569"/>
                    <a:pt x="702" y="368"/>
                  </a:cubicBezTo>
                  <a:cubicBezTo>
                    <a:pt x="702" y="167"/>
                    <a:pt x="545" y="1"/>
                    <a:pt x="35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502;p25"/>
            <p:cNvSpPr/>
            <p:nvPr/>
          </p:nvSpPr>
          <p:spPr>
            <a:xfrm flipH="1">
              <a:off x="6129563" y="1803224"/>
              <a:ext cx="33612" cy="25306"/>
            </a:xfrm>
            <a:custGeom>
              <a:avLst/>
              <a:gdLst/>
              <a:ahLst/>
              <a:cxnLst/>
              <a:rect l="l" t="t" r="r" b="b"/>
              <a:pathLst>
                <a:path w="866" h="652" extrusionOk="0">
                  <a:moveTo>
                    <a:pt x="487" y="1"/>
                  </a:moveTo>
                  <a:cubicBezTo>
                    <a:pt x="419" y="1"/>
                    <a:pt x="350" y="18"/>
                    <a:pt x="287" y="54"/>
                  </a:cubicBezTo>
                  <a:cubicBezTo>
                    <a:pt x="79" y="169"/>
                    <a:pt x="1" y="435"/>
                    <a:pt x="114" y="652"/>
                  </a:cubicBezTo>
                  <a:lnTo>
                    <a:pt x="865" y="237"/>
                  </a:lnTo>
                  <a:cubicBezTo>
                    <a:pt x="787" y="86"/>
                    <a:pt x="639" y="1"/>
                    <a:pt x="487"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503;p25"/>
            <p:cNvSpPr/>
            <p:nvPr/>
          </p:nvSpPr>
          <p:spPr>
            <a:xfrm flipH="1">
              <a:off x="6073907" y="1958082"/>
              <a:ext cx="34194" cy="23016"/>
            </a:xfrm>
            <a:custGeom>
              <a:avLst/>
              <a:gdLst/>
              <a:ahLst/>
              <a:cxnLst/>
              <a:rect l="l" t="t" r="r" b="b"/>
              <a:pathLst>
                <a:path w="881" h="593" extrusionOk="0">
                  <a:moveTo>
                    <a:pt x="82" y="1"/>
                  </a:moveTo>
                  <a:lnTo>
                    <a:pt x="82" y="1"/>
                  </a:lnTo>
                  <a:cubicBezTo>
                    <a:pt x="0" y="228"/>
                    <a:pt x="115" y="484"/>
                    <a:pt x="336" y="565"/>
                  </a:cubicBezTo>
                  <a:cubicBezTo>
                    <a:pt x="385" y="584"/>
                    <a:pt x="434" y="593"/>
                    <a:pt x="483" y="593"/>
                  </a:cubicBezTo>
                  <a:cubicBezTo>
                    <a:pt x="657" y="593"/>
                    <a:pt x="819" y="480"/>
                    <a:pt x="881" y="300"/>
                  </a:cubicBezTo>
                  <a:lnTo>
                    <a:pt x="82" y="1"/>
                  </a:lnTo>
                  <a:close/>
                </a:path>
              </a:pathLst>
            </a:custGeom>
            <a:solidFill>
              <a:srgbClr val="9A4A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504;p25"/>
            <p:cNvSpPr/>
            <p:nvPr/>
          </p:nvSpPr>
          <p:spPr>
            <a:xfrm flipH="1">
              <a:off x="5988134" y="1796354"/>
              <a:ext cx="32098" cy="27440"/>
            </a:xfrm>
            <a:custGeom>
              <a:avLst/>
              <a:gdLst/>
              <a:ahLst/>
              <a:cxnLst/>
              <a:rect l="l" t="t" r="r" b="b"/>
              <a:pathLst>
                <a:path w="827" h="707" extrusionOk="0">
                  <a:moveTo>
                    <a:pt x="343" y="0"/>
                  </a:moveTo>
                  <a:cubicBezTo>
                    <a:pt x="212" y="0"/>
                    <a:pt x="84" y="62"/>
                    <a:pt x="0" y="180"/>
                  </a:cubicBezTo>
                  <a:lnTo>
                    <a:pt x="687" y="706"/>
                  </a:lnTo>
                  <a:cubicBezTo>
                    <a:pt x="826" y="510"/>
                    <a:pt x="785" y="234"/>
                    <a:pt x="595" y="88"/>
                  </a:cubicBezTo>
                  <a:cubicBezTo>
                    <a:pt x="520" y="29"/>
                    <a:pt x="431" y="0"/>
                    <a:pt x="343"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505;p25"/>
            <p:cNvSpPr/>
            <p:nvPr/>
          </p:nvSpPr>
          <p:spPr>
            <a:xfrm flipH="1">
              <a:off x="6001718" y="1845800"/>
              <a:ext cx="27363" cy="28411"/>
            </a:xfrm>
            <a:custGeom>
              <a:avLst/>
              <a:gdLst/>
              <a:ahLst/>
              <a:cxnLst/>
              <a:rect l="l" t="t" r="r" b="b"/>
              <a:pathLst>
                <a:path w="705" h="732" extrusionOk="0">
                  <a:moveTo>
                    <a:pt x="351" y="0"/>
                  </a:moveTo>
                  <a:cubicBezTo>
                    <a:pt x="157" y="0"/>
                    <a:pt x="1" y="163"/>
                    <a:pt x="1" y="364"/>
                  </a:cubicBezTo>
                  <a:cubicBezTo>
                    <a:pt x="1" y="565"/>
                    <a:pt x="157" y="728"/>
                    <a:pt x="351" y="731"/>
                  </a:cubicBezTo>
                  <a:cubicBezTo>
                    <a:pt x="544" y="731"/>
                    <a:pt x="704" y="568"/>
                    <a:pt x="704" y="367"/>
                  </a:cubicBezTo>
                  <a:cubicBezTo>
                    <a:pt x="704" y="163"/>
                    <a:pt x="544" y="0"/>
                    <a:pt x="351"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506;p25"/>
            <p:cNvSpPr/>
            <p:nvPr/>
          </p:nvSpPr>
          <p:spPr>
            <a:xfrm flipH="1">
              <a:off x="6023918" y="1847120"/>
              <a:ext cx="47390" cy="81972"/>
            </a:xfrm>
            <a:custGeom>
              <a:avLst/>
              <a:gdLst/>
              <a:ahLst/>
              <a:cxnLst/>
              <a:rect l="l" t="t" r="r" b="b"/>
              <a:pathLst>
                <a:path w="1221" h="2112" extrusionOk="0">
                  <a:moveTo>
                    <a:pt x="0" y="1"/>
                  </a:moveTo>
                  <a:lnTo>
                    <a:pt x="116" y="2111"/>
                  </a:lnTo>
                  <a:lnTo>
                    <a:pt x="1221" y="1734"/>
                  </a:lnTo>
                  <a:lnTo>
                    <a:pt x="0" y="1"/>
                  </a:lnTo>
                  <a:close/>
                </a:path>
              </a:pathLst>
            </a:custGeom>
            <a:solidFill>
              <a:srgbClr val="9A4A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507;p25"/>
            <p:cNvSpPr/>
            <p:nvPr/>
          </p:nvSpPr>
          <p:spPr>
            <a:xfrm flipH="1">
              <a:off x="6056478" y="2123963"/>
              <a:ext cx="129090" cy="65904"/>
            </a:xfrm>
            <a:custGeom>
              <a:avLst/>
              <a:gdLst/>
              <a:ahLst/>
              <a:cxnLst/>
              <a:rect l="l" t="t" r="r" b="b"/>
              <a:pathLst>
                <a:path w="3326" h="1698" extrusionOk="0">
                  <a:moveTo>
                    <a:pt x="2128" y="1"/>
                  </a:moveTo>
                  <a:lnTo>
                    <a:pt x="2034" y="955"/>
                  </a:lnTo>
                  <a:lnTo>
                    <a:pt x="898" y="98"/>
                  </a:lnTo>
                  <a:lnTo>
                    <a:pt x="0" y="993"/>
                  </a:lnTo>
                  <a:cubicBezTo>
                    <a:pt x="360" y="1369"/>
                    <a:pt x="1112" y="1697"/>
                    <a:pt x="1786" y="1697"/>
                  </a:cubicBezTo>
                  <a:cubicBezTo>
                    <a:pt x="1856" y="1697"/>
                    <a:pt x="1925" y="1694"/>
                    <a:pt x="1993" y="1686"/>
                  </a:cubicBezTo>
                  <a:cubicBezTo>
                    <a:pt x="2713" y="1605"/>
                    <a:pt x="3111" y="1394"/>
                    <a:pt x="3325" y="884"/>
                  </a:cubicBezTo>
                  <a:lnTo>
                    <a:pt x="2128" y="1"/>
                  </a:lnTo>
                  <a:close/>
                </a:path>
              </a:pathLst>
            </a:custGeom>
            <a:solidFill>
              <a:srgbClr val="27DE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508;p25"/>
            <p:cNvSpPr/>
            <p:nvPr/>
          </p:nvSpPr>
          <p:spPr>
            <a:xfrm flipH="1">
              <a:off x="6056478" y="2123963"/>
              <a:ext cx="129090" cy="62954"/>
            </a:xfrm>
            <a:custGeom>
              <a:avLst/>
              <a:gdLst/>
              <a:ahLst/>
              <a:cxnLst/>
              <a:rect l="l" t="t" r="r" b="b"/>
              <a:pathLst>
                <a:path w="3326" h="1622" extrusionOk="0">
                  <a:moveTo>
                    <a:pt x="2128" y="1"/>
                  </a:moveTo>
                  <a:lnTo>
                    <a:pt x="2034" y="955"/>
                  </a:lnTo>
                  <a:lnTo>
                    <a:pt x="2034" y="955"/>
                  </a:lnTo>
                  <a:lnTo>
                    <a:pt x="2761" y="605"/>
                  </a:lnTo>
                  <a:cubicBezTo>
                    <a:pt x="2761" y="605"/>
                    <a:pt x="2903" y="1003"/>
                    <a:pt x="2894" y="1421"/>
                  </a:cubicBezTo>
                  <a:cubicBezTo>
                    <a:pt x="3087" y="1295"/>
                    <a:pt x="3227" y="1123"/>
                    <a:pt x="3325" y="884"/>
                  </a:cubicBezTo>
                  <a:lnTo>
                    <a:pt x="2128" y="1"/>
                  </a:lnTo>
                  <a:close/>
                  <a:moveTo>
                    <a:pt x="898" y="98"/>
                  </a:moveTo>
                  <a:lnTo>
                    <a:pt x="21" y="969"/>
                  </a:lnTo>
                  <a:lnTo>
                    <a:pt x="0" y="993"/>
                  </a:lnTo>
                  <a:cubicBezTo>
                    <a:pt x="255" y="1261"/>
                    <a:pt x="711" y="1503"/>
                    <a:pt x="1193" y="1622"/>
                  </a:cubicBezTo>
                  <a:cubicBezTo>
                    <a:pt x="1095" y="1388"/>
                    <a:pt x="1037" y="1126"/>
                    <a:pt x="1047" y="843"/>
                  </a:cubicBezTo>
                  <a:lnTo>
                    <a:pt x="1047" y="843"/>
                  </a:lnTo>
                  <a:lnTo>
                    <a:pt x="2034" y="955"/>
                  </a:lnTo>
                  <a:lnTo>
                    <a:pt x="898" y="98"/>
                  </a:lnTo>
                  <a:close/>
                </a:path>
              </a:pathLst>
            </a:custGeom>
            <a:solidFill>
              <a:srgbClr val="146B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509;p25"/>
            <p:cNvSpPr/>
            <p:nvPr/>
          </p:nvSpPr>
          <p:spPr>
            <a:xfrm flipH="1">
              <a:off x="6071422" y="2147445"/>
              <a:ext cx="74559" cy="73394"/>
            </a:xfrm>
            <a:custGeom>
              <a:avLst/>
              <a:gdLst/>
              <a:ahLst/>
              <a:cxnLst/>
              <a:rect l="l" t="t" r="r" b="b"/>
              <a:pathLst>
                <a:path w="1921" h="1891" extrusionOk="0">
                  <a:moveTo>
                    <a:pt x="1741" y="0"/>
                  </a:moveTo>
                  <a:lnTo>
                    <a:pt x="1014" y="350"/>
                  </a:lnTo>
                  <a:lnTo>
                    <a:pt x="27" y="238"/>
                  </a:lnTo>
                  <a:lnTo>
                    <a:pt x="27" y="238"/>
                  </a:lnTo>
                  <a:cubicBezTo>
                    <a:pt x="0" y="925"/>
                    <a:pt x="385" y="1489"/>
                    <a:pt x="765" y="1843"/>
                  </a:cubicBezTo>
                  <a:cubicBezTo>
                    <a:pt x="881" y="1877"/>
                    <a:pt x="986" y="1890"/>
                    <a:pt x="1079" y="1890"/>
                  </a:cubicBezTo>
                  <a:cubicBezTo>
                    <a:pt x="1374" y="1890"/>
                    <a:pt x="1540" y="1758"/>
                    <a:pt x="1540" y="1758"/>
                  </a:cubicBezTo>
                  <a:cubicBezTo>
                    <a:pt x="1540" y="1758"/>
                    <a:pt x="1799" y="1456"/>
                    <a:pt x="1860" y="959"/>
                  </a:cubicBezTo>
                  <a:cubicBezTo>
                    <a:pt x="1921" y="493"/>
                    <a:pt x="1741" y="0"/>
                    <a:pt x="17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510;p25"/>
            <p:cNvSpPr/>
            <p:nvPr/>
          </p:nvSpPr>
          <p:spPr>
            <a:xfrm flipH="1">
              <a:off x="6037229" y="2215637"/>
              <a:ext cx="97303" cy="362431"/>
            </a:xfrm>
            <a:custGeom>
              <a:avLst/>
              <a:gdLst/>
              <a:ahLst/>
              <a:cxnLst/>
              <a:rect l="l" t="t" r="r" b="b"/>
              <a:pathLst>
                <a:path w="2507" h="9338" extrusionOk="0">
                  <a:moveTo>
                    <a:pt x="1245" y="1"/>
                  </a:moveTo>
                  <a:lnTo>
                    <a:pt x="470" y="86"/>
                  </a:lnTo>
                  <a:cubicBezTo>
                    <a:pt x="470" y="86"/>
                    <a:pt x="1" y="6740"/>
                    <a:pt x="14" y="7209"/>
                  </a:cubicBezTo>
                  <a:cubicBezTo>
                    <a:pt x="28" y="7679"/>
                    <a:pt x="889" y="9337"/>
                    <a:pt x="1337" y="9337"/>
                  </a:cubicBezTo>
                  <a:cubicBezTo>
                    <a:pt x="1339" y="9337"/>
                    <a:pt x="1341" y="9337"/>
                    <a:pt x="1344" y="9337"/>
                  </a:cubicBezTo>
                  <a:cubicBezTo>
                    <a:pt x="1789" y="9323"/>
                    <a:pt x="2506" y="7477"/>
                    <a:pt x="2459" y="6957"/>
                  </a:cubicBezTo>
                  <a:cubicBezTo>
                    <a:pt x="2412" y="6437"/>
                    <a:pt x="1245" y="1"/>
                    <a:pt x="12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511;p25"/>
            <p:cNvSpPr/>
            <p:nvPr/>
          </p:nvSpPr>
          <p:spPr>
            <a:xfrm flipH="1">
              <a:off x="6086211" y="2215637"/>
              <a:ext cx="39" cy="194"/>
            </a:xfrm>
            <a:custGeom>
              <a:avLst/>
              <a:gdLst/>
              <a:ahLst/>
              <a:cxnLst/>
              <a:rect l="l" t="t" r="r" b="b"/>
              <a:pathLst>
                <a:path w="1" h="5" extrusionOk="0">
                  <a:moveTo>
                    <a:pt x="1" y="1"/>
                  </a:moveTo>
                  <a:lnTo>
                    <a:pt x="1" y="1"/>
                  </a:lnTo>
                  <a:lnTo>
                    <a:pt x="1" y="5"/>
                  </a:lnTo>
                  <a:close/>
                </a:path>
              </a:pathLst>
            </a:custGeom>
            <a:solidFill>
              <a:srgbClr val="DCDC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512;p25"/>
            <p:cNvSpPr/>
            <p:nvPr/>
          </p:nvSpPr>
          <p:spPr>
            <a:xfrm flipH="1">
              <a:off x="6085513" y="2216296"/>
              <a:ext cx="543" cy="3338"/>
            </a:xfrm>
            <a:custGeom>
              <a:avLst/>
              <a:gdLst/>
              <a:ahLst/>
              <a:cxnLst/>
              <a:rect l="l" t="t" r="r" b="b"/>
              <a:pathLst>
                <a:path w="14" h="86" extrusionOk="0">
                  <a:moveTo>
                    <a:pt x="0" y="1"/>
                  </a:moveTo>
                  <a:lnTo>
                    <a:pt x="8" y="54"/>
                  </a:lnTo>
                  <a:lnTo>
                    <a:pt x="8" y="54"/>
                  </a:lnTo>
                  <a:cubicBezTo>
                    <a:pt x="5" y="30"/>
                    <a:pt x="2" y="13"/>
                    <a:pt x="0" y="1"/>
                  </a:cubicBezTo>
                  <a:close/>
                  <a:moveTo>
                    <a:pt x="8" y="54"/>
                  </a:moveTo>
                  <a:cubicBezTo>
                    <a:pt x="10" y="64"/>
                    <a:pt x="11" y="74"/>
                    <a:pt x="13" y="86"/>
                  </a:cubicBezTo>
                  <a:lnTo>
                    <a:pt x="8" y="54"/>
                  </a:lnTo>
                  <a:close/>
                </a:path>
              </a:pathLst>
            </a:custGeom>
            <a:solidFill>
              <a:srgbClr val="DCDC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513;p25"/>
            <p:cNvSpPr/>
            <p:nvPr/>
          </p:nvSpPr>
          <p:spPr>
            <a:xfrm flipH="1">
              <a:off x="6085512" y="2215637"/>
              <a:ext cx="31205" cy="11527"/>
            </a:xfrm>
            <a:custGeom>
              <a:avLst/>
              <a:gdLst/>
              <a:ahLst/>
              <a:cxnLst/>
              <a:rect l="l" t="t" r="r" b="b"/>
              <a:pathLst>
                <a:path w="804" h="297" extrusionOk="0">
                  <a:moveTo>
                    <a:pt x="786" y="1"/>
                  </a:moveTo>
                  <a:cubicBezTo>
                    <a:pt x="630" y="117"/>
                    <a:pt x="470" y="151"/>
                    <a:pt x="334" y="151"/>
                  </a:cubicBezTo>
                  <a:cubicBezTo>
                    <a:pt x="147" y="151"/>
                    <a:pt x="11" y="86"/>
                    <a:pt x="11" y="86"/>
                  </a:cubicBezTo>
                  <a:lnTo>
                    <a:pt x="1" y="263"/>
                  </a:lnTo>
                  <a:cubicBezTo>
                    <a:pt x="89" y="286"/>
                    <a:pt x="174" y="297"/>
                    <a:pt x="252" y="297"/>
                  </a:cubicBezTo>
                  <a:cubicBezTo>
                    <a:pt x="589" y="297"/>
                    <a:pt x="803" y="103"/>
                    <a:pt x="803" y="103"/>
                  </a:cubicBezTo>
                  <a:cubicBezTo>
                    <a:pt x="797" y="62"/>
                    <a:pt x="793" y="35"/>
                    <a:pt x="790" y="18"/>
                  </a:cubicBezTo>
                  <a:lnTo>
                    <a:pt x="790" y="15"/>
                  </a:lnTo>
                  <a:lnTo>
                    <a:pt x="790" y="11"/>
                  </a:lnTo>
                  <a:lnTo>
                    <a:pt x="790" y="8"/>
                  </a:lnTo>
                  <a:lnTo>
                    <a:pt x="786" y="8"/>
                  </a:lnTo>
                  <a:lnTo>
                    <a:pt x="786" y="5"/>
                  </a:lnTo>
                  <a:lnTo>
                    <a:pt x="786" y="1"/>
                  </a:lnTo>
                  <a:close/>
                </a:path>
              </a:pathLst>
            </a:custGeom>
            <a:solidFill>
              <a:srgbClr val="146B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514;p25"/>
            <p:cNvSpPr/>
            <p:nvPr/>
          </p:nvSpPr>
          <p:spPr>
            <a:xfrm flipH="1">
              <a:off x="6106621" y="2035007"/>
              <a:ext cx="164449" cy="169455"/>
            </a:xfrm>
            <a:custGeom>
              <a:avLst/>
              <a:gdLst/>
              <a:ahLst/>
              <a:cxnLst/>
              <a:rect l="l" t="t" r="r" b="b"/>
              <a:pathLst>
                <a:path w="4237" h="4366" extrusionOk="0">
                  <a:moveTo>
                    <a:pt x="935" y="1"/>
                  </a:moveTo>
                  <a:cubicBezTo>
                    <a:pt x="935" y="1"/>
                    <a:pt x="170" y="293"/>
                    <a:pt x="0" y="1640"/>
                  </a:cubicBezTo>
                  <a:cubicBezTo>
                    <a:pt x="466" y="2727"/>
                    <a:pt x="1316" y="3655"/>
                    <a:pt x="2560" y="4366"/>
                  </a:cubicBezTo>
                  <a:lnTo>
                    <a:pt x="3250" y="3135"/>
                  </a:lnTo>
                  <a:lnTo>
                    <a:pt x="4237" y="3247"/>
                  </a:lnTo>
                  <a:lnTo>
                    <a:pt x="4237" y="3247"/>
                  </a:lnTo>
                  <a:lnTo>
                    <a:pt x="948" y="746"/>
                  </a:lnTo>
                  <a:lnTo>
                    <a:pt x="935"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515;p25"/>
            <p:cNvSpPr/>
            <p:nvPr/>
          </p:nvSpPr>
          <p:spPr>
            <a:xfrm flipH="1">
              <a:off x="6044875" y="2048358"/>
              <a:ext cx="61789" cy="126839"/>
            </a:xfrm>
            <a:custGeom>
              <a:avLst/>
              <a:gdLst/>
              <a:ahLst/>
              <a:cxnLst/>
              <a:rect l="l" t="t" r="r" b="b"/>
              <a:pathLst>
                <a:path w="1592" h="3268" extrusionOk="0">
                  <a:moveTo>
                    <a:pt x="201" y="0"/>
                  </a:moveTo>
                  <a:lnTo>
                    <a:pt x="205" y="956"/>
                  </a:lnTo>
                  <a:cubicBezTo>
                    <a:pt x="205" y="956"/>
                    <a:pt x="68" y="2214"/>
                    <a:pt x="1" y="2903"/>
                  </a:cubicBezTo>
                  <a:lnTo>
                    <a:pt x="728" y="2553"/>
                  </a:lnTo>
                  <a:lnTo>
                    <a:pt x="1517" y="3267"/>
                  </a:lnTo>
                  <a:cubicBezTo>
                    <a:pt x="1517" y="3267"/>
                    <a:pt x="1592" y="1194"/>
                    <a:pt x="1261" y="650"/>
                  </a:cubicBezTo>
                  <a:cubicBezTo>
                    <a:pt x="932" y="105"/>
                    <a:pt x="201" y="0"/>
                    <a:pt x="201" y="0"/>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3" name="Group 142">
            <a:extLst>
              <a:ext uri="{FF2B5EF4-FFF2-40B4-BE49-F238E27FC236}">
                <a16:creationId xmlns:a16="http://schemas.microsoft.com/office/drawing/2014/main" id="{DE1462C3-B8EB-4224-A347-90715011D459}"/>
              </a:ext>
            </a:extLst>
          </p:cNvPr>
          <p:cNvGrpSpPr/>
          <p:nvPr/>
        </p:nvGrpSpPr>
        <p:grpSpPr>
          <a:xfrm>
            <a:off x="968426" y="1662693"/>
            <a:ext cx="7878022" cy="3599251"/>
            <a:chOff x="7744772" y="1193235"/>
            <a:chExt cx="8198061" cy="3599251"/>
          </a:xfrm>
        </p:grpSpPr>
        <p:cxnSp>
          <p:nvCxnSpPr>
            <p:cNvPr id="144" name="Straight Connector 143">
              <a:extLst>
                <a:ext uri="{FF2B5EF4-FFF2-40B4-BE49-F238E27FC236}">
                  <a16:creationId xmlns:a16="http://schemas.microsoft.com/office/drawing/2014/main" id="{1CEF088E-55D3-4F5B-8A74-23778A3E50DA}"/>
                </a:ext>
              </a:extLst>
            </p:cNvPr>
            <p:cNvCxnSpPr/>
            <p:nvPr/>
          </p:nvCxnSpPr>
          <p:spPr>
            <a:xfrm>
              <a:off x="7744772" y="1820746"/>
              <a:ext cx="3218752"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8FCC7AFB-8640-4B42-AB5C-CA7AAC76FD01}"/>
                </a:ext>
              </a:extLst>
            </p:cNvPr>
            <p:cNvCxnSpPr/>
            <p:nvPr/>
          </p:nvCxnSpPr>
          <p:spPr>
            <a:xfrm>
              <a:off x="7744772" y="4233130"/>
              <a:ext cx="3218752"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46" name="Rectangle 145">
              <a:extLst>
                <a:ext uri="{FF2B5EF4-FFF2-40B4-BE49-F238E27FC236}">
                  <a16:creationId xmlns:a16="http://schemas.microsoft.com/office/drawing/2014/main" id="{43E47168-2625-432A-B400-BF6D787C763B}"/>
                </a:ext>
              </a:extLst>
            </p:cNvPr>
            <p:cNvSpPr/>
            <p:nvPr/>
          </p:nvSpPr>
          <p:spPr>
            <a:xfrm>
              <a:off x="8545161" y="1256395"/>
              <a:ext cx="7397672" cy="369332"/>
            </a:xfrm>
            <a:prstGeom prst="rect">
              <a:avLst/>
            </a:prstGeom>
          </p:spPr>
          <p:txBody>
            <a:bodyPr wrap="square" lIns="0" tIns="0" rIns="0" bIns="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600"/>
                </a:spcBef>
                <a:spcAft>
                  <a:spcPts val="600"/>
                </a:spcAft>
                <a:buClr>
                  <a:schemeClr val="accent6">
                    <a:lumMod val="75000"/>
                  </a:schemeClr>
                </a:buClr>
                <a:buSzPct val="120000"/>
              </a:pPr>
              <a:r>
                <a:rPr lang="en-US" sz="2400" b="1" dirty="0"/>
                <a:t> </a:t>
              </a:r>
              <a:r>
                <a:rPr lang="en-US" sz="2400" b="1" dirty="0">
                  <a:solidFill>
                    <a:schemeClr val="tx1">
                      <a:lumMod val="75000"/>
                      <a:lumOff val="25000"/>
                    </a:schemeClr>
                  </a:solidFill>
                  <a:latin typeface="Arial Black" panose="020B0A04020102020204" pitchFamily="34" charset="0"/>
                </a:rPr>
                <a:t>SQL</a:t>
              </a:r>
              <a:r>
                <a:rPr lang="en-US" sz="2400" b="1" dirty="0"/>
                <a:t> </a:t>
              </a:r>
              <a:r>
                <a:rPr lang="en-US" sz="2400" b="1" dirty="0">
                  <a:solidFill>
                    <a:schemeClr val="tx1">
                      <a:lumMod val="75000"/>
                      <a:lumOff val="25000"/>
                    </a:schemeClr>
                  </a:solidFill>
                  <a:latin typeface="Arial Black" panose="020B0A04020102020204" pitchFamily="34" charset="0"/>
                </a:rPr>
                <a:t>Overview</a:t>
              </a:r>
            </a:p>
          </p:txBody>
        </p:sp>
        <p:grpSp>
          <p:nvGrpSpPr>
            <p:cNvPr id="147" name="Group 146">
              <a:extLst>
                <a:ext uri="{FF2B5EF4-FFF2-40B4-BE49-F238E27FC236}">
                  <a16:creationId xmlns:a16="http://schemas.microsoft.com/office/drawing/2014/main" id="{7C3B389F-FC46-428D-B9B4-392C4EBCE6C3}"/>
                </a:ext>
              </a:extLst>
            </p:cNvPr>
            <p:cNvGrpSpPr/>
            <p:nvPr/>
          </p:nvGrpSpPr>
          <p:grpSpPr>
            <a:xfrm>
              <a:off x="7744772" y="1193235"/>
              <a:ext cx="633536" cy="450894"/>
              <a:chOff x="7235832" y="1169640"/>
              <a:chExt cx="633536" cy="450894"/>
            </a:xfrm>
          </p:grpSpPr>
          <p:grpSp>
            <p:nvGrpSpPr>
              <p:cNvPr id="176" name="Group 175">
                <a:extLst>
                  <a:ext uri="{FF2B5EF4-FFF2-40B4-BE49-F238E27FC236}">
                    <a16:creationId xmlns:a16="http://schemas.microsoft.com/office/drawing/2014/main" id="{AD866829-4A0F-4C18-8E60-F9F4A560C240}"/>
                  </a:ext>
                </a:extLst>
              </p:cNvPr>
              <p:cNvGrpSpPr/>
              <p:nvPr/>
            </p:nvGrpSpPr>
            <p:grpSpPr>
              <a:xfrm>
                <a:off x="7235832" y="1169640"/>
                <a:ext cx="633536" cy="450894"/>
                <a:chOff x="7235832" y="1169640"/>
                <a:chExt cx="633536" cy="450894"/>
              </a:xfrm>
            </p:grpSpPr>
            <p:sp>
              <p:nvSpPr>
                <p:cNvPr id="178" name="Flowchart: Off-page Connector 177">
                  <a:extLst>
                    <a:ext uri="{FF2B5EF4-FFF2-40B4-BE49-F238E27FC236}">
                      <a16:creationId xmlns:a16="http://schemas.microsoft.com/office/drawing/2014/main" id="{9426A5CC-212C-4F45-8A51-60DEBDE63CA9}"/>
                    </a:ext>
                  </a:extLst>
                </p:cNvPr>
                <p:cNvSpPr/>
                <p:nvPr/>
              </p:nvSpPr>
              <p:spPr>
                <a:xfrm rot="16200000">
                  <a:off x="7429476" y="1180642"/>
                  <a:ext cx="396164" cy="483620"/>
                </a:xfrm>
                <a:prstGeom prst="flowChartOffpageConnector">
                  <a:avLst/>
                </a:prstGeom>
                <a:gradFill>
                  <a:gsLst>
                    <a:gs pos="0">
                      <a:srgbClr val="F21A28"/>
                    </a:gs>
                    <a:gs pos="100000">
                      <a:srgbClr val="AE0A16"/>
                    </a:gs>
                  </a:gsLst>
                  <a:lin ang="10800000" scaled="0"/>
                </a:gra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
              <p:nvSpPr>
                <p:cNvPr id="179" name="TextBox 48">
                  <a:extLst>
                    <a:ext uri="{FF2B5EF4-FFF2-40B4-BE49-F238E27FC236}">
                      <a16:creationId xmlns:a16="http://schemas.microsoft.com/office/drawing/2014/main" id="{3B5BF797-FE1D-48C6-A95A-919416275775}"/>
                    </a:ext>
                  </a:extLst>
                </p:cNvPr>
                <p:cNvSpPr txBox="1"/>
                <p:nvPr/>
              </p:nvSpPr>
              <p:spPr>
                <a:xfrm>
                  <a:off x="7463300" y="1300152"/>
                  <a:ext cx="311482" cy="276999"/>
                </a:xfrm>
                <a:prstGeom prst="rect">
                  <a:avLst/>
                </a:prstGeom>
                <a:noFill/>
              </p:spPr>
              <p:txBody>
                <a:bodyPr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d-ID" b="1" dirty="0">
                      <a:solidFill>
                        <a:schemeClr val="bg1"/>
                      </a:solidFill>
                    </a:rPr>
                    <a:t>1.</a:t>
                  </a:r>
                  <a:endParaRPr lang="en-US" b="1" dirty="0">
                    <a:solidFill>
                      <a:schemeClr val="bg1"/>
                    </a:solidFill>
                  </a:endParaRPr>
                </a:p>
              </p:txBody>
            </p:sp>
            <p:sp>
              <p:nvSpPr>
                <p:cNvPr id="180" name="Freeform: Shape 143">
                  <a:extLst>
                    <a:ext uri="{FF2B5EF4-FFF2-40B4-BE49-F238E27FC236}">
                      <a16:creationId xmlns:a16="http://schemas.microsoft.com/office/drawing/2014/main" id="{FC24446F-6F39-4C84-B6D0-278099F7986D}"/>
                    </a:ext>
                  </a:extLst>
                </p:cNvPr>
                <p:cNvSpPr/>
                <p:nvPr/>
              </p:nvSpPr>
              <p:spPr>
                <a:xfrm rot="18956483">
                  <a:off x="7235832" y="1169640"/>
                  <a:ext cx="553525" cy="382739"/>
                </a:xfrm>
                <a:custGeom>
                  <a:avLst/>
                  <a:gdLst>
                    <a:gd name="connsiteX0" fmla="*/ 275490 w 553525"/>
                    <a:gd name="connsiteY0" fmla="*/ 0 h 382739"/>
                    <a:gd name="connsiteX1" fmla="*/ 553525 w 553525"/>
                    <a:gd name="connsiteY1" fmla="*/ 269045 h 382739"/>
                    <a:gd name="connsiteX2" fmla="*/ 540502 w 553525"/>
                    <a:gd name="connsiteY2" fmla="*/ 309049 h 382739"/>
                    <a:gd name="connsiteX3" fmla="*/ 485290 w 553525"/>
                    <a:gd name="connsiteY3" fmla="*/ 339596 h 382739"/>
                    <a:gd name="connsiteX4" fmla="*/ 274656 w 553525"/>
                    <a:gd name="connsiteY4" fmla="*/ 382739 h 382739"/>
                    <a:gd name="connsiteX5" fmla="*/ 64022 w 553525"/>
                    <a:gd name="connsiteY5" fmla="*/ 339596 h 382739"/>
                    <a:gd name="connsiteX6" fmla="*/ 47011 w 553525"/>
                    <a:gd name="connsiteY6" fmla="*/ 330185 h 382739"/>
                    <a:gd name="connsiteX7" fmla="*/ 0 w 553525"/>
                    <a:gd name="connsiteY7" fmla="*/ 284695 h 382739"/>
                    <a:gd name="connsiteX8" fmla="*/ 275490 w 553525"/>
                    <a:gd name="connsiteY8" fmla="*/ 0 h 382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3525" h="382739">
                      <a:moveTo>
                        <a:pt x="275490" y="0"/>
                      </a:moveTo>
                      <a:lnTo>
                        <a:pt x="553525" y="269045"/>
                      </a:lnTo>
                      <a:lnTo>
                        <a:pt x="540502" y="309049"/>
                      </a:lnTo>
                      <a:lnTo>
                        <a:pt x="485290" y="339596"/>
                      </a:lnTo>
                      <a:cubicBezTo>
                        <a:pt x="425163" y="366834"/>
                        <a:pt x="352680" y="382739"/>
                        <a:pt x="274656" y="382739"/>
                      </a:cubicBezTo>
                      <a:cubicBezTo>
                        <a:pt x="196632" y="382739"/>
                        <a:pt x="124148" y="366834"/>
                        <a:pt x="64022" y="339596"/>
                      </a:cubicBezTo>
                      <a:lnTo>
                        <a:pt x="47011" y="330185"/>
                      </a:lnTo>
                      <a:lnTo>
                        <a:pt x="0" y="284695"/>
                      </a:lnTo>
                      <a:lnTo>
                        <a:pt x="275490" y="0"/>
                      </a:lnTo>
                      <a:close/>
                    </a:path>
                  </a:pathLst>
                </a:custGeom>
                <a:gradFill>
                  <a:gsLst>
                    <a:gs pos="100000">
                      <a:schemeClr val="bg1">
                        <a:alpha val="53000"/>
                      </a:schemeClr>
                    </a:gs>
                    <a:gs pos="3000">
                      <a:schemeClr val="bg1">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sp>
            <p:nvSpPr>
              <p:cNvPr id="177" name="Rectangle 176">
                <a:extLst>
                  <a:ext uri="{FF2B5EF4-FFF2-40B4-BE49-F238E27FC236}">
                    <a16:creationId xmlns:a16="http://schemas.microsoft.com/office/drawing/2014/main" id="{2976B78C-A589-4489-8C67-5505CD3C9775}"/>
                  </a:ext>
                </a:extLst>
              </p:cNvPr>
              <p:cNvSpPr/>
              <p:nvPr/>
            </p:nvSpPr>
            <p:spPr>
              <a:xfrm>
                <a:off x="7271642" y="1224360"/>
                <a:ext cx="62282" cy="390629"/>
              </a:xfrm>
              <a:prstGeom prst="rect">
                <a:avLst/>
              </a:prstGeom>
              <a:gradFill>
                <a:gsLst>
                  <a:gs pos="100000">
                    <a:srgbClr val="F21A28"/>
                  </a:gs>
                  <a:gs pos="0">
                    <a:srgbClr val="AE0A16"/>
                  </a:gs>
                </a:gsLst>
                <a:lin ang="12600000" scaled="0"/>
              </a:gradFill>
              <a:ln>
                <a:noFill/>
              </a:ln>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tx1"/>
                  </a:solidFill>
                </a:endParaRPr>
              </a:p>
            </p:txBody>
          </p:sp>
        </p:grpSp>
        <p:sp>
          <p:nvSpPr>
            <p:cNvPr id="148" name="Rectangle 147">
              <a:extLst>
                <a:ext uri="{FF2B5EF4-FFF2-40B4-BE49-F238E27FC236}">
                  <a16:creationId xmlns:a16="http://schemas.microsoft.com/office/drawing/2014/main" id="{07C50EB6-CCF5-47E0-8BB5-2AEDB0B4203B}"/>
                </a:ext>
              </a:extLst>
            </p:cNvPr>
            <p:cNvSpPr/>
            <p:nvPr/>
          </p:nvSpPr>
          <p:spPr>
            <a:xfrm>
              <a:off x="8545161" y="2058920"/>
              <a:ext cx="7397672" cy="369332"/>
            </a:xfrm>
            <a:prstGeom prst="rect">
              <a:avLst/>
            </a:prstGeom>
          </p:spPr>
          <p:txBody>
            <a:bodyPr wrap="square" lIns="0" tIns="0" rIns="0" bIns="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600"/>
                </a:spcBef>
                <a:spcAft>
                  <a:spcPts val="600"/>
                </a:spcAft>
                <a:buClr>
                  <a:schemeClr val="accent6">
                    <a:lumMod val="75000"/>
                  </a:schemeClr>
                </a:buClr>
                <a:buSzPct val="120000"/>
              </a:pPr>
              <a:r>
                <a:rPr lang="en-US" sz="2400" b="1" dirty="0">
                  <a:solidFill>
                    <a:schemeClr val="tx1">
                      <a:lumMod val="75000"/>
                      <a:lumOff val="25000"/>
                    </a:schemeClr>
                  </a:solidFill>
                  <a:latin typeface="Arial Black" panose="020B0A04020102020204" pitchFamily="34" charset="0"/>
                </a:rPr>
                <a:t>The</a:t>
              </a:r>
              <a:r>
                <a:rPr lang="en-US" sz="2400" b="1" dirty="0"/>
                <a:t> </a:t>
              </a:r>
              <a:r>
                <a:rPr lang="en-US" sz="2400" b="1" dirty="0">
                  <a:solidFill>
                    <a:schemeClr val="tx1">
                      <a:lumMod val="75000"/>
                      <a:lumOff val="25000"/>
                    </a:schemeClr>
                  </a:solidFill>
                  <a:latin typeface="Arial Black" panose="020B0A04020102020204" pitchFamily="34" charset="0"/>
                </a:rPr>
                <a:t>Relational</a:t>
              </a:r>
              <a:r>
                <a:rPr lang="en-US" sz="2400" b="1" dirty="0"/>
                <a:t> </a:t>
              </a:r>
              <a:r>
                <a:rPr lang="en-US" sz="2400" b="1" dirty="0">
                  <a:solidFill>
                    <a:schemeClr val="tx1">
                      <a:lumMod val="75000"/>
                      <a:lumOff val="25000"/>
                    </a:schemeClr>
                  </a:solidFill>
                  <a:latin typeface="Arial Black" panose="020B0A04020102020204" pitchFamily="34" charset="0"/>
                </a:rPr>
                <a:t>Database</a:t>
              </a:r>
            </a:p>
          </p:txBody>
        </p:sp>
        <p:sp>
          <p:nvSpPr>
            <p:cNvPr id="149" name="Freeform: Shape 195">
              <a:extLst>
                <a:ext uri="{FF2B5EF4-FFF2-40B4-BE49-F238E27FC236}">
                  <a16:creationId xmlns:a16="http://schemas.microsoft.com/office/drawing/2014/main" id="{E820DD23-DEF8-477C-B3DA-A1A83D2C9EF4}"/>
                </a:ext>
              </a:extLst>
            </p:cNvPr>
            <p:cNvSpPr/>
            <p:nvPr/>
          </p:nvSpPr>
          <p:spPr>
            <a:xfrm rot="18956483">
              <a:off x="7799977" y="4409747"/>
              <a:ext cx="553525" cy="382739"/>
            </a:xfrm>
            <a:custGeom>
              <a:avLst/>
              <a:gdLst>
                <a:gd name="connsiteX0" fmla="*/ 275490 w 553525"/>
                <a:gd name="connsiteY0" fmla="*/ 0 h 382739"/>
                <a:gd name="connsiteX1" fmla="*/ 553525 w 553525"/>
                <a:gd name="connsiteY1" fmla="*/ 269045 h 382739"/>
                <a:gd name="connsiteX2" fmla="*/ 540502 w 553525"/>
                <a:gd name="connsiteY2" fmla="*/ 309049 h 382739"/>
                <a:gd name="connsiteX3" fmla="*/ 485290 w 553525"/>
                <a:gd name="connsiteY3" fmla="*/ 339596 h 382739"/>
                <a:gd name="connsiteX4" fmla="*/ 274656 w 553525"/>
                <a:gd name="connsiteY4" fmla="*/ 382739 h 382739"/>
                <a:gd name="connsiteX5" fmla="*/ 64022 w 553525"/>
                <a:gd name="connsiteY5" fmla="*/ 339596 h 382739"/>
                <a:gd name="connsiteX6" fmla="*/ 47011 w 553525"/>
                <a:gd name="connsiteY6" fmla="*/ 330185 h 382739"/>
                <a:gd name="connsiteX7" fmla="*/ 0 w 553525"/>
                <a:gd name="connsiteY7" fmla="*/ 284695 h 382739"/>
                <a:gd name="connsiteX8" fmla="*/ 275490 w 553525"/>
                <a:gd name="connsiteY8" fmla="*/ 0 h 382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3525" h="382739">
                  <a:moveTo>
                    <a:pt x="275490" y="0"/>
                  </a:moveTo>
                  <a:lnTo>
                    <a:pt x="553525" y="269045"/>
                  </a:lnTo>
                  <a:lnTo>
                    <a:pt x="540502" y="309049"/>
                  </a:lnTo>
                  <a:lnTo>
                    <a:pt x="485290" y="339596"/>
                  </a:lnTo>
                  <a:cubicBezTo>
                    <a:pt x="425163" y="366834"/>
                    <a:pt x="352680" y="382739"/>
                    <a:pt x="274656" y="382739"/>
                  </a:cubicBezTo>
                  <a:cubicBezTo>
                    <a:pt x="196632" y="382739"/>
                    <a:pt x="124148" y="366834"/>
                    <a:pt x="64022" y="339596"/>
                  </a:cubicBezTo>
                  <a:lnTo>
                    <a:pt x="47011" y="330185"/>
                  </a:lnTo>
                  <a:lnTo>
                    <a:pt x="0" y="284695"/>
                  </a:lnTo>
                  <a:lnTo>
                    <a:pt x="275490" y="0"/>
                  </a:lnTo>
                  <a:close/>
                </a:path>
              </a:pathLst>
            </a:custGeom>
            <a:gradFill>
              <a:gsLst>
                <a:gs pos="100000">
                  <a:schemeClr val="bg1">
                    <a:alpha val="53000"/>
                  </a:schemeClr>
                </a:gs>
                <a:gs pos="3000">
                  <a:schemeClr val="bg1">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cxnSp>
          <p:nvCxnSpPr>
            <p:cNvPr id="150" name="Straight Connector 149">
              <a:extLst>
                <a:ext uri="{FF2B5EF4-FFF2-40B4-BE49-F238E27FC236}">
                  <a16:creationId xmlns:a16="http://schemas.microsoft.com/office/drawing/2014/main" id="{2F9B339D-A529-4196-906C-783DBA2E14B1}"/>
                </a:ext>
              </a:extLst>
            </p:cNvPr>
            <p:cNvCxnSpPr/>
            <p:nvPr/>
          </p:nvCxnSpPr>
          <p:spPr>
            <a:xfrm>
              <a:off x="7744772" y="2624874"/>
              <a:ext cx="3218752"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151" name="Group 150">
              <a:extLst>
                <a:ext uri="{FF2B5EF4-FFF2-40B4-BE49-F238E27FC236}">
                  <a16:creationId xmlns:a16="http://schemas.microsoft.com/office/drawing/2014/main" id="{1B07DDCA-A454-43E2-BC08-B6F303D52004}"/>
                </a:ext>
              </a:extLst>
            </p:cNvPr>
            <p:cNvGrpSpPr/>
            <p:nvPr/>
          </p:nvGrpSpPr>
          <p:grpSpPr>
            <a:xfrm>
              <a:off x="7744772" y="2018138"/>
              <a:ext cx="633536" cy="450894"/>
              <a:chOff x="7744772" y="1997363"/>
              <a:chExt cx="633536" cy="450894"/>
            </a:xfrm>
          </p:grpSpPr>
          <p:sp>
            <p:nvSpPr>
              <p:cNvPr id="172" name="Flowchart: Off-page Connector 171">
                <a:extLst>
                  <a:ext uri="{FF2B5EF4-FFF2-40B4-BE49-F238E27FC236}">
                    <a16:creationId xmlns:a16="http://schemas.microsoft.com/office/drawing/2014/main" id="{B4A5ED2B-EF65-4EA7-BB51-BB4A21EF2BD1}"/>
                  </a:ext>
                </a:extLst>
              </p:cNvPr>
              <p:cNvSpPr/>
              <p:nvPr/>
            </p:nvSpPr>
            <p:spPr>
              <a:xfrm rot="16200000">
                <a:off x="7938416" y="2008365"/>
                <a:ext cx="396164" cy="483620"/>
              </a:xfrm>
              <a:prstGeom prst="flowChartOffpageConnector">
                <a:avLst/>
              </a:prstGeom>
              <a:solidFill>
                <a:schemeClr val="accent6">
                  <a:lumMod val="60000"/>
                  <a:lumOff val="40000"/>
                </a:schemeClr>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
            <p:nvSpPr>
              <p:cNvPr id="173" name="Freeform: Shape 171">
                <a:extLst>
                  <a:ext uri="{FF2B5EF4-FFF2-40B4-BE49-F238E27FC236}">
                    <a16:creationId xmlns:a16="http://schemas.microsoft.com/office/drawing/2014/main" id="{275489EA-F8A5-4978-B44B-7D9F2BD5AD62}"/>
                  </a:ext>
                </a:extLst>
              </p:cNvPr>
              <p:cNvSpPr/>
              <p:nvPr/>
            </p:nvSpPr>
            <p:spPr>
              <a:xfrm rot="18956483">
                <a:off x="7744772" y="1997363"/>
                <a:ext cx="553525" cy="382739"/>
              </a:xfrm>
              <a:custGeom>
                <a:avLst/>
                <a:gdLst>
                  <a:gd name="connsiteX0" fmla="*/ 275490 w 553525"/>
                  <a:gd name="connsiteY0" fmla="*/ 0 h 382739"/>
                  <a:gd name="connsiteX1" fmla="*/ 553525 w 553525"/>
                  <a:gd name="connsiteY1" fmla="*/ 269045 h 382739"/>
                  <a:gd name="connsiteX2" fmla="*/ 540502 w 553525"/>
                  <a:gd name="connsiteY2" fmla="*/ 309049 h 382739"/>
                  <a:gd name="connsiteX3" fmla="*/ 485290 w 553525"/>
                  <a:gd name="connsiteY3" fmla="*/ 339596 h 382739"/>
                  <a:gd name="connsiteX4" fmla="*/ 274656 w 553525"/>
                  <a:gd name="connsiteY4" fmla="*/ 382739 h 382739"/>
                  <a:gd name="connsiteX5" fmla="*/ 64022 w 553525"/>
                  <a:gd name="connsiteY5" fmla="*/ 339596 h 382739"/>
                  <a:gd name="connsiteX6" fmla="*/ 47011 w 553525"/>
                  <a:gd name="connsiteY6" fmla="*/ 330185 h 382739"/>
                  <a:gd name="connsiteX7" fmla="*/ 0 w 553525"/>
                  <a:gd name="connsiteY7" fmla="*/ 284695 h 382739"/>
                  <a:gd name="connsiteX8" fmla="*/ 275490 w 553525"/>
                  <a:gd name="connsiteY8" fmla="*/ 0 h 382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3525" h="382739">
                    <a:moveTo>
                      <a:pt x="275490" y="0"/>
                    </a:moveTo>
                    <a:lnTo>
                      <a:pt x="553525" y="269045"/>
                    </a:lnTo>
                    <a:lnTo>
                      <a:pt x="540502" y="309049"/>
                    </a:lnTo>
                    <a:lnTo>
                      <a:pt x="485290" y="339596"/>
                    </a:lnTo>
                    <a:cubicBezTo>
                      <a:pt x="425163" y="366834"/>
                      <a:pt x="352680" y="382739"/>
                      <a:pt x="274656" y="382739"/>
                    </a:cubicBezTo>
                    <a:cubicBezTo>
                      <a:pt x="196632" y="382739"/>
                      <a:pt x="124148" y="366834"/>
                      <a:pt x="64022" y="339596"/>
                    </a:cubicBezTo>
                    <a:lnTo>
                      <a:pt x="47011" y="330185"/>
                    </a:lnTo>
                    <a:lnTo>
                      <a:pt x="0" y="284695"/>
                    </a:lnTo>
                    <a:lnTo>
                      <a:pt x="275490" y="0"/>
                    </a:lnTo>
                    <a:close/>
                  </a:path>
                </a:pathLst>
              </a:custGeom>
              <a:gradFill>
                <a:gsLst>
                  <a:gs pos="100000">
                    <a:schemeClr val="bg1">
                      <a:alpha val="53000"/>
                    </a:schemeClr>
                  </a:gs>
                  <a:gs pos="3000">
                    <a:schemeClr val="bg1">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74" name="Rectangle 173">
                <a:extLst>
                  <a:ext uri="{FF2B5EF4-FFF2-40B4-BE49-F238E27FC236}">
                    <a16:creationId xmlns:a16="http://schemas.microsoft.com/office/drawing/2014/main" id="{1E4C38F2-64C7-4F80-B1AF-A7BA47A6D021}"/>
                  </a:ext>
                </a:extLst>
              </p:cNvPr>
              <p:cNvSpPr/>
              <p:nvPr/>
            </p:nvSpPr>
            <p:spPr>
              <a:xfrm>
                <a:off x="7780582" y="2052083"/>
                <a:ext cx="62282" cy="390629"/>
              </a:xfrm>
              <a:prstGeom prst="rect">
                <a:avLst/>
              </a:prstGeom>
              <a:solidFill>
                <a:schemeClr val="accent6">
                  <a:lumMod val="60000"/>
                  <a:lumOff val="40000"/>
                </a:schemeClr>
              </a:solidFill>
              <a:ln>
                <a:noFill/>
              </a:ln>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tx1"/>
                  </a:solidFill>
                </a:endParaRPr>
              </a:p>
            </p:txBody>
          </p:sp>
          <p:sp>
            <p:nvSpPr>
              <p:cNvPr id="175" name="TextBox 44">
                <a:extLst>
                  <a:ext uri="{FF2B5EF4-FFF2-40B4-BE49-F238E27FC236}">
                    <a16:creationId xmlns:a16="http://schemas.microsoft.com/office/drawing/2014/main" id="{9D365AB8-04FE-4ACD-8D39-AC2A3395BEEC}"/>
                  </a:ext>
                </a:extLst>
              </p:cNvPr>
              <p:cNvSpPr txBox="1"/>
              <p:nvPr/>
            </p:nvSpPr>
            <p:spPr>
              <a:xfrm>
                <a:off x="7972240" y="2127875"/>
                <a:ext cx="311482" cy="276999"/>
              </a:xfrm>
              <a:prstGeom prst="rect">
                <a:avLst/>
              </a:prstGeom>
              <a:noFill/>
            </p:spPr>
            <p:txBody>
              <a:bodyPr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d-ID" b="1" dirty="0">
                    <a:solidFill>
                      <a:schemeClr val="bg1"/>
                    </a:solidFill>
                  </a:rPr>
                  <a:t>2.</a:t>
                </a:r>
                <a:endParaRPr lang="en-US" b="1" dirty="0">
                  <a:solidFill>
                    <a:schemeClr val="bg1"/>
                  </a:solidFill>
                </a:endParaRPr>
              </a:p>
            </p:txBody>
          </p:sp>
        </p:grpSp>
        <p:grpSp>
          <p:nvGrpSpPr>
            <p:cNvPr id="152" name="Group 151">
              <a:extLst>
                <a:ext uri="{FF2B5EF4-FFF2-40B4-BE49-F238E27FC236}">
                  <a16:creationId xmlns:a16="http://schemas.microsoft.com/office/drawing/2014/main" id="{1B0179B8-3F1A-49E0-B8DE-63400BC124C4}"/>
                </a:ext>
              </a:extLst>
            </p:cNvPr>
            <p:cNvGrpSpPr/>
            <p:nvPr/>
          </p:nvGrpSpPr>
          <p:grpSpPr>
            <a:xfrm>
              <a:off x="7744772" y="2801491"/>
              <a:ext cx="633536" cy="450894"/>
              <a:chOff x="7235832" y="2777896"/>
              <a:chExt cx="633536" cy="450894"/>
            </a:xfrm>
          </p:grpSpPr>
          <p:sp>
            <p:nvSpPr>
              <p:cNvPr id="168" name="Flowchart: Off-page Connector 167">
                <a:extLst>
                  <a:ext uri="{FF2B5EF4-FFF2-40B4-BE49-F238E27FC236}">
                    <a16:creationId xmlns:a16="http://schemas.microsoft.com/office/drawing/2014/main" id="{778326E2-4348-407D-8D78-D3F9B69CE945}"/>
                  </a:ext>
                </a:extLst>
              </p:cNvPr>
              <p:cNvSpPr/>
              <p:nvPr/>
            </p:nvSpPr>
            <p:spPr>
              <a:xfrm rot="16200000">
                <a:off x="7429476" y="2788898"/>
                <a:ext cx="396164" cy="483620"/>
              </a:xfrm>
              <a:prstGeom prst="flowChartOffpageConnector">
                <a:avLst/>
              </a:prstGeom>
              <a:solidFill>
                <a:srgbClr val="00B0F0"/>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
            <p:nvSpPr>
              <p:cNvPr id="169" name="Freeform: Shape 179">
                <a:extLst>
                  <a:ext uri="{FF2B5EF4-FFF2-40B4-BE49-F238E27FC236}">
                    <a16:creationId xmlns:a16="http://schemas.microsoft.com/office/drawing/2014/main" id="{B86656EF-5407-44AC-AD65-DD66B53E881E}"/>
                  </a:ext>
                </a:extLst>
              </p:cNvPr>
              <p:cNvSpPr/>
              <p:nvPr/>
            </p:nvSpPr>
            <p:spPr>
              <a:xfrm rot="18956483">
                <a:off x="7235832" y="2777896"/>
                <a:ext cx="553525" cy="382739"/>
              </a:xfrm>
              <a:custGeom>
                <a:avLst/>
                <a:gdLst>
                  <a:gd name="connsiteX0" fmla="*/ 275490 w 553525"/>
                  <a:gd name="connsiteY0" fmla="*/ 0 h 382739"/>
                  <a:gd name="connsiteX1" fmla="*/ 553525 w 553525"/>
                  <a:gd name="connsiteY1" fmla="*/ 269045 h 382739"/>
                  <a:gd name="connsiteX2" fmla="*/ 540502 w 553525"/>
                  <a:gd name="connsiteY2" fmla="*/ 309049 h 382739"/>
                  <a:gd name="connsiteX3" fmla="*/ 485290 w 553525"/>
                  <a:gd name="connsiteY3" fmla="*/ 339596 h 382739"/>
                  <a:gd name="connsiteX4" fmla="*/ 274656 w 553525"/>
                  <a:gd name="connsiteY4" fmla="*/ 382739 h 382739"/>
                  <a:gd name="connsiteX5" fmla="*/ 64022 w 553525"/>
                  <a:gd name="connsiteY5" fmla="*/ 339596 h 382739"/>
                  <a:gd name="connsiteX6" fmla="*/ 47011 w 553525"/>
                  <a:gd name="connsiteY6" fmla="*/ 330185 h 382739"/>
                  <a:gd name="connsiteX7" fmla="*/ 0 w 553525"/>
                  <a:gd name="connsiteY7" fmla="*/ 284695 h 382739"/>
                  <a:gd name="connsiteX8" fmla="*/ 275490 w 553525"/>
                  <a:gd name="connsiteY8" fmla="*/ 0 h 382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3525" h="382739">
                    <a:moveTo>
                      <a:pt x="275490" y="0"/>
                    </a:moveTo>
                    <a:lnTo>
                      <a:pt x="553525" y="269045"/>
                    </a:lnTo>
                    <a:lnTo>
                      <a:pt x="540502" y="309049"/>
                    </a:lnTo>
                    <a:lnTo>
                      <a:pt x="485290" y="339596"/>
                    </a:lnTo>
                    <a:cubicBezTo>
                      <a:pt x="425163" y="366834"/>
                      <a:pt x="352680" y="382739"/>
                      <a:pt x="274656" y="382739"/>
                    </a:cubicBezTo>
                    <a:cubicBezTo>
                      <a:pt x="196632" y="382739"/>
                      <a:pt x="124148" y="366834"/>
                      <a:pt x="64022" y="339596"/>
                    </a:cubicBezTo>
                    <a:lnTo>
                      <a:pt x="47011" y="330185"/>
                    </a:lnTo>
                    <a:lnTo>
                      <a:pt x="0" y="284695"/>
                    </a:lnTo>
                    <a:lnTo>
                      <a:pt x="275490" y="0"/>
                    </a:lnTo>
                    <a:close/>
                  </a:path>
                </a:pathLst>
              </a:custGeom>
              <a:gradFill>
                <a:gsLst>
                  <a:gs pos="100000">
                    <a:schemeClr val="bg1">
                      <a:alpha val="53000"/>
                    </a:schemeClr>
                  </a:gs>
                  <a:gs pos="3000">
                    <a:schemeClr val="bg1">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70" name="Rectangle 169">
                <a:extLst>
                  <a:ext uri="{FF2B5EF4-FFF2-40B4-BE49-F238E27FC236}">
                    <a16:creationId xmlns:a16="http://schemas.microsoft.com/office/drawing/2014/main" id="{815E0144-335C-4A49-B0CD-804EC01E849E}"/>
                  </a:ext>
                </a:extLst>
              </p:cNvPr>
              <p:cNvSpPr/>
              <p:nvPr/>
            </p:nvSpPr>
            <p:spPr>
              <a:xfrm>
                <a:off x="7271642" y="2832616"/>
                <a:ext cx="62282" cy="390629"/>
              </a:xfrm>
              <a:prstGeom prst="rect">
                <a:avLst/>
              </a:prstGeom>
              <a:solidFill>
                <a:srgbClr val="00B0F0"/>
              </a:solidFill>
              <a:ln>
                <a:noFill/>
              </a:ln>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schemeClr val="tx1"/>
                  </a:solidFill>
                </a:endParaRPr>
              </a:p>
            </p:txBody>
          </p:sp>
          <p:sp>
            <p:nvSpPr>
              <p:cNvPr id="171" name="TextBox 40">
                <a:extLst>
                  <a:ext uri="{FF2B5EF4-FFF2-40B4-BE49-F238E27FC236}">
                    <a16:creationId xmlns:a16="http://schemas.microsoft.com/office/drawing/2014/main" id="{2CD6B91D-D1C3-468B-B02B-85E1C294FB47}"/>
                  </a:ext>
                </a:extLst>
              </p:cNvPr>
              <p:cNvSpPr txBox="1"/>
              <p:nvPr/>
            </p:nvSpPr>
            <p:spPr>
              <a:xfrm>
                <a:off x="7463300" y="2908408"/>
                <a:ext cx="311482" cy="276999"/>
              </a:xfrm>
              <a:prstGeom prst="rect">
                <a:avLst/>
              </a:prstGeom>
              <a:noFill/>
            </p:spPr>
            <p:txBody>
              <a:bodyPr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id-ID" b="1" dirty="0">
                    <a:solidFill>
                      <a:schemeClr val="bg1"/>
                    </a:solidFill>
                  </a:rPr>
                  <a:t>3.</a:t>
                </a:r>
                <a:endParaRPr lang="en-US" b="1" dirty="0">
                  <a:solidFill>
                    <a:schemeClr val="bg1"/>
                  </a:solidFill>
                </a:endParaRPr>
              </a:p>
            </p:txBody>
          </p:sp>
        </p:grpSp>
        <p:cxnSp>
          <p:nvCxnSpPr>
            <p:cNvPr id="153" name="Straight Connector 152">
              <a:extLst>
                <a:ext uri="{FF2B5EF4-FFF2-40B4-BE49-F238E27FC236}">
                  <a16:creationId xmlns:a16="http://schemas.microsoft.com/office/drawing/2014/main" id="{5C00A47D-1F0F-4D62-8A69-E74AE618344C}"/>
                </a:ext>
              </a:extLst>
            </p:cNvPr>
            <p:cNvCxnSpPr/>
            <p:nvPr/>
          </p:nvCxnSpPr>
          <p:spPr>
            <a:xfrm>
              <a:off x="7744772" y="3429002"/>
              <a:ext cx="3218752"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61" name="Freeform: Shape 219">
              <a:extLst>
                <a:ext uri="{FF2B5EF4-FFF2-40B4-BE49-F238E27FC236}">
                  <a16:creationId xmlns:a16="http://schemas.microsoft.com/office/drawing/2014/main" id="{E3DC9FE4-3B85-4C1D-A2C4-6C343FF6B326}"/>
                </a:ext>
              </a:extLst>
            </p:cNvPr>
            <p:cNvSpPr/>
            <p:nvPr/>
          </p:nvSpPr>
          <p:spPr>
            <a:xfrm rot="18956483">
              <a:off x="7744772" y="4409747"/>
              <a:ext cx="553525" cy="382739"/>
            </a:xfrm>
            <a:custGeom>
              <a:avLst/>
              <a:gdLst>
                <a:gd name="connsiteX0" fmla="*/ 275490 w 553525"/>
                <a:gd name="connsiteY0" fmla="*/ 0 h 382739"/>
                <a:gd name="connsiteX1" fmla="*/ 553525 w 553525"/>
                <a:gd name="connsiteY1" fmla="*/ 269045 h 382739"/>
                <a:gd name="connsiteX2" fmla="*/ 540502 w 553525"/>
                <a:gd name="connsiteY2" fmla="*/ 309049 h 382739"/>
                <a:gd name="connsiteX3" fmla="*/ 485290 w 553525"/>
                <a:gd name="connsiteY3" fmla="*/ 339596 h 382739"/>
                <a:gd name="connsiteX4" fmla="*/ 274656 w 553525"/>
                <a:gd name="connsiteY4" fmla="*/ 382739 h 382739"/>
                <a:gd name="connsiteX5" fmla="*/ 64022 w 553525"/>
                <a:gd name="connsiteY5" fmla="*/ 339596 h 382739"/>
                <a:gd name="connsiteX6" fmla="*/ 47011 w 553525"/>
                <a:gd name="connsiteY6" fmla="*/ 330185 h 382739"/>
                <a:gd name="connsiteX7" fmla="*/ 0 w 553525"/>
                <a:gd name="connsiteY7" fmla="*/ 284695 h 382739"/>
                <a:gd name="connsiteX8" fmla="*/ 275490 w 553525"/>
                <a:gd name="connsiteY8" fmla="*/ 0 h 382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3525" h="382739">
                  <a:moveTo>
                    <a:pt x="275490" y="0"/>
                  </a:moveTo>
                  <a:lnTo>
                    <a:pt x="553525" y="269045"/>
                  </a:lnTo>
                  <a:lnTo>
                    <a:pt x="540502" y="309049"/>
                  </a:lnTo>
                  <a:lnTo>
                    <a:pt x="485290" y="339596"/>
                  </a:lnTo>
                  <a:cubicBezTo>
                    <a:pt x="425163" y="366834"/>
                    <a:pt x="352680" y="382739"/>
                    <a:pt x="274656" y="382739"/>
                  </a:cubicBezTo>
                  <a:cubicBezTo>
                    <a:pt x="196632" y="382739"/>
                    <a:pt x="124148" y="366834"/>
                    <a:pt x="64022" y="339596"/>
                  </a:cubicBezTo>
                  <a:lnTo>
                    <a:pt x="47011" y="330185"/>
                  </a:lnTo>
                  <a:lnTo>
                    <a:pt x="0" y="284695"/>
                  </a:lnTo>
                  <a:lnTo>
                    <a:pt x="275490" y="0"/>
                  </a:lnTo>
                  <a:close/>
                </a:path>
              </a:pathLst>
            </a:custGeom>
            <a:gradFill>
              <a:gsLst>
                <a:gs pos="100000">
                  <a:schemeClr val="bg1">
                    <a:alpha val="53000"/>
                  </a:schemeClr>
                </a:gs>
                <a:gs pos="3000">
                  <a:schemeClr val="bg1">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57" name="Rectangle 156">
              <a:extLst>
                <a:ext uri="{FF2B5EF4-FFF2-40B4-BE49-F238E27FC236}">
                  <a16:creationId xmlns:a16="http://schemas.microsoft.com/office/drawing/2014/main" id="{07B209F2-8D98-486E-A6AD-E9B141F82479}"/>
                </a:ext>
              </a:extLst>
            </p:cNvPr>
            <p:cNvSpPr/>
            <p:nvPr/>
          </p:nvSpPr>
          <p:spPr>
            <a:xfrm>
              <a:off x="8545161" y="2881838"/>
              <a:ext cx="7397672" cy="369332"/>
            </a:xfrm>
            <a:prstGeom prst="rect">
              <a:avLst/>
            </a:prstGeom>
          </p:spPr>
          <p:txBody>
            <a:bodyPr wrap="square" lIns="0" tIns="0" rIns="0" bIns="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600"/>
                </a:spcBef>
                <a:spcAft>
                  <a:spcPts val="600"/>
                </a:spcAft>
                <a:buClr>
                  <a:schemeClr val="accent6">
                    <a:lumMod val="75000"/>
                  </a:schemeClr>
                </a:buClr>
                <a:buSzPct val="120000"/>
              </a:pPr>
              <a:r>
                <a:rPr lang="en-US" sz="2400" b="1" dirty="0">
                  <a:solidFill>
                    <a:schemeClr val="tx1">
                      <a:lumMod val="75000"/>
                      <a:lumOff val="25000"/>
                    </a:schemeClr>
                  </a:solidFill>
                  <a:latin typeface="Arial Black"/>
                  <a:ea typeface="Roboto Condensed"/>
                  <a:cs typeface="Roboto Condensed"/>
                </a:rPr>
                <a:t>ER Model</a:t>
              </a:r>
            </a:p>
          </p:txBody>
        </p:sp>
      </p:grpSp>
    </p:spTree>
    <p:extLst>
      <p:ext uri="{BB962C8B-B14F-4D97-AF65-F5344CB8AC3E}">
        <p14:creationId xmlns:p14="http://schemas.microsoft.com/office/powerpoint/2010/main" val="36351018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a:t>SQL Overview</a:t>
            </a:r>
          </a:p>
        </p:txBody>
      </p:sp>
      <p:sp>
        <p:nvSpPr>
          <p:cNvPr id="6" name="Text Placeholder 5"/>
          <p:cNvSpPr>
            <a:spLocks noGrp="1"/>
          </p:cNvSpPr>
          <p:nvPr>
            <p:ph type="body" idx="1"/>
          </p:nvPr>
        </p:nvSpPr>
        <p:spPr/>
        <p:txBody>
          <a:bodyPr/>
          <a:lstStyle/>
          <a:p>
            <a:r>
              <a:rPr lang="en-US"/>
              <a:t>Section 1</a:t>
            </a:r>
          </a:p>
        </p:txBody>
      </p:sp>
      <p:sp>
        <p:nvSpPr>
          <p:cNvPr id="3" name="Slide Number Placeholder 2"/>
          <p:cNvSpPr>
            <a:spLocks noGrp="1"/>
          </p:cNvSpPr>
          <p:nvPr>
            <p:ph type="sldNum" sz="quarter" idx="12"/>
          </p:nvPr>
        </p:nvSpPr>
        <p:spPr/>
        <p:txBody>
          <a:bodyPr/>
          <a:lstStyle/>
          <a:p>
            <a:fld id="{AB4FB0DF-9300-7D4B-B157-CBD30D15743F}" type="slidenum">
              <a:rPr lang="en-US" smtClean="0"/>
              <a:t>4</a:t>
            </a:fld>
            <a:endParaRPr lang="en-US"/>
          </a:p>
        </p:txBody>
      </p:sp>
      <p:sp>
        <p:nvSpPr>
          <p:cNvPr id="7" name="Footer Placeholder 4"/>
          <p:cNvSpPr>
            <a:spLocks noGrp="1"/>
          </p:cNvSpPr>
          <p:nvPr>
            <p:ph type="ftr" sz="quarter" idx="3"/>
          </p:nvPr>
        </p:nvSpPr>
        <p:spPr>
          <a:xfrm>
            <a:off x="4901329" y="6320400"/>
            <a:ext cx="6071471" cy="365125"/>
          </a:xfrm>
        </p:spPr>
        <p:txBody>
          <a:bodyPr/>
          <a:lstStyle/>
          <a:p>
            <a:r>
              <a:rPr lang="en-US" dirty="0"/>
              <a:t>09e-BM/DT/FSOFT - @FPT SOFTWARE - FPT Software Academy - Internal Use</a:t>
            </a:r>
          </a:p>
        </p:txBody>
      </p:sp>
    </p:spTree>
    <p:extLst>
      <p:ext uri="{BB962C8B-B14F-4D97-AF65-F5344CB8AC3E}">
        <p14:creationId xmlns:p14="http://schemas.microsoft.com/office/powerpoint/2010/main" val="36303284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ChangeArrowheads="1"/>
          </p:cNvSpPr>
          <p:nvPr/>
        </p:nvSpPr>
        <p:spPr bwMode="auto">
          <a:xfrm>
            <a:off x="2209800" y="6248400"/>
            <a:ext cx="1905000" cy="457200"/>
          </a:xfrm>
          <a:prstGeom prst="rect">
            <a:avLst/>
          </a:prstGeom>
          <a:noFill/>
          <a:ln w="9525">
            <a:noFill/>
            <a:miter lim="800000"/>
            <a:headEnd/>
            <a:tailEnd/>
          </a:ln>
        </p:spPr>
        <p:txBody>
          <a:bodyPr wrap="none" anchor="ctr"/>
          <a:lstStyle/>
          <a:p>
            <a:endParaRPr lang="en-US"/>
          </a:p>
        </p:txBody>
      </p:sp>
      <p:sp>
        <p:nvSpPr>
          <p:cNvPr id="15364" name="Rectangle 3"/>
          <p:cNvSpPr>
            <a:spLocks noChangeArrowheads="1"/>
          </p:cNvSpPr>
          <p:nvPr/>
        </p:nvSpPr>
        <p:spPr bwMode="auto">
          <a:xfrm>
            <a:off x="4648200" y="6248400"/>
            <a:ext cx="2895600" cy="457200"/>
          </a:xfrm>
          <a:prstGeom prst="rect">
            <a:avLst/>
          </a:prstGeom>
          <a:noFill/>
          <a:ln w="9525">
            <a:noFill/>
            <a:miter lim="800000"/>
            <a:headEnd/>
            <a:tailEnd/>
          </a:ln>
        </p:spPr>
        <p:txBody>
          <a:bodyPr wrap="none" anchor="ctr"/>
          <a:lstStyle/>
          <a:p>
            <a:endParaRPr lang="en-US"/>
          </a:p>
        </p:txBody>
      </p:sp>
      <p:pic>
        <p:nvPicPr>
          <p:cNvPr id="6146" name="Picture 2" descr="http://www.securisol.co.uk/images/j76n101118AM4232013%5b1%5d.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820" y="1196752"/>
            <a:ext cx="1800200" cy="18002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5058522" y="1196752"/>
            <a:ext cx="1919548" cy="2016224"/>
          </a:xfrm>
          <a:prstGeom prst="rect">
            <a:avLst/>
          </a:prstGeom>
          <a:noFill/>
        </p:spPr>
        <p:txBody>
          <a:bodyPr wrap="square" rtlCol="0" anchor="b" anchorCtr="0">
            <a:noAutofit/>
          </a:bodyPr>
          <a:lstStyle/>
          <a:p>
            <a:pPr>
              <a:lnSpc>
                <a:spcPct val="150000"/>
              </a:lnSpc>
            </a:pPr>
            <a:r>
              <a:rPr lang="en-US" sz="3200" b="1" dirty="0">
                <a:solidFill>
                  <a:schemeClr val="accent6"/>
                </a:solidFill>
              </a:rPr>
              <a:t>S</a:t>
            </a:r>
            <a:r>
              <a:rPr lang="en-US" sz="2400" b="1" dirty="0"/>
              <a:t>tructured</a:t>
            </a:r>
          </a:p>
          <a:p>
            <a:pPr>
              <a:lnSpc>
                <a:spcPct val="150000"/>
              </a:lnSpc>
            </a:pPr>
            <a:r>
              <a:rPr lang="en-US" sz="3200" b="1" dirty="0">
                <a:solidFill>
                  <a:schemeClr val="accent6"/>
                </a:solidFill>
              </a:rPr>
              <a:t>Q</a:t>
            </a:r>
            <a:r>
              <a:rPr lang="en-US" sz="2400" b="1" dirty="0"/>
              <a:t>uery</a:t>
            </a:r>
          </a:p>
          <a:p>
            <a:pPr>
              <a:lnSpc>
                <a:spcPct val="150000"/>
              </a:lnSpc>
            </a:pPr>
            <a:r>
              <a:rPr lang="en-US" sz="3200" b="1" dirty="0">
                <a:solidFill>
                  <a:schemeClr val="accent6"/>
                </a:solidFill>
              </a:rPr>
              <a:t>L</a:t>
            </a:r>
            <a:r>
              <a:rPr lang="en-US" sz="2400" b="1" dirty="0"/>
              <a:t>anguage</a:t>
            </a:r>
          </a:p>
        </p:txBody>
      </p:sp>
      <p:pic>
        <p:nvPicPr>
          <p:cNvPr id="10" name="Picture 2" descr="../../_images/relational_model.png"/>
          <p:cNvPicPr>
            <a:picLocks noChangeAspect="1" noChangeArrowheads="1"/>
          </p:cNvPicPr>
          <p:nvPr/>
        </p:nvPicPr>
        <p:blipFill>
          <a:blip r:embed="rId4"/>
          <a:srcRect/>
          <a:stretch>
            <a:fillRect/>
          </a:stretch>
        </p:blipFill>
        <p:spPr bwMode="auto">
          <a:xfrm>
            <a:off x="9021830" y="1134059"/>
            <a:ext cx="1466658" cy="2141609"/>
          </a:xfrm>
          <a:prstGeom prst="rect">
            <a:avLst/>
          </a:prstGeom>
          <a:noFill/>
        </p:spPr>
      </p:pic>
      <p:sp>
        <p:nvSpPr>
          <p:cNvPr id="3" name="Right Arrow 2"/>
          <p:cNvSpPr/>
          <p:nvPr/>
        </p:nvSpPr>
        <p:spPr>
          <a:xfrm>
            <a:off x="3594333" y="1487420"/>
            <a:ext cx="802918" cy="43204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Arrow 11"/>
          <p:cNvSpPr/>
          <p:nvPr/>
        </p:nvSpPr>
        <p:spPr>
          <a:xfrm>
            <a:off x="7561361" y="1487420"/>
            <a:ext cx="759659" cy="43204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Left Arrow 4"/>
          <p:cNvSpPr/>
          <p:nvPr/>
        </p:nvSpPr>
        <p:spPr>
          <a:xfrm>
            <a:off x="3594333" y="2519306"/>
            <a:ext cx="802918" cy="432048"/>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Left Arrow 15"/>
          <p:cNvSpPr/>
          <p:nvPr/>
        </p:nvSpPr>
        <p:spPr>
          <a:xfrm>
            <a:off x="7539732" y="2520624"/>
            <a:ext cx="802918" cy="432048"/>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642026" y="3167657"/>
            <a:ext cx="11021438" cy="3079425"/>
          </a:xfrm>
          <a:prstGeom prst="rect">
            <a:avLst/>
          </a:prstGeom>
          <a:noFill/>
        </p:spPr>
        <p:txBody>
          <a:bodyPr wrap="square" rtlCol="0">
            <a:noAutofit/>
          </a:bodyPr>
          <a:lstStyle/>
          <a:p>
            <a:pPr marL="342900" indent="-342900" algn="just">
              <a:lnSpc>
                <a:spcPct val="120000"/>
              </a:lnSpc>
              <a:buClr>
                <a:schemeClr val="accent6">
                  <a:lumMod val="75000"/>
                </a:schemeClr>
              </a:buClr>
              <a:buFont typeface="Wingdings" panose="05000000000000000000" pitchFamily="2" charset="2"/>
              <a:buChar char="Ø"/>
            </a:pPr>
            <a:r>
              <a:rPr lang="en-US" sz="2000" b="1" dirty="0">
                <a:latin typeface="Arial" panose="020B0604020202020204" pitchFamily="34" charset="0"/>
                <a:cs typeface="Arial" panose="020B0604020202020204" pitchFamily="34" charset="0"/>
              </a:rPr>
              <a:t>Which is a computer language for:</a:t>
            </a:r>
          </a:p>
          <a:p>
            <a:pPr marL="742950" lvl="1" indent="-285750">
              <a:lnSpc>
                <a:spcPct val="120000"/>
              </a:lnSpc>
              <a:buFont typeface="Wingdings" panose="05000000000000000000" pitchFamily="2" charset="2"/>
              <a:buChar char="ü"/>
            </a:pPr>
            <a:r>
              <a:rPr lang="en-US" sz="2000" dirty="0">
                <a:latin typeface="Arial" panose="020B0604020202020204" pitchFamily="34" charset="0"/>
                <a:cs typeface="Arial" panose="020B0604020202020204" pitchFamily="34" charset="0"/>
              </a:rPr>
              <a:t>storing, </a:t>
            </a:r>
          </a:p>
          <a:p>
            <a:pPr marL="742950" lvl="1" indent="-285750">
              <a:lnSpc>
                <a:spcPct val="120000"/>
              </a:lnSpc>
              <a:buFont typeface="Wingdings" panose="05000000000000000000" pitchFamily="2" charset="2"/>
              <a:buChar char="ü"/>
            </a:pPr>
            <a:r>
              <a:rPr lang="en-US" sz="2000" dirty="0">
                <a:latin typeface="Arial" panose="020B0604020202020204" pitchFamily="34" charset="0"/>
                <a:cs typeface="Arial" panose="020B0604020202020204" pitchFamily="34" charset="0"/>
              </a:rPr>
              <a:t>manipulating and </a:t>
            </a:r>
          </a:p>
          <a:p>
            <a:pPr marL="742950" lvl="1" indent="-285750">
              <a:lnSpc>
                <a:spcPct val="120000"/>
              </a:lnSpc>
              <a:buFont typeface="Wingdings" panose="05000000000000000000" pitchFamily="2" charset="2"/>
              <a:buChar char="ü"/>
            </a:pPr>
            <a:r>
              <a:rPr lang="en-US" sz="2000" dirty="0">
                <a:latin typeface="Arial" panose="020B0604020202020204" pitchFamily="34" charset="0"/>
                <a:cs typeface="Arial" panose="020B0604020202020204" pitchFamily="34" charset="0"/>
              </a:rPr>
              <a:t>retrieving data stored in relational database.</a:t>
            </a:r>
          </a:p>
          <a:p>
            <a:pPr marL="342900" indent="-342900" algn="just">
              <a:lnSpc>
                <a:spcPct val="120000"/>
              </a:lnSpc>
              <a:buClr>
                <a:schemeClr val="accent6">
                  <a:lumMod val="75000"/>
                </a:schemeClr>
              </a:buClr>
              <a:buFont typeface="Wingdings" panose="05000000000000000000" pitchFamily="2" charset="2"/>
              <a:buChar char="Ø"/>
            </a:pPr>
            <a:r>
              <a:rPr lang="en-US" sz="2000" dirty="0">
                <a:latin typeface="Arial" panose="020B0604020202020204" pitchFamily="34" charset="0"/>
                <a:cs typeface="Arial" panose="020B0604020202020204" pitchFamily="34" charset="0"/>
              </a:rPr>
              <a:t>SQL is the standard language for Relation Database System, like </a:t>
            </a:r>
            <a:r>
              <a:rPr lang="en-US" sz="2000" b="1" dirty="0">
                <a:latin typeface="Arial" panose="020B0604020202020204" pitchFamily="34" charset="0"/>
                <a:cs typeface="Arial" panose="020B0604020202020204" pitchFamily="34" charset="0"/>
              </a:rPr>
              <a:t>MySQL</a:t>
            </a:r>
            <a:r>
              <a:rPr lang="en-US" sz="2000" dirty="0">
                <a:latin typeface="Arial" panose="020B0604020202020204" pitchFamily="34" charset="0"/>
                <a:cs typeface="Arial" panose="020B0604020202020204" pitchFamily="34" charset="0"/>
              </a:rPr>
              <a:t>, </a:t>
            </a:r>
            <a:r>
              <a:rPr lang="en-US" sz="2000" b="1" dirty="0">
                <a:latin typeface="Arial" panose="020B0604020202020204" pitchFamily="34" charset="0"/>
                <a:cs typeface="Arial" panose="020B0604020202020204" pitchFamily="34" charset="0"/>
              </a:rPr>
              <a:t>MS Access</a:t>
            </a:r>
            <a:r>
              <a:rPr lang="en-US" sz="2000" dirty="0">
                <a:latin typeface="Arial" panose="020B0604020202020204" pitchFamily="34" charset="0"/>
                <a:cs typeface="Arial" panose="020B0604020202020204" pitchFamily="34" charset="0"/>
              </a:rPr>
              <a:t>, </a:t>
            </a:r>
            <a:r>
              <a:rPr lang="en-US" sz="2000" b="1" dirty="0">
                <a:latin typeface="Arial" panose="020B0604020202020204" pitchFamily="34" charset="0"/>
                <a:cs typeface="Arial" panose="020B0604020202020204" pitchFamily="34" charset="0"/>
              </a:rPr>
              <a:t>Oracle</a:t>
            </a:r>
            <a:r>
              <a:rPr lang="en-US" sz="2000" dirty="0">
                <a:latin typeface="Arial" panose="020B0604020202020204" pitchFamily="34" charset="0"/>
                <a:cs typeface="Arial" panose="020B0604020202020204" pitchFamily="34" charset="0"/>
              </a:rPr>
              <a:t>, </a:t>
            </a:r>
            <a:r>
              <a:rPr lang="en-US" sz="2000" b="1" dirty="0">
                <a:latin typeface="Arial" panose="020B0604020202020204" pitchFamily="34" charset="0"/>
                <a:cs typeface="Arial" panose="020B0604020202020204" pitchFamily="34" charset="0"/>
              </a:rPr>
              <a:t>Sybase</a:t>
            </a:r>
            <a:r>
              <a:rPr lang="en-US" sz="2000" dirty="0">
                <a:latin typeface="Arial" panose="020B0604020202020204" pitchFamily="34" charset="0"/>
                <a:cs typeface="Arial" panose="020B0604020202020204" pitchFamily="34" charset="0"/>
              </a:rPr>
              <a:t>, </a:t>
            </a:r>
            <a:r>
              <a:rPr lang="en-US" sz="2000" b="1" dirty="0">
                <a:latin typeface="Arial" panose="020B0604020202020204" pitchFamily="34" charset="0"/>
                <a:cs typeface="Arial" panose="020B0604020202020204" pitchFamily="34" charset="0"/>
              </a:rPr>
              <a:t>Informix</a:t>
            </a:r>
            <a:r>
              <a:rPr lang="en-US" sz="2000"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Postgres</a:t>
            </a:r>
            <a:r>
              <a:rPr lang="en-US" sz="2000" dirty="0">
                <a:latin typeface="Arial" panose="020B0604020202020204" pitchFamily="34" charset="0"/>
                <a:cs typeface="Arial" panose="020B0604020202020204" pitchFamily="34" charset="0"/>
              </a:rPr>
              <a:t> and </a:t>
            </a:r>
            <a:r>
              <a:rPr lang="en-US" sz="2000" b="1" dirty="0">
                <a:latin typeface="Arial" panose="020B0604020202020204" pitchFamily="34" charset="0"/>
                <a:cs typeface="Arial" panose="020B0604020202020204" pitchFamily="34" charset="0"/>
              </a:rPr>
              <a:t>SQL Server </a:t>
            </a:r>
            <a:r>
              <a:rPr lang="en-US" sz="2000" dirty="0">
                <a:latin typeface="Arial" panose="020B0604020202020204" pitchFamily="34" charset="0"/>
                <a:cs typeface="Arial" panose="020B0604020202020204" pitchFamily="34" charset="0"/>
              </a:rPr>
              <a:t>use SQL as standard database language.</a:t>
            </a:r>
          </a:p>
          <a:p>
            <a:pPr marL="342900" indent="-342900" algn="just">
              <a:lnSpc>
                <a:spcPct val="120000"/>
              </a:lnSpc>
              <a:buClr>
                <a:schemeClr val="accent6">
                  <a:lumMod val="75000"/>
                </a:schemeClr>
              </a:buClr>
              <a:buFont typeface="Wingdings" panose="05000000000000000000" pitchFamily="2" charset="2"/>
              <a:buChar char="Ø"/>
            </a:pPr>
            <a:r>
              <a:rPr lang="en-US" sz="2000" dirty="0">
                <a:latin typeface="Arial" panose="020B0604020202020204" pitchFamily="34" charset="0"/>
                <a:cs typeface="Arial" panose="020B0604020202020204" pitchFamily="34" charset="0"/>
              </a:rPr>
              <a:t>SQL is an ANSI (American National Standards Institute) standard.</a:t>
            </a:r>
          </a:p>
        </p:txBody>
      </p:sp>
      <p:sp>
        <p:nvSpPr>
          <p:cNvPr id="8" name="Title 7"/>
          <p:cNvSpPr>
            <a:spLocks noGrp="1"/>
          </p:cNvSpPr>
          <p:nvPr>
            <p:ph type="title"/>
          </p:nvPr>
        </p:nvSpPr>
        <p:spPr/>
        <p:txBody>
          <a:bodyPr>
            <a:normAutofit/>
          </a:bodyPr>
          <a:lstStyle/>
          <a:p>
            <a:r>
              <a:rPr lang="en-US">
                <a:solidFill>
                  <a:srgbClr val="1450A3"/>
                </a:solidFill>
              </a:rPr>
              <a:t>What is SQL?</a:t>
            </a:r>
            <a:endParaRPr lang="en-US"/>
          </a:p>
        </p:txBody>
      </p:sp>
      <p:sp>
        <p:nvSpPr>
          <p:cNvPr id="15" name="Slide Number Placeholder 2"/>
          <p:cNvSpPr>
            <a:spLocks noGrp="1"/>
          </p:cNvSpPr>
          <p:nvPr>
            <p:ph type="sldNum" sz="quarter" idx="12"/>
          </p:nvPr>
        </p:nvSpPr>
        <p:spPr/>
        <p:txBody>
          <a:bodyPr/>
          <a:lstStyle/>
          <a:p>
            <a:r>
              <a:rPr lang="vi-VN" dirty="0"/>
              <a:t>5</a:t>
            </a:r>
            <a:endParaRPr lang="en-US" dirty="0"/>
          </a:p>
        </p:txBody>
      </p:sp>
      <p:sp>
        <p:nvSpPr>
          <p:cNvPr id="14" name="Footer Placeholder 4"/>
          <p:cNvSpPr>
            <a:spLocks noGrp="1"/>
          </p:cNvSpPr>
          <p:nvPr>
            <p:ph type="ftr" sz="quarter" idx="3"/>
          </p:nvPr>
        </p:nvSpPr>
        <p:spPr/>
        <p:txBody>
          <a:bodyPr/>
          <a:lstStyle/>
          <a:p>
            <a:r>
              <a:rPr lang="en-US" dirty="0"/>
              <a:t>09e-BM/DT/FSOFT - @FPT SOFTWARE - FPT Software Academy - Internal Use</a:t>
            </a:r>
          </a:p>
        </p:txBody>
      </p:sp>
    </p:spTree>
    <p:extLst>
      <p:ext uri="{BB962C8B-B14F-4D97-AF65-F5344CB8AC3E}">
        <p14:creationId xmlns:p14="http://schemas.microsoft.com/office/powerpoint/2010/main" val="3471831424"/>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040111" y="208708"/>
            <a:ext cx="8929718" cy="643802"/>
          </a:xfrm>
        </p:spPr>
        <p:txBody>
          <a:bodyPr anchor="ctr" anchorCtr="0">
            <a:normAutofit/>
          </a:bodyPr>
          <a:lstStyle/>
          <a:p>
            <a:pPr algn="l"/>
            <a:r>
              <a:rPr lang="en-US" dirty="0">
                <a:ea typeface="+mn-ea"/>
                <a:cs typeface="Tahoma" pitchFamily="34" charset="0"/>
              </a:rPr>
              <a:t>SQL Process</a:t>
            </a:r>
          </a:p>
        </p:txBody>
      </p:sp>
      <p:pic>
        <p:nvPicPr>
          <p:cNvPr id="6" name="Picture 2" descr="http://www.securisol.co.uk/images/j76n101118AM4232013%5b1%5d.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59496" y="1039731"/>
            <a:ext cx="1296144" cy="1296144"/>
          </a:xfrm>
          <a:prstGeom prst="rect">
            <a:avLst/>
          </a:prstGeom>
          <a:noFill/>
          <a:extLst>
            <a:ext uri="{909E8E84-426E-40DD-AFC4-6F175D3DCCD1}">
              <a14:hiddenFill xmlns:a14="http://schemas.microsoft.com/office/drawing/2010/main">
                <a:solidFill>
                  <a:srgbClr val="FFFFFF"/>
                </a:solidFill>
              </a14:hiddenFill>
            </a:ext>
          </a:extLst>
        </p:spPr>
      </p:pic>
      <p:sp>
        <p:nvSpPr>
          <p:cNvPr id="5" name="Rounded Rectangle 4"/>
          <p:cNvSpPr/>
          <p:nvPr/>
        </p:nvSpPr>
        <p:spPr>
          <a:xfrm>
            <a:off x="3330583" y="1515588"/>
            <a:ext cx="1448710" cy="576064"/>
          </a:xfrm>
          <a:prstGeom prst="round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SQL Query</a:t>
            </a:r>
          </a:p>
        </p:txBody>
      </p:sp>
      <p:sp>
        <p:nvSpPr>
          <p:cNvPr id="8" name="Rounded Rectangle 7"/>
          <p:cNvSpPr/>
          <p:nvPr/>
        </p:nvSpPr>
        <p:spPr>
          <a:xfrm>
            <a:off x="5221142" y="1399771"/>
            <a:ext cx="2525050" cy="805093"/>
          </a:xfrm>
          <a:prstGeom prst="round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Query Language Processor</a:t>
            </a:r>
          </a:p>
        </p:txBody>
      </p:sp>
      <p:sp>
        <p:nvSpPr>
          <p:cNvPr id="9" name="Rounded Rectangle 8"/>
          <p:cNvSpPr/>
          <p:nvPr/>
        </p:nvSpPr>
        <p:spPr>
          <a:xfrm>
            <a:off x="5215508" y="2782323"/>
            <a:ext cx="2525050" cy="805093"/>
          </a:xfrm>
          <a:prstGeom prst="round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DBMS Engine</a:t>
            </a:r>
          </a:p>
        </p:txBody>
      </p:sp>
      <p:sp>
        <p:nvSpPr>
          <p:cNvPr id="7" name="Can 6"/>
          <p:cNvSpPr/>
          <p:nvPr/>
        </p:nvSpPr>
        <p:spPr>
          <a:xfrm>
            <a:off x="5504970" y="4419422"/>
            <a:ext cx="1944216" cy="1728192"/>
          </a:xfrm>
          <a:prstGeom prst="can">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b="1">
                <a:solidFill>
                  <a:schemeClr val="tx1"/>
                </a:solidFill>
              </a:rPr>
              <a:t>Physical Database</a:t>
            </a:r>
          </a:p>
        </p:txBody>
      </p:sp>
      <p:sp>
        <p:nvSpPr>
          <p:cNvPr id="11" name="Rounded Rectangle 10"/>
          <p:cNvSpPr/>
          <p:nvPr/>
        </p:nvSpPr>
        <p:spPr>
          <a:xfrm>
            <a:off x="8023820" y="1514284"/>
            <a:ext cx="2557518" cy="576064"/>
          </a:xfrm>
          <a:prstGeom prst="round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Parser + Opimizer</a:t>
            </a:r>
          </a:p>
        </p:txBody>
      </p:sp>
      <p:sp>
        <p:nvSpPr>
          <p:cNvPr id="12" name="Rounded Rectangle 11"/>
          <p:cNvSpPr/>
          <p:nvPr/>
        </p:nvSpPr>
        <p:spPr>
          <a:xfrm>
            <a:off x="8023820" y="2579418"/>
            <a:ext cx="2557518" cy="1224136"/>
          </a:xfrm>
          <a:prstGeom prst="round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File Manager</a:t>
            </a:r>
          </a:p>
          <a:p>
            <a:pPr algn="ctr"/>
            <a:r>
              <a:rPr lang="en-US" b="1">
                <a:solidFill>
                  <a:schemeClr val="tx1"/>
                </a:solidFill>
              </a:rPr>
              <a:t>+</a:t>
            </a:r>
          </a:p>
          <a:p>
            <a:pPr algn="ctr"/>
            <a:r>
              <a:rPr lang="en-US" b="1">
                <a:solidFill>
                  <a:schemeClr val="tx1"/>
                </a:solidFill>
              </a:rPr>
              <a:t>Transaction manager</a:t>
            </a:r>
          </a:p>
        </p:txBody>
      </p:sp>
      <p:cxnSp>
        <p:nvCxnSpPr>
          <p:cNvPr id="13" name="Straight Arrow Connector 12"/>
          <p:cNvCxnSpPr>
            <a:endCxn id="5" idx="1"/>
          </p:cNvCxnSpPr>
          <p:nvPr/>
        </p:nvCxnSpPr>
        <p:spPr>
          <a:xfrm>
            <a:off x="2783633" y="1803620"/>
            <a:ext cx="54695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 name="Straight Arrow Connector 14"/>
          <p:cNvCxnSpPr>
            <a:stCxn id="5" idx="3"/>
            <a:endCxn id="8" idx="1"/>
          </p:cNvCxnSpPr>
          <p:nvPr/>
        </p:nvCxnSpPr>
        <p:spPr>
          <a:xfrm flipV="1">
            <a:off x="4779294" y="1802318"/>
            <a:ext cx="441849" cy="130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 name="Straight Arrow Connector 17"/>
          <p:cNvCxnSpPr>
            <a:stCxn id="8" idx="3"/>
            <a:endCxn id="11" idx="1"/>
          </p:cNvCxnSpPr>
          <p:nvPr/>
        </p:nvCxnSpPr>
        <p:spPr>
          <a:xfrm flipV="1">
            <a:off x="7746192" y="1802317"/>
            <a:ext cx="277628" cy="1"/>
          </a:xfrm>
          <a:prstGeom prst="straightConnector1">
            <a:avLst/>
          </a:prstGeom>
          <a:ln>
            <a:headEnd type="triangle"/>
            <a:tailEnd type="none"/>
          </a:ln>
        </p:spPr>
        <p:style>
          <a:lnRef idx="1">
            <a:schemeClr val="dk1"/>
          </a:lnRef>
          <a:fillRef idx="0">
            <a:schemeClr val="dk1"/>
          </a:fillRef>
          <a:effectRef idx="0">
            <a:schemeClr val="dk1"/>
          </a:effectRef>
          <a:fontRef idx="minor">
            <a:schemeClr val="tx1"/>
          </a:fontRef>
        </p:style>
      </p:cxnSp>
      <p:cxnSp>
        <p:nvCxnSpPr>
          <p:cNvPr id="20" name="Straight Arrow Connector 19"/>
          <p:cNvCxnSpPr>
            <a:stCxn id="12" idx="1"/>
            <a:endCxn id="9" idx="3"/>
          </p:cNvCxnSpPr>
          <p:nvPr/>
        </p:nvCxnSpPr>
        <p:spPr>
          <a:xfrm flipH="1" flipV="1">
            <a:off x="7740558" y="3184870"/>
            <a:ext cx="283262" cy="661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p:cNvCxnSpPr>
            <a:stCxn id="8" idx="2"/>
            <a:endCxn id="9" idx="0"/>
          </p:cNvCxnSpPr>
          <p:nvPr/>
        </p:nvCxnSpPr>
        <p:spPr>
          <a:xfrm flipH="1">
            <a:off x="6478033" y="2204864"/>
            <a:ext cx="5634" cy="57745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p:cNvCxnSpPr>
            <a:stCxn id="9" idx="2"/>
            <a:endCxn id="7" idx="1"/>
          </p:cNvCxnSpPr>
          <p:nvPr/>
        </p:nvCxnSpPr>
        <p:spPr>
          <a:xfrm flipH="1">
            <a:off x="6477079" y="3587416"/>
            <a:ext cx="955" cy="83200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 name="Slide Number Placeholder 2"/>
          <p:cNvSpPr>
            <a:spLocks noGrp="1"/>
          </p:cNvSpPr>
          <p:nvPr>
            <p:ph type="sldNum" sz="quarter" idx="12"/>
          </p:nvPr>
        </p:nvSpPr>
        <p:spPr>
          <a:xfrm>
            <a:off x="10972800" y="6320400"/>
            <a:ext cx="614337" cy="365125"/>
          </a:xfrm>
        </p:spPr>
        <p:txBody>
          <a:bodyPr/>
          <a:lstStyle/>
          <a:p>
            <a:r>
              <a:rPr lang="vi-VN" dirty="0"/>
              <a:t>6</a:t>
            </a:r>
            <a:endParaRPr lang="en-US" dirty="0"/>
          </a:p>
        </p:txBody>
      </p:sp>
      <p:sp>
        <p:nvSpPr>
          <p:cNvPr id="17" name="Footer Placeholder 4"/>
          <p:cNvSpPr>
            <a:spLocks noGrp="1"/>
          </p:cNvSpPr>
          <p:nvPr>
            <p:ph type="ftr" sz="quarter" idx="3"/>
          </p:nvPr>
        </p:nvSpPr>
        <p:spPr>
          <a:xfrm>
            <a:off x="4901329" y="6320400"/>
            <a:ext cx="6071471" cy="365125"/>
          </a:xfrm>
        </p:spPr>
        <p:txBody>
          <a:bodyPr/>
          <a:lstStyle/>
          <a:p>
            <a:r>
              <a:rPr lang="en-US" dirty="0"/>
              <a:t>09e-BM/DT/FSOFT - @FPT SOFTWARE - FPT Software Academy - Internal Use</a:t>
            </a:r>
          </a:p>
        </p:txBody>
      </p:sp>
    </p:spTree>
    <p:extLst>
      <p:ext uri="{BB962C8B-B14F-4D97-AF65-F5344CB8AC3E}">
        <p14:creationId xmlns:p14="http://schemas.microsoft.com/office/powerpoint/2010/main" val="30637705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chor="ctr" anchorCtr="0">
            <a:normAutofit/>
          </a:bodyPr>
          <a:lstStyle/>
          <a:p>
            <a:pPr algn="l"/>
            <a:r>
              <a:rPr lang="en-US" dirty="0">
                <a:ea typeface="+mn-ea"/>
                <a:cs typeface="Tahoma" pitchFamily="34" charset="0"/>
              </a:rPr>
              <a:t>SQL Commands</a:t>
            </a:r>
          </a:p>
        </p:txBody>
      </p:sp>
      <p:sp>
        <p:nvSpPr>
          <p:cNvPr id="4" name="Content Placeholder 3"/>
          <p:cNvSpPr>
            <a:spLocks noGrp="1"/>
          </p:cNvSpPr>
          <p:nvPr>
            <p:ph idx="1"/>
          </p:nvPr>
        </p:nvSpPr>
        <p:spPr/>
        <p:txBody>
          <a:bodyPr/>
          <a:lstStyle/>
          <a:p>
            <a:pPr marL="0" indent="0" algn="just">
              <a:buNone/>
            </a:pPr>
            <a:r>
              <a:rPr lang="en-US" dirty="0"/>
              <a:t>SQL consists of </a:t>
            </a:r>
            <a:r>
              <a:rPr lang="en-US" b="1" dirty="0"/>
              <a:t>three</a:t>
            </a:r>
            <a:r>
              <a:rPr lang="en-US" dirty="0"/>
              <a:t> </a:t>
            </a:r>
            <a:r>
              <a:rPr lang="en-US" b="1" dirty="0"/>
              <a:t>components:</a:t>
            </a:r>
          </a:p>
          <a:p>
            <a:pPr lvl="1" algn="just">
              <a:lnSpc>
                <a:spcPct val="150000"/>
              </a:lnSpc>
              <a:buClr>
                <a:schemeClr val="accent6">
                  <a:lumMod val="75000"/>
                </a:schemeClr>
              </a:buClr>
              <a:buFont typeface="Wingdings" panose="05000000000000000000" pitchFamily="2" charset="2"/>
              <a:buChar char="Ø"/>
            </a:pPr>
            <a:r>
              <a:rPr lang="en-US" dirty="0"/>
              <a:t>Data Definition Language (DDL)</a:t>
            </a:r>
          </a:p>
          <a:p>
            <a:pPr lvl="1" algn="just">
              <a:lnSpc>
                <a:spcPct val="150000"/>
              </a:lnSpc>
              <a:buClr>
                <a:schemeClr val="accent6">
                  <a:lumMod val="75000"/>
                </a:schemeClr>
              </a:buClr>
              <a:buFont typeface="Wingdings" panose="05000000000000000000" pitchFamily="2" charset="2"/>
              <a:buChar char="Ø"/>
            </a:pPr>
            <a:r>
              <a:rPr lang="en-US" dirty="0"/>
              <a:t>Data Manipulation Language (DML) and </a:t>
            </a:r>
          </a:p>
          <a:p>
            <a:pPr lvl="1" algn="just">
              <a:lnSpc>
                <a:spcPct val="150000"/>
              </a:lnSpc>
              <a:buClr>
                <a:schemeClr val="accent6">
                  <a:lumMod val="75000"/>
                </a:schemeClr>
              </a:buClr>
              <a:buFont typeface="Wingdings" panose="05000000000000000000" pitchFamily="2" charset="2"/>
              <a:buChar char="Ø"/>
            </a:pPr>
            <a:r>
              <a:rPr lang="en-US" dirty="0"/>
              <a:t>Data Control Language (DCL)</a:t>
            </a:r>
          </a:p>
          <a:p>
            <a:endParaRPr lang="en-US" dirty="0"/>
          </a:p>
        </p:txBody>
      </p:sp>
      <p:sp>
        <p:nvSpPr>
          <p:cNvPr id="7" name="Slide Number Placeholder 2"/>
          <p:cNvSpPr>
            <a:spLocks noGrp="1"/>
          </p:cNvSpPr>
          <p:nvPr>
            <p:ph type="sldNum" sz="quarter" idx="12"/>
          </p:nvPr>
        </p:nvSpPr>
        <p:spPr/>
        <p:txBody>
          <a:bodyPr/>
          <a:lstStyle/>
          <a:p>
            <a:r>
              <a:rPr lang="vi-VN" dirty="0"/>
              <a:t>7</a:t>
            </a:r>
            <a:endParaRPr lang="en-US" dirty="0"/>
          </a:p>
        </p:txBody>
      </p:sp>
      <p:sp>
        <p:nvSpPr>
          <p:cNvPr id="6" name="Footer Placeholder 4"/>
          <p:cNvSpPr>
            <a:spLocks noGrp="1"/>
          </p:cNvSpPr>
          <p:nvPr>
            <p:ph type="ftr" sz="quarter" idx="3"/>
          </p:nvPr>
        </p:nvSpPr>
        <p:spPr/>
        <p:txBody>
          <a:bodyPr/>
          <a:lstStyle/>
          <a:p>
            <a:r>
              <a:rPr lang="en-US" dirty="0"/>
              <a:t>09e-BM/DT/FSOFT - @FPT SOFTWARE - FPT Software Academy - Internal Use</a:t>
            </a:r>
          </a:p>
        </p:txBody>
      </p:sp>
      <p:pic>
        <p:nvPicPr>
          <p:cNvPr id="5" name="Picture 3"/>
          <p:cNvPicPr>
            <a:picLocks noChangeAspect="1" noChangeArrowheads="1"/>
          </p:cNvPicPr>
          <p:nvPr/>
        </p:nvPicPr>
        <p:blipFill>
          <a:blip r:embed="rId2"/>
          <a:srcRect l="26562" t="19792" r="29688" b="43750"/>
          <a:stretch>
            <a:fillRect/>
          </a:stretch>
        </p:blipFill>
        <p:spPr bwMode="auto">
          <a:xfrm>
            <a:off x="3624558" y="3217040"/>
            <a:ext cx="4840179" cy="3025112"/>
          </a:xfrm>
          <a:prstGeom prst="rect">
            <a:avLst/>
          </a:prstGeom>
          <a:noFill/>
          <a:ln w="9525">
            <a:solidFill>
              <a:schemeClr val="accent1"/>
            </a:solidFill>
            <a:miter lim="800000"/>
            <a:headEnd/>
            <a:tailEnd/>
          </a:ln>
          <a:effectLst/>
        </p:spPr>
      </p:pic>
    </p:spTree>
    <p:extLst>
      <p:ext uri="{BB962C8B-B14F-4D97-AF65-F5344CB8AC3E}">
        <p14:creationId xmlns:p14="http://schemas.microsoft.com/office/powerpoint/2010/main" val="5269904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a:t>The Relational Database</a:t>
            </a:r>
          </a:p>
        </p:txBody>
      </p:sp>
      <p:sp>
        <p:nvSpPr>
          <p:cNvPr id="6" name="Text Placeholder 5"/>
          <p:cNvSpPr>
            <a:spLocks noGrp="1"/>
          </p:cNvSpPr>
          <p:nvPr>
            <p:ph type="body" idx="1"/>
          </p:nvPr>
        </p:nvSpPr>
        <p:spPr/>
        <p:txBody>
          <a:bodyPr/>
          <a:lstStyle/>
          <a:p>
            <a:r>
              <a:rPr lang="en-US"/>
              <a:t>Section 2</a:t>
            </a:r>
          </a:p>
        </p:txBody>
      </p:sp>
      <p:sp>
        <p:nvSpPr>
          <p:cNvPr id="3" name="Slide Number Placeholder 2"/>
          <p:cNvSpPr>
            <a:spLocks noGrp="1"/>
          </p:cNvSpPr>
          <p:nvPr>
            <p:ph type="sldNum" sz="quarter" idx="12"/>
          </p:nvPr>
        </p:nvSpPr>
        <p:spPr/>
        <p:txBody>
          <a:bodyPr/>
          <a:lstStyle/>
          <a:p>
            <a:fld id="{AB4FB0DF-9300-7D4B-B157-CBD30D15743F}" type="slidenum">
              <a:rPr lang="en-US" smtClean="0"/>
              <a:t>8</a:t>
            </a:fld>
            <a:endParaRPr lang="en-US"/>
          </a:p>
        </p:txBody>
      </p:sp>
      <p:sp>
        <p:nvSpPr>
          <p:cNvPr id="7" name="Footer Placeholder 4"/>
          <p:cNvSpPr>
            <a:spLocks noGrp="1"/>
          </p:cNvSpPr>
          <p:nvPr>
            <p:ph type="ftr" sz="quarter" idx="3"/>
          </p:nvPr>
        </p:nvSpPr>
        <p:spPr>
          <a:xfrm>
            <a:off x="4901329" y="6320400"/>
            <a:ext cx="6071471" cy="365125"/>
          </a:xfrm>
        </p:spPr>
        <p:txBody>
          <a:bodyPr/>
          <a:lstStyle/>
          <a:p>
            <a:r>
              <a:rPr lang="en-US" dirty="0"/>
              <a:t>09e-BM/DT/FSOFT - @FPT SOFTWARE - FPT Software Academy - Internal Use</a:t>
            </a:r>
          </a:p>
        </p:txBody>
      </p:sp>
    </p:spTree>
    <p:extLst>
      <p:ext uri="{BB962C8B-B14F-4D97-AF65-F5344CB8AC3E}">
        <p14:creationId xmlns:p14="http://schemas.microsoft.com/office/powerpoint/2010/main" val="36816210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Relational Database Concepts (1/3)</a:t>
            </a:r>
          </a:p>
        </p:txBody>
      </p:sp>
      <p:sp>
        <p:nvSpPr>
          <p:cNvPr id="3" name="Content Placeholder 2"/>
          <p:cNvSpPr>
            <a:spLocks noGrp="1"/>
          </p:cNvSpPr>
          <p:nvPr>
            <p:ph idx="1"/>
          </p:nvPr>
        </p:nvSpPr>
        <p:spPr>
          <a:xfrm>
            <a:off x="735496" y="1089498"/>
            <a:ext cx="10618304" cy="5074406"/>
          </a:xfrm>
        </p:spPr>
        <p:txBody>
          <a:bodyPr/>
          <a:lstStyle/>
          <a:p>
            <a:pPr algn="just">
              <a:spcAft>
                <a:spcPts val="600"/>
              </a:spcAft>
              <a:buClr>
                <a:schemeClr val="accent6">
                  <a:lumMod val="75000"/>
                </a:schemeClr>
              </a:buClr>
            </a:pPr>
            <a:r>
              <a:rPr lang="en-US" dirty="0"/>
              <a:t>“A DBMS that manages data as collection of </a:t>
            </a:r>
            <a:r>
              <a:rPr lang="en-US" b="1" dirty="0">
                <a:solidFill>
                  <a:srgbClr val="FF0000"/>
                </a:solidFill>
              </a:rPr>
              <a:t>tables</a:t>
            </a:r>
            <a:r>
              <a:rPr lang="en-US" dirty="0"/>
              <a:t> in which all data relationships are represented by common values in related tables.”</a:t>
            </a:r>
          </a:p>
          <a:p>
            <a:pPr algn="just">
              <a:spcAft>
                <a:spcPts val="600"/>
              </a:spcAft>
              <a:buClr>
                <a:schemeClr val="accent6">
                  <a:lumMod val="75000"/>
                </a:schemeClr>
              </a:buClr>
            </a:pPr>
            <a:r>
              <a:rPr lang="en-US" dirty="0"/>
              <a:t>“A DBMS that follows all the twelve rules of CODD is called RDBMS”</a:t>
            </a:r>
          </a:p>
          <a:p>
            <a:endParaRPr lang="en-US" dirty="0"/>
          </a:p>
        </p:txBody>
      </p:sp>
      <p:sp>
        <p:nvSpPr>
          <p:cNvPr id="4" name="Slide Number Placeholder 3"/>
          <p:cNvSpPr>
            <a:spLocks noGrp="1"/>
          </p:cNvSpPr>
          <p:nvPr>
            <p:ph type="sldNum" sz="quarter" idx="12"/>
          </p:nvPr>
        </p:nvSpPr>
        <p:spPr/>
        <p:txBody>
          <a:bodyPr/>
          <a:lstStyle/>
          <a:p>
            <a:fld id="{586DAB0F-01A5-4AB0-84E3-BA9DDAF20443}" type="slidenum">
              <a:rPr lang="en-US" smtClean="0"/>
              <a:t>9</a:t>
            </a:fld>
            <a:endParaRPr lang="en-US"/>
          </a:p>
        </p:txBody>
      </p:sp>
      <p:sp>
        <p:nvSpPr>
          <p:cNvPr id="5" name="Footer Placeholder 4"/>
          <p:cNvSpPr>
            <a:spLocks noGrp="1"/>
          </p:cNvSpPr>
          <p:nvPr>
            <p:ph type="ftr" sz="quarter" idx="3"/>
          </p:nvPr>
        </p:nvSpPr>
        <p:spPr/>
        <p:txBody>
          <a:bodyPr/>
          <a:lstStyle/>
          <a:p>
            <a:r>
              <a:rPr lang="en-US"/>
              <a:t>09e-BM/DT/FSOFT - @FPT SOFTWARE - FPT Software Academy - Internal Use</a:t>
            </a:r>
          </a:p>
        </p:txBody>
      </p:sp>
      <p:pic>
        <p:nvPicPr>
          <p:cNvPr id="6" name="Picture 2" descr="../../_images/relational_model.png"/>
          <p:cNvPicPr>
            <a:picLocks noChangeAspect="1" noChangeArrowheads="1"/>
          </p:cNvPicPr>
          <p:nvPr/>
        </p:nvPicPr>
        <p:blipFill>
          <a:blip r:embed="rId2"/>
          <a:srcRect/>
          <a:stretch>
            <a:fillRect/>
          </a:stretch>
        </p:blipFill>
        <p:spPr bwMode="auto">
          <a:xfrm>
            <a:off x="3714966" y="2804414"/>
            <a:ext cx="4752528" cy="3096344"/>
          </a:xfrm>
          <a:prstGeom prst="rect">
            <a:avLst/>
          </a:prstGeom>
          <a:noFill/>
        </p:spPr>
      </p:pic>
    </p:spTree>
    <p:extLst>
      <p:ext uri="{BB962C8B-B14F-4D97-AF65-F5344CB8AC3E}">
        <p14:creationId xmlns:p14="http://schemas.microsoft.com/office/powerpoint/2010/main" val="38717894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Relational Database Concepts (</a:t>
            </a:r>
            <a:r>
              <a:rPr lang="vi-VN" dirty="0"/>
              <a:t>2</a:t>
            </a:r>
            <a:r>
              <a:rPr lang="en-US" dirty="0"/>
              <a:t>/3)</a:t>
            </a:r>
          </a:p>
        </p:txBody>
      </p:sp>
      <p:sp>
        <p:nvSpPr>
          <p:cNvPr id="4" name="Slide Number Placeholder 3"/>
          <p:cNvSpPr>
            <a:spLocks noGrp="1"/>
          </p:cNvSpPr>
          <p:nvPr>
            <p:ph type="sldNum" sz="quarter" idx="12"/>
          </p:nvPr>
        </p:nvSpPr>
        <p:spPr/>
        <p:txBody>
          <a:bodyPr/>
          <a:lstStyle/>
          <a:p>
            <a:fld id="{586DAB0F-01A5-4AB0-84E3-BA9DDAF20443}" type="slidenum">
              <a:rPr lang="en-US" smtClean="0"/>
              <a:t>10</a:t>
            </a:fld>
            <a:endParaRPr lang="en-US"/>
          </a:p>
        </p:txBody>
      </p:sp>
      <p:sp>
        <p:nvSpPr>
          <p:cNvPr id="5" name="Footer Placeholder 4"/>
          <p:cNvSpPr>
            <a:spLocks noGrp="1"/>
          </p:cNvSpPr>
          <p:nvPr>
            <p:ph type="ftr" sz="quarter" idx="3"/>
          </p:nvPr>
        </p:nvSpPr>
        <p:spPr/>
        <p:txBody>
          <a:bodyPr/>
          <a:lstStyle/>
          <a:p>
            <a:r>
              <a:rPr lang="en-US"/>
              <a:t>09e-BM/DT/FSOFT - @FPT SOFTWARE - FPT Software Academy - Internal Use</a:t>
            </a:r>
          </a:p>
        </p:txBody>
      </p:sp>
      <p:sp>
        <p:nvSpPr>
          <p:cNvPr id="6" name="Text Box 2"/>
          <p:cNvSpPr txBox="1">
            <a:spLocks noChangeArrowheads="1"/>
          </p:cNvSpPr>
          <p:nvPr/>
        </p:nvSpPr>
        <p:spPr bwMode="auto">
          <a:xfrm>
            <a:off x="8434727" y="2510542"/>
            <a:ext cx="1310658" cy="2114550"/>
          </a:xfrm>
          <a:prstGeom prst="rect">
            <a:avLst/>
          </a:prstGeom>
          <a:solidFill>
            <a:schemeClr val="accent5">
              <a:lumMod val="20000"/>
              <a:lumOff val="80000"/>
            </a:schemeClr>
          </a:solidFill>
          <a:ln w="12700">
            <a:noFill/>
            <a:miter lim="800000"/>
            <a:headEnd/>
            <a:tailEnd/>
          </a:ln>
          <a:effectLst/>
        </p:spPr>
        <p:txBody>
          <a:bodyPr wrap="square">
            <a:spAutoFit/>
          </a:bodyPr>
          <a:lstStyle/>
          <a:p>
            <a:pPr algn="ctr">
              <a:defRPr/>
            </a:pPr>
            <a:r>
              <a:rPr lang="en-US">
                <a:cs typeface="Arial" charset="0"/>
              </a:rPr>
              <a:t>Field     </a:t>
            </a:r>
          </a:p>
          <a:p>
            <a:pPr algn="ctr">
              <a:defRPr/>
            </a:pPr>
            <a:endParaRPr lang="en-US">
              <a:cs typeface="Arial" charset="0"/>
            </a:endParaRPr>
          </a:p>
          <a:p>
            <a:pPr algn="ctr">
              <a:defRPr/>
            </a:pPr>
            <a:endParaRPr lang="en-US" sz="2400">
              <a:latin typeface="Arial" charset="0"/>
              <a:cs typeface="Arial" charset="0"/>
            </a:endParaRPr>
          </a:p>
          <a:p>
            <a:pPr algn="ctr">
              <a:defRPr/>
            </a:pPr>
            <a:endParaRPr lang="en-US" sz="2400">
              <a:latin typeface="Arial" charset="0"/>
              <a:cs typeface="Arial" charset="0"/>
            </a:endParaRPr>
          </a:p>
          <a:p>
            <a:pPr algn="ctr">
              <a:defRPr/>
            </a:pPr>
            <a:endParaRPr lang="en-US" sz="2400">
              <a:latin typeface="Arial" charset="0"/>
              <a:cs typeface="Arial" charset="0"/>
            </a:endParaRPr>
          </a:p>
          <a:p>
            <a:pPr algn="ctr">
              <a:defRPr/>
            </a:pPr>
            <a:endParaRPr lang="en-US" sz="2400">
              <a:latin typeface="Arial" charset="0"/>
              <a:cs typeface="Arial" charset="0"/>
            </a:endParaRPr>
          </a:p>
        </p:txBody>
      </p:sp>
      <p:sp>
        <p:nvSpPr>
          <p:cNvPr id="7" name="Text Box 3"/>
          <p:cNvSpPr txBox="1">
            <a:spLocks noChangeArrowheads="1"/>
          </p:cNvSpPr>
          <p:nvPr/>
        </p:nvSpPr>
        <p:spPr bwMode="auto">
          <a:xfrm>
            <a:off x="1824505" y="3791841"/>
            <a:ext cx="7920880" cy="369332"/>
          </a:xfrm>
          <a:prstGeom prst="rect">
            <a:avLst/>
          </a:prstGeom>
          <a:solidFill>
            <a:srgbClr val="CC99FF"/>
          </a:solidFill>
          <a:ln w="12700">
            <a:noFill/>
            <a:miter lim="800000"/>
            <a:headEnd/>
            <a:tailEnd/>
          </a:ln>
        </p:spPr>
        <p:txBody>
          <a:bodyPr wrap="square">
            <a:spAutoFit/>
          </a:bodyPr>
          <a:lstStyle/>
          <a:p>
            <a:r>
              <a:rPr lang="en-US"/>
              <a:t>Record</a:t>
            </a:r>
          </a:p>
        </p:txBody>
      </p:sp>
      <p:graphicFrame>
        <p:nvGraphicFramePr>
          <p:cNvPr id="8" name="Group 5"/>
          <p:cNvGraphicFramePr>
            <a:graphicFrameLocks/>
          </p:cNvGraphicFramePr>
          <p:nvPr>
            <p:extLst>
              <p:ext uri="{D42A27DB-BD31-4B8C-83A1-F6EECF244321}">
                <p14:modId xmlns:p14="http://schemas.microsoft.com/office/powerpoint/2010/main" val="3868112083"/>
              </p:ext>
            </p:extLst>
          </p:nvPr>
        </p:nvGraphicFramePr>
        <p:xfrm>
          <a:off x="3229442" y="3042578"/>
          <a:ext cx="6515944" cy="1581150"/>
        </p:xfrm>
        <a:graphic>
          <a:graphicData uri="http://schemas.openxmlformats.org/drawingml/2006/table">
            <a:tbl>
              <a:tblPr/>
              <a:tblGrid>
                <a:gridCol w="1002453">
                  <a:extLst>
                    <a:ext uri="{9D8B030D-6E8A-4147-A177-3AD203B41FA5}">
                      <a16:colId xmlns:a16="http://schemas.microsoft.com/office/drawing/2014/main" val="20000"/>
                    </a:ext>
                  </a:extLst>
                </a:gridCol>
                <a:gridCol w="1850045">
                  <a:extLst>
                    <a:ext uri="{9D8B030D-6E8A-4147-A177-3AD203B41FA5}">
                      <a16:colId xmlns:a16="http://schemas.microsoft.com/office/drawing/2014/main" val="20001"/>
                    </a:ext>
                  </a:extLst>
                </a:gridCol>
                <a:gridCol w="2243304">
                  <a:extLst>
                    <a:ext uri="{9D8B030D-6E8A-4147-A177-3AD203B41FA5}">
                      <a16:colId xmlns:a16="http://schemas.microsoft.com/office/drawing/2014/main" val="20002"/>
                    </a:ext>
                  </a:extLst>
                </a:gridCol>
                <a:gridCol w="1420142">
                  <a:extLst>
                    <a:ext uri="{9D8B030D-6E8A-4147-A177-3AD203B41FA5}">
                      <a16:colId xmlns:a16="http://schemas.microsoft.com/office/drawing/2014/main" val="20003"/>
                    </a:ext>
                  </a:extLst>
                </a:gridCol>
              </a:tblGrid>
              <a:tr h="381000">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800" b="1" i="0" u="none" strike="noStrike" cap="none" normalizeH="0" baseline="0" dirty="0">
                          <a:ln>
                            <a:noFill/>
                          </a:ln>
                          <a:solidFill>
                            <a:schemeClr val="tx1"/>
                          </a:solidFill>
                          <a:effectLst/>
                          <a:latin typeface="Times New Roman" pitchFamily="18" charset="0"/>
                        </a:rPr>
                        <a:t>CD_ID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solid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800" b="1" i="0" u="none" strike="noStrike" cap="none" normalizeH="0" baseline="0">
                          <a:ln>
                            <a:noFill/>
                          </a:ln>
                          <a:solidFill>
                            <a:schemeClr val="tx1"/>
                          </a:solidFill>
                          <a:effectLst/>
                          <a:latin typeface="Times New Roman" pitchFamily="18" charset="0"/>
                        </a:rPr>
                        <a:t>Title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solid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800" b="1" i="0" u="none" strike="noStrike" cap="none" normalizeH="0" baseline="0">
                          <a:ln>
                            <a:noFill/>
                          </a:ln>
                          <a:solidFill>
                            <a:schemeClr val="tx1"/>
                          </a:solidFill>
                          <a:effectLst/>
                          <a:latin typeface="Times New Roman" pitchFamily="18" charset="0"/>
                        </a:rPr>
                        <a:t>Artist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solid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800" b="1" i="0" u="none" strike="noStrike" cap="none" normalizeH="0" baseline="0">
                          <a:ln>
                            <a:noFill/>
                          </a:ln>
                          <a:solidFill>
                            <a:schemeClr val="tx1"/>
                          </a:solidFill>
                          <a:effectLst/>
                          <a:latin typeface="Times New Roman" pitchFamily="18" charset="0"/>
                        </a:rPr>
                        <a:t>Genre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solidFill>
                  </a:tcPr>
                </a:tc>
                <a:extLst>
                  <a:ext uri="{0D108BD9-81ED-4DB2-BD59-A6C34878D82A}">
                    <a16:rowId xmlns:a16="http://schemas.microsoft.com/office/drawing/2014/main" val="10000"/>
                  </a:ext>
                </a:extLst>
              </a:tr>
              <a:tr h="381000">
                <a:tc>
                  <a:txBody>
                    <a:bodyPr/>
                    <a:lstStyle/>
                    <a:p>
                      <a:pPr marL="0" marR="0" lvl="0" indent="0" algn="r" defTabSz="914400" rtl="0" eaLnBrk="0" fontAlgn="base" latinLnBrk="0" hangingPunct="0">
                        <a:lnSpc>
                          <a:spcPct val="100000"/>
                        </a:lnSpc>
                        <a:spcBef>
                          <a:spcPct val="20000"/>
                        </a:spcBef>
                        <a:spcAft>
                          <a:spcPct val="0"/>
                        </a:spcAft>
                        <a:buClrTx/>
                        <a:buSzPct val="100000"/>
                        <a:buFontTx/>
                        <a:buNone/>
                        <a:tabLst/>
                      </a:pPr>
                      <a:r>
                        <a:rPr kumimoji="0" lang="en-US" sz="1800" b="1" i="0" u="none" strike="noStrike" cap="none" normalizeH="0" baseline="0">
                          <a:ln>
                            <a:noFill/>
                          </a:ln>
                          <a:solidFill>
                            <a:schemeClr val="tx1"/>
                          </a:solidFill>
                          <a:effectLst/>
                          <a:latin typeface="Times New Roman" pitchFamily="18"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800" b="1" i="0" u="none" strike="noStrike" cap="none" normalizeH="0" baseline="0">
                          <a:ln>
                            <a:noFill/>
                          </a:ln>
                          <a:solidFill>
                            <a:srgbClr val="000000"/>
                          </a:solidFill>
                          <a:effectLst/>
                          <a:latin typeface="Times New Roman" pitchFamily="18" charset="0"/>
                          <a:cs typeface="Arial" pitchFamily="34" charset="0"/>
                        </a:rPr>
                        <a:t>The Wall</a:t>
                      </a:r>
                      <a:endParaRPr kumimoji="0" lang="en-US" sz="1800" b="1" i="0" u="none" strike="noStrike" cap="none" normalizeH="0" baseline="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800" b="1" i="0" u="none" strike="noStrike" cap="none" normalizeH="0" baseline="0">
                          <a:ln>
                            <a:noFill/>
                          </a:ln>
                          <a:solidFill>
                            <a:srgbClr val="000000"/>
                          </a:solidFill>
                          <a:effectLst/>
                          <a:latin typeface="Times New Roman" pitchFamily="18" charset="0"/>
                          <a:cs typeface="Arial" pitchFamily="34" charset="0"/>
                        </a:rPr>
                        <a:t>Pink Floyd</a:t>
                      </a:r>
                      <a:endParaRPr kumimoji="0" lang="en-US" sz="1800" b="1" i="0" u="none" strike="noStrike" cap="none" normalizeH="0" baseline="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800" b="1" i="0" u="none" strike="noStrike" cap="none" normalizeH="0" baseline="0">
                          <a:ln>
                            <a:noFill/>
                          </a:ln>
                          <a:solidFill>
                            <a:srgbClr val="000000"/>
                          </a:solidFill>
                          <a:effectLst/>
                          <a:latin typeface="Times New Roman" pitchFamily="18" charset="0"/>
                          <a:cs typeface="Arial" pitchFamily="34" charset="0"/>
                        </a:rPr>
                        <a:t>Rock</a:t>
                      </a:r>
                      <a:endParaRPr kumimoji="0" lang="en-US" sz="1800" b="1" i="0" u="none" strike="noStrike" cap="none" normalizeH="0" baseline="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8150">
                <a:tc>
                  <a:txBody>
                    <a:bodyPr/>
                    <a:lstStyle/>
                    <a:p>
                      <a:pPr marL="0" marR="0" lvl="0" indent="0" algn="r" defTabSz="914400" rtl="0" eaLnBrk="0" fontAlgn="base" latinLnBrk="0" hangingPunct="0">
                        <a:lnSpc>
                          <a:spcPct val="100000"/>
                        </a:lnSpc>
                        <a:spcBef>
                          <a:spcPct val="20000"/>
                        </a:spcBef>
                        <a:spcAft>
                          <a:spcPct val="0"/>
                        </a:spcAft>
                        <a:buClrTx/>
                        <a:buSzPct val="100000"/>
                        <a:buFontTx/>
                        <a:buNone/>
                        <a:tabLst/>
                      </a:pPr>
                      <a:r>
                        <a:rPr kumimoji="0" lang="en-US" sz="1800" b="1" i="0" u="none" strike="noStrike" cap="none" normalizeH="0" baseline="0">
                          <a:ln>
                            <a:noFill/>
                          </a:ln>
                          <a:solidFill>
                            <a:schemeClr val="tx1"/>
                          </a:solidFill>
                          <a:effectLst/>
                          <a:latin typeface="Times New Roman" pitchFamily="18" charset="0"/>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800" b="1" i="0" u="none" strike="noStrike" cap="none" normalizeH="0" baseline="0">
                          <a:ln>
                            <a:noFill/>
                          </a:ln>
                          <a:solidFill>
                            <a:srgbClr val="000000"/>
                          </a:solidFill>
                          <a:effectLst/>
                          <a:latin typeface="Times New Roman" pitchFamily="18" charset="0"/>
                          <a:cs typeface="Arial" pitchFamily="34" charset="0"/>
                        </a:rPr>
                        <a:t>Blue Train</a:t>
                      </a:r>
                      <a:endParaRPr kumimoji="0" lang="en-US" sz="1800" b="1" i="0" u="none" strike="noStrike" cap="none" normalizeH="0" baseline="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800" b="1" i="0" u="none" strike="noStrike" cap="none" normalizeH="0" baseline="0" dirty="0">
                          <a:ln>
                            <a:noFill/>
                          </a:ln>
                          <a:solidFill>
                            <a:srgbClr val="000000"/>
                          </a:solidFill>
                          <a:effectLst/>
                          <a:latin typeface="Times New Roman" pitchFamily="18" charset="0"/>
                          <a:cs typeface="Arial" pitchFamily="34" charset="0"/>
                        </a:rPr>
                        <a:t>John Coltrane</a:t>
                      </a:r>
                      <a:endParaRPr kumimoji="0" lang="en-US" sz="1800" b="1" i="0" u="none" strike="noStrike" cap="none" normalizeH="0" baseline="0" dirty="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800" b="1" i="0" u="none" strike="noStrike" cap="none" normalizeH="0" baseline="0">
                          <a:ln>
                            <a:noFill/>
                          </a:ln>
                          <a:solidFill>
                            <a:srgbClr val="000000"/>
                          </a:solidFill>
                          <a:effectLst/>
                          <a:latin typeface="Times New Roman" pitchFamily="18" charset="0"/>
                          <a:cs typeface="Arial" pitchFamily="34" charset="0"/>
                        </a:rPr>
                        <a:t>Jazz</a:t>
                      </a:r>
                      <a:endParaRPr kumimoji="0" lang="en-US" sz="1800" b="1" i="0" u="none" strike="noStrike" cap="none" normalizeH="0" baseline="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1000">
                <a:tc>
                  <a:txBody>
                    <a:bodyPr/>
                    <a:lstStyle/>
                    <a:p>
                      <a:pPr marL="0" marR="0" lvl="0" indent="0" algn="r" defTabSz="914400" rtl="0" eaLnBrk="0" fontAlgn="base" latinLnBrk="0" hangingPunct="0">
                        <a:lnSpc>
                          <a:spcPct val="100000"/>
                        </a:lnSpc>
                        <a:spcBef>
                          <a:spcPct val="20000"/>
                        </a:spcBef>
                        <a:spcAft>
                          <a:spcPct val="0"/>
                        </a:spcAft>
                        <a:buClrTx/>
                        <a:buSzPct val="100000"/>
                        <a:buFontTx/>
                        <a:buNone/>
                        <a:tabLst/>
                      </a:pPr>
                      <a:r>
                        <a:rPr kumimoji="0" lang="en-US" sz="1800" b="1" i="0" u="none" strike="noStrike" cap="none" normalizeH="0" baseline="0">
                          <a:ln>
                            <a:noFill/>
                          </a:ln>
                          <a:solidFill>
                            <a:schemeClr val="tx1"/>
                          </a:solidFill>
                          <a:effectLst/>
                          <a:latin typeface="Times New Roman" pitchFamily="18" charset="0"/>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800" b="1" i="0" u="none" strike="noStrike" cap="none" normalizeH="0" baseline="0">
                          <a:ln>
                            <a:noFill/>
                          </a:ln>
                          <a:solidFill>
                            <a:schemeClr val="tx1"/>
                          </a:solidFill>
                          <a:effectLst/>
                          <a:latin typeface="Times New Roman" pitchFamily="18" charset="0"/>
                        </a:rPr>
                        <a:t>Requiem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800" b="1" i="0" u="none" strike="noStrike" cap="none" normalizeH="0" baseline="0">
                          <a:ln>
                            <a:noFill/>
                          </a:ln>
                          <a:solidFill>
                            <a:srgbClr val="000000"/>
                          </a:solidFill>
                          <a:effectLst/>
                          <a:latin typeface="Times New Roman" pitchFamily="18" charset="0"/>
                          <a:cs typeface="Arial" pitchFamily="34" charset="0"/>
                        </a:rPr>
                        <a:t>W.A. Mozart</a:t>
                      </a:r>
                      <a:endParaRPr kumimoji="0" lang="en-US" sz="1800" b="1" i="0" u="none" strike="noStrike" cap="none" normalizeH="0" baseline="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800" b="1" i="0" u="none" strike="noStrike" cap="none" normalizeH="0" baseline="0" dirty="0">
                          <a:ln>
                            <a:noFill/>
                          </a:ln>
                          <a:solidFill>
                            <a:srgbClr val="000000"/>
                          </a:solidFill>
                          <a:effectLst/>
                          <a:latin typeface="Times New Roman" pitchFamily="18" charset="0"/>
                          <a:cs typeface="Arial" pitchFamily="34" charset="0"/>
                        </a:rPr>
                        <a:t>Classical</a:t>
                      </a:r>
                      <a:endParaRPr kumimoji="0" lang="en-US" sz="1800" b="1" i="0" u="none" strike="noStrike" cap="none" normalizeH="0" baseline="0" dirty="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9" name="AutoShape 32"/>
          <p:cNvSpPr>
            <a:spLocks/>
          </p:cNvSpPr>
          <p:nvPr/>
        </p:nvSpPr>
        <p:spPr bwMode="auto">
          <a:xfrm>
            <a:off x="1882548" y="2031886"/>
            <a:ext cx="990600" cy="609600"/>
          </a:xfrm>
          <a:prstGeom prst="borderCallout2">
            <a:avLst>
              <a:gd name="adj1" fmla="val 18750"/>
              <a:gd name="adj2" fmla="val 107694"/>
              <a:gd name="adj3" fmla="val 18750"/>
              <a:gd name="adj4" fmla="val 138620"/>
              <a:gd name="adj5" fmla="val 157032"/>
              <a:gd name="adj6" fmla="val 170833"/>
            </a:avLst>
          </a:prstGeom>
          <a:solidFill>
            <a:schemeClr val="accent6"/>
          </a:solidFill>
          <a:ln w="12700">
            <a:solidFill>
              <a:schemeClr val="tx1"/>
            </a:solidFill>
            <a:miter lim="800000"/>
            <a:headEnd/>
            <a:tailEnd/>
          </a:ln>
          <a:effectLst/>
        </p:spPr>
        <p:txBody>
          <a:bodyPr anchor="ctr"/>
          <a:lstStyle/>
          <a:p>
            <a:pPr algn="ctr">
              <a:defRPr/>
            </a:pPr>
            <a:r>
              <a:rPr lang="en-US" sz="2400" dirty="0">
                <a:cs typeface="Arial" charset="0"/>
              </a:rPr>
              <a:t>Table</a:t>
            </a:r>
          </a:p>
        </p:txBody>
      </p:sp>
    </p:spTree>
    <p:extLst>
      <p:ext uri="{BB962C8B-B14F-4D97-AF65-F5344CB8AC3E}">
        <p14:creationId xmlns:p14="http://schemas.microsoft.com/office/powerpoint/2010/main" val="9619915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Relational Database Concepts (</a:t>
            </a:r>
            <a:r>
              <a:rPr lang="vi-VN" dirty="0"/>
              <a:t>3</a:t>
            </a:r>
            <a:r>
              <a:rPr lang="en-US" dirty="0"/>
              <a:t>/3)</a:t>
            </a:r>
          </a:p>
        </p:txBody>
      </p:sp>
      <p:sp>
        <p:nvSpPr>
          <p:cNvPr id="4" name="Slide Number Placeholder 3"/>
          <p:cNvSpPr>
            <a:spLocks noGrp="1"/>
          </p:cNvSpPr>
          <p:nvPr>
            <p:ph type="sldNum" sz="quarter" idx="12"/>
          </p:nvPr>
        </p:nvSpPr>
        <p:spPr/>
        <p:txBody>
          <a:bodyPr/>
          <a:lstStyle/>
          <a:p>
            <a:fld id="{586DAB0F-01A5-4AB0-84E3-BA9DDAF20443}" type="slidenum">
              <a:rPr lang="en-US" smtClean="0"/>
              <a:t>11</a:t>
            </a:fld>
            <a:endParaRPr lang="en-US"/>
          </a:p>
        </p:txBody>
      </p:sp>
      <p:sp>
        <p:nvSpPr>
          <p:cNvPr id="5" name="Footer Placeholder 4"/>
          <p:cNvSpPr>
            <a:spLocks noGrp="1"/>
          </p:cNvSpPr>
          <p:nvPr>
            <p:ph type="ftr" sz="quarter" idx="3"/>
          </p:nvPr>
        </p:nvSpPr>
        <p:spPr/>
        <p:txBody>
          <a:bodyPr/>
          <a:lstStyle/>
          <a:p>
            <a:r>
              <a:rPr lang="en-US"/>
              <a:t>09e-BM/DT/FSOFT - @FPT SOFTWARE - FPT Software Academy - Internal Use</a:t>
            </a:r>
          </a:p>
        </p:txBody>
      </p:sp>
      <p:grpSp>
        <p:nvGrpSpPr>
          <p:cNvPr id="41" name="Group 7"/>
          <p:cNvGrpSpPr>
            <a:grpSpLocks/>
          </p:cNvGrpSpPr>
          <p:nvPr/>
        </p:nvGrpSpPr>
        <p:grpSpPr bwMode="auto">
          <a:xfrm>
            <a:off x="3958485" y="5221656"/>
            <a:ext cx="3638817" cy="708052"/>
            <a:chOff x="1428" y="3342"/>
            <a:chExt cx="2855" cy="518"/>
          </a:xfrm>
        </p:grpSpPr>
        <p:sp>
          <p:nvSpPr>
            <p:cNvPr id="42" name="Text Box 8"/>
            <p:cNvSpPr txBox="1">
              <a:spLocks noChangeArrowheads="1"/>
            </p:cNvSpPr>
            <p:nvPr/>
          </p:nvSpPr>
          <p:spPr bwMode="auto">
            <a:xfrm>
              <a:off x="2304" y="3648"/>
              <a:ext cx="1200" cy="212"/>
            </a:xfrm>
            <a:prstGeom prst="rect">
              <a:avLst/>
            </a:prstGeom>
            <a:noFill/>
            <a:ln w="9525">
              <a:solidFill>
                <a:schemeClr val="tx1"/>
              </a:solidFill>
              <a:miter lim="800000"/>
              <a:headEnd/>
              <a:tailEnd/>
            </a:ln>
            <a:effectLst/>
          </p:spPr>
          <p:txBody>
            <a:bodyPr>
              <a:spAutoFit/>
            </a:bodyPr>
            <a:lstStyle/>
            <a:p>
              <a:pPr algn="ctr"/>
              <a:r>
                <a:rPr lang="en-US" dirty="0">
                  <a:solidFill>
                    <a:srgbClr val="000000"/>
                  </a:solidFill>
                  <a:latin typeface="Arial" panose="020B0604020202020204" pitchFamily="34" charset="0"/>
                  <a:cs typeface="Arial" panose="020B0604020202020204" pitchFamily="34" charset="0"/>
                </a:rPr>
                <a:t>Field</a:t>
              </a:r>
            </a:p>
          </p:txBody>
        </p:sp>
        <p:sp>
          <p:nvSpPr>
            <p:cNvPr id="43" name="Line 9"/>
            <p:cNvSpPr>
              <a:spLocks noChangeShapeType="1"/>
            </p:cNvSpPr>
            <p:nvPr/>
          </p:nvSpPr>
          <p:spPr bwMode="auto">
            <a:xfrm>
              <a:off x="1428" y="3360"/>
              <a:ext cx="864" cy="288"/>
            </a:xfrm>
            <a:prstGeom prst="line">
              <a:avLst/>
            </a:prstGeom>
            <a:noFill/>
            <a:ln w="44450">
              <a:solidFill>
                <a:schemeClr val="tx1"/>
              </a:solidFill>
              <a:round/>
              <a:headEnd type="triangle" w="med" len="med"/>
              <a:tailEnd/>
            </a:ln>
          </p:spPr>
          <p:txBody>
            <a:bodyPr/>
            <a:lstStyle/>
            <a:p>
              <a:endParaRPr lang="en-US" sz="1600"/>
            </a:p>
          </p:txBody>
        </p:sp>
        <p:sp>
          <p:nvSpPr>
            <p:cNvPr id="44" name="Line 10"/>
            <p:cNvSpPr>
              <a:spLocks noChangeShapeType="1"/>
            </p:cNvSpPr>
            <p:nvPr/>
          </p:nvSpPr>
          <p:spPr bwMode="auto">
            <a:xfrm>
              <a:off x="2496" y="3408"/>
              <a:ext cx="192" cy="240"/>
            </a:xfrm>
            <a:prstGeom prst="line">
              <a:avLst/>
            </a:prstGeom>
            <a:noFill/>
            <a:ln w="38100">
              <a:solidFill>
                <a:schemeClr val="tx1"/>
              </a:solidFill>
              <a:round/>
              <a:headEnd type="triangle" w="med" len="med"/>
              <a:tailEnd/>
            </a:ln>
          </p:spPr>
          <p:txBody>
            <a:bodyPr/>
            <a:lstStyle/>
            <a:p>
              <a:endParaRPr lang="en-US" sz="1600"/>
            </a:p>
          </p:txBody>
        </p:sp>
        <p:sp>
          <p:nvSpPr>
            <p:cNvPr id="45" name="Line 11"/>
            <p:cNvSpPr>
              <a:spLocks noChangeShapeType="1"/>
            </p:cNvSpPr>
            <p:nvPr/>
          </p:nvSpPr>
          <p:spPr bwMode="auto">
            <a:xfrm flipV="1">
              <a:off x="3108" y="3360"/>
              <a:ext cx="144" cy="290"/>
            </a:xfrm>
            <a:prstGeom prst="line">
              <a:avLst/>
            </a:prstGeom>
            <a:noFill/>
            <a:ln w="38100">
              <a:solidFill>
                <a:schemeClr val="tx1"/>
              </a:solidFill>
              <a:round/>
              <a:headEnd/>
              <a:tailEnd type="triangle" w="med" len="med"/>
            </a:ln>
          </p:spPr>
          <p:txBody>
            <a:bodyPr/>
            <a:lstStyle/>
            <a:p>
              <a:endParaRPr lang="en-US" sz="1600"/>
            </a:p>
          </p:txBody>
        </p:sp>
        <p:sp>
          <p:nvSpPr>
            <p:cNvPr id="46" name="Line 12"/>
            <p:cNvSpPr>
              <a:spLocks noChangeShapeType="1"/>
            </p:cNvSpPr>
            <p:nvPr/>
          </p:nvSpPr>
          <p:spPr bwMode="auto">
            <a:xfrm flipV="1">
              <a:off x="3515" y="3342"/>
              <a:ext cx="768" cy="336"/>
            </a:xfrm>
            <a:prstGeom prst="line">
              <a:avLst/>
            </a:prstGeom>
            <a:noFill/>
            <a:ln w="38100">
              <a:solidFill>
                <a:schemeClr val="tx1"/>
              </a:solidFill>
              <a:round/>
              <a:headEnd/>
              <a:tailEnd type="triangle" w="med" len="med"/>
            </a:ln>
          </p:spPr>
          <p:txBody>
            <a:bodyPr/>
            <a:lstStyle/>
            <a:p>
              <a:endParaRPr lang="en-US" sz="1600"/>
            </a:p>
          </p:txBody>
        </p:sp>
      </p:grpSp>
      <p:grpSp>
        <p:nvGrpSpPr>
          <p:cNvPr id="47" name="Group 13"/>
          <p:cNvGrpSpPr>
            <a:grpSpLocks/>
          </p:cNvGrpSpPr>
          <p:nvPr/>
        </p:nvGrpSpPr>
        <p:grpSpPr bwMode="auto">
          <a:xfrm>
            <a:off x="9444912" y="2221138"/>
            <a:ext cx="1259631" cy="3124200"/>
            <a:chOff x="5053" y="1344"/>
            <a:chExt cx="528" cy="1968"/>
          </a:xfrm>
        </p:grpSpPr>
        <p:sp>
          <p:nvSpPr>
            <p:cNvPr id="48" name="Text Box 14"/>
            <p:cNvSpPr txBox="1">
              <a:spLocks noChangeArrowheads="1"/>
            </p:cNvSpPr>
            <p:nvPr/>
          </p:nvSpPr>
          <p:spPr bwMode="auto">
            <a:xfrm rot="16200000">
              <a:off x="5205" y="2005"/>
              <a:ext cx="223" cy="528"/>
            </a:xfrm>
            <a:prstGeom prst="rect">
              <a:avLst/>
            </a:prstGeom>
            <a:noFill/>
            <a:ln w="9525">
              <a:solidFill>
                <a:schemeClr val="tx1"/>
              </a:solidFill>
              <a:miter lim="800000"/>
              <a:headEnd/>
              <a:tailEnd/>
            </a:ln>
            <a:effectLst/>
          </p:spPr>
          <p:txBody>
            <a:bodyPr vert="eaVert" wrap="square">
              <a:spAutoFit/>
            </a:bodyPr>
            <a:lstStyle/>
            <a:p>
              <a:pPr algn="ctr">
                <a:spcBef>
                  <a:spcPct val="50000"/>
                </a:spcBef>
                <a:defRPr/>
              </a:pPr>
              <a:r>
                <a:rPr lang="en-US" sz="1100">
                  <a:effectLst>
                    <a:outerShdw blurRad="38100" dist="38100" dir="2700000" algn="tl">
                      <a:srgbClr val="FFFFFF"/>
                    </a:outerShdw>
                  </a:effectLst>
                  <a:latin typeface="Arial" charset="0"/>
                  <a:cs typeface="Arial" charset="0"/>
                </a:rPr>
                <a:t>Cardinality</a:t>
              </a:r>
            </a:p>
          </p:txBody>
        </p:sp>
        <p:sp>
          <p:nvSpPr>
            <p:cNvPr id="49" name="Line 15"/>
            <p:cNvSpPr>
              <a:spLocks noChangeShapeType="1"/>
            </p:cNvSpPr>
            <p:nvPr/>
          </p:nvSpPr>
          <p:spPr bwMode="auto">
            <a:xfrm flipV="1">
              <a:off x="5280" y="1344"/>
              <a:ext cx="0" cy="528"/>
            </a:xfrm>
            <a:prstGeom prst="line">
              <a:avLst/>
            </a:prstGeom>
            <a:noFill/>
            <a:ln w="38100">
              <a:solidFill>
                <a:schemeClr val="tx1"/>
              </a:solidFill>
              <a:round/>
              <a:headEnd/>
              <a:tailEnd type="triangle" w="med" len="med"/>
            </a:ln>
          </p:spPr>
          <p:txBody>
            <a:bodyPr/>
            <a:lstStyle/>
            <a:p>
              <a:endParaRPr lang="en-US" sz="1600"/>
            </a:p>
          </p:txBody>
        </p:sp>
        <p:sp>
          <p:nvSpPr>
            <p:cNvPr id="50" name="Line 16"/>
            <p:cNvSpPr>
              <a:spLocks noChangeShapeType="1"/>
            </p:cNvSpPr>
            <p:nvPr/>
          </p:nvSpPr>
          <p:spPr bwMode="auto">
            <a:xfrm>
              <a:off x="5280" y="2688"/>
              <a:ext cx="0" cy="624"/>
            </a:xfrm>
            <a:prstGeom prst="line">
              <a:avLst/>
            </a:prstGeom>
            <a:noFill/>
            <a:ln w="38100">
              <a:solidFill>
                <a:schemeClr val="tx1"/>
              </a:solidFill>
              <a:round/>
              <a:headEnd/>
              <a:tailEnd type="triangle" w="med" len="med"/>
            </a:ln>
          </p:spPr>
          <p:txBody>
            <a:bodyPr/>
            <a:lstStyle/>
            <a:p>
              <a:endParaRPr lang="en-US" sz="1600"/>
            </a:p>
          </p:txBody>
        </p:sp>
      </p:grpSp>
      <p:sp>
        <p:nvSpPr>
          <p:cNvPr id="51" name="AutoShape 17"/>
          <p:cNvSpPr>
            <a:spLocks noChangeArrowheads="1"/>
          </p:cNvSpPr>
          <p:nvPr/>
        </p:nvSpPr>
        <p:spPr bwMode="auto">
          <a:xfrm>
            <a:off x="4133583" y="886689"/>
            <a:ext cx="1279535" cy="562987"/>
          </a:xfrm>
          <a:prstGeom prst="wedgeEllipseCallout">
            <a:avLst>
              <a:gd name="adj1" fmla="val -45549"/>
              <a:gd name="adj2" fmla="val 92963"/>
            </a:avLst>
          </a:prstGeom>
          <a:solidFill>
            <a:schemeClr val="accent5">
              <a:lumMod val="40000"/>
              <a:lumOff val="60000"/>
            </a:schemeClr>
          </a:solidFill>
          <a:ln w="9525">
            <a:solidFill>
              <a:schemeClr val="tx1"/>
            </a:solidFill>
            <a:miter lim="800000"/>
            <a:headEnd/>
            <a:tailEnd/>
          </a:ln>
          <a:effectLst/>
        </p:spPr>
        <p:txBody>
          <a:bodyPr anchor="ctr" anchorCtr="1"/>
          <a:lstStyle/>
          <a:p>
            <a:pPr algn="ctr">
              <a:defRPr/>
            </a:pPr>
            <a:r>
              <a:rPr lang="en-US" sz="1600" dirty="0">
                <a:effectLst>
                  <a:outerShdw blurRad="38100" dist="38100" dir="2700000" algn="tl">
                    <a:srgbClr val="FFFFFF"/>
                  </a:outerShdw>
                </a:effectLst>
                <a:latin typeface="Arial" charset="0"/>
                <a:cs typeface="Arial" charset="0"/>
              </a:rPr>
              <a:t>Primary Key</a:t>
            </a:r>
          </a:p>
        </p:txBody>
      </p:sp>
      <p:grpSp>
        <p:nvGrpSpPr>
          <p:cNvPr id="52" name="Group 18"/>
          <p:cNvGrpSpPr>
            <a:grpSpLocks/>
          </p:cNvGrpSpPr>
          <p:nvPr/>
        </p:nvGrpSpPr>
        <p:grpSpPr bwMode="auto">
          <a:xfrm>
            <a:off x="1486878" y="2627874"/>
            <a:ext cx="1390650" cy="2781300"/>
            <a:chOff x="48" y="1452"/>
            <a:chExt cx="876" cy="1752"/>
          </a:xfrm>
        </p:grpSpPr>
        <p:sp>
          <p:nvSpPr>
            <p:cNvPr id="53" name="Text Box 19"/>
            <p:cNvSpPr txBox="1">
              <a:spLocks noChangeArrowheads="1"/>
            </p:cNvSpPr>
            <p:nvPr/>
          </p:nvSpPr>
          <p:spPr bwMode="auto">
            <a:xfrm>
              <a:off x="48" y="1968"/>
              <a:ext cx="672" cy="494"/>
            </a:xfrm>
            <a:prstGeom prst="rect">
              <a:avLst/>
            </a:prstGeom>
            <a:noFill/>
            <a:ln w="9525">
              <a:solidFill>
                <a:schemeClr val="tx1"/>
              </a:solidFill>
              <a:miter lim="800000"/>
              <a:headEnd/>
              <a:tailEnd/>
            </a:ln>
            <a:effectLst/>
          </p:spPr>
          <p:txBody>
            <a:bodyPr>
              <a:spAutoFit/>
            </a:bodyPr>
            <a:lstStyle/>
            <a:p>
              <a:pPr algn="ctr">
                <a:spcBef>
                  <a:spcPct val="50000"/>
                </a:spcBef>
                <a:defRPr/>
              </a:pPr>
              <a:r>
                <a:rPr lang="en-US">
                  <a:effectLst>
                    <a:outerShdw blurRad="38100" dist="38100" dir="2700000" algn="tl">
                      <a:srgbClr val="FFFFFF"/>
                    </a:outerShdw>
                  </a:effectLst>
                  <a:latin typeface="Arial" charset="0"/>
                  <a:cs typeface="Arial" charset="0"/>
                </a:rPr>
                <a:t>Row/</a:t>
              </a:r>
            </a:p>
            <a:p>
              <a:pPr algn="ctr">
                <a:spcBef>
                  <a:spcPct val="50000"/>
                </a:spcBef>
                <a:defRPr/>
              </a:pPr>
              <a:r>
                <a:rPr lang="en-US">
                  <a:effectLst>
                    <a:outerShdw blurRad="38100" dist="38100" dir="2700000" algn="tl">
                      <a:srgbClr val="FFFFFF"/>
                    </a:outerShdw>
                  </a:effectLst>
                  <a:latin typeface="Arial" charset="0"/>
                  <a:cs typeface="Arial" charset="0"/>
                </a:rPr>
                <a:t>Record</a:t>
              </a:r>
            </a:p>
          </p:txBody>
        </p:sp>
        <p:sp>
          <p:nvSpPr>
            <p:cNvPr id="54" name="Freeform 20"/>
            <p:cNvSpPr>
              <a:spLocks/>
            </p:cNvSpPr>
            <p:nvPr/>
          </p:nvSpPr>
          <p:spPr bwMode="auto">
            <a:xfrm>
              <a:off x="348" y="1452"/>
              <a:ext cx="552" cy="558"/>
            </a:xfrm>
            <a:custGeom>
              <a:avLst/>
              <a:gdLst>
                <a:gd name="T0" fmla="*/ 0 w 552"/>
                <a:gd name="T1" fmla="*/ 540 h 558"/>
                <a:gd name="T2" fmla="*/ 36 w 552"/>
                <a:gd name="T3" fmla="*/ 552 h 558"/>
                <a:gd name="T4" fmla="*/ 108 w 552"/>
                <a:gd name="T5" fmla="*/ 432 h 558"/>
                <a:gd name="T6" fmla="*/ 168 w 552"/>
                <a:gd name="T7" fmla="*/ 312 h 558"/>
                <a:gd name="T8" fmla="*/ 168 w 552"/>
                <a:gd name="T9" fmla="*/ 312 h 558"/>
                <a:gd name="T10" fmla="*/ 276 w 552"/>
                <a:gd name="T11" fmla="*/ 60 h 558"/>
                <a:gd name="T12" fmla="*/ 384 w 552"/>
                <a:gd name="T13" fmla="*/ 0 h 558"/>
                <a:gd name="T14" fmla="*/ 552 w 552"/>
                <a:gd name="T15" fmla="*/ 12 h 558"/>
                <a:gd name="T16" fmla="*/ 0 60000 65536"/>
                <a:gd name="T17" fmla="*/ 0 60000 65536"/>
                <a:gd name="T18" fmla="*/ 0 60000 65536"/>
                <a:gd name="T19" fmla="*/ 0 60000 65536"/>
                <a:gd name="T20" fmla="*/ 0 60000 65536"/>
                <a:gd name="T21" fmla="*/ 0 60000 65536"/>
                <a:gd name="T22" fmla="*/ 0 60000 65536"/>
                <a:gd name="T23" fmla="*/ 0 60000 65536"/>
                <a:gd name="T24" fmla="*/ 0 w 552"/>
                <a:gd name="T25" fmla="*/ 0 h 558"/>
                <a:gd name="T26" fmla="*/ 552 w 552"/>
                <a:gd name="T27" fmla="*/ 558 h 55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52" h="558">
                  <a:moveTo>
                    <a:pt x="0" y="540"/>
                  </a:moveTo>
                  <a:cubicBezTo>
                    <a:pt x="12" y="544"/>
                    <a:pt x="25" y="558"/>
                    <a:pt x="36" y="552"/>
                  </a:cubicBezTo>
                  <a:cubicBezTo>
                    <a:pt x="69" y="536"/>
                    <a:pt x="88" y="462"/>
                    <a:pt x="108" y="432"/>
                  </a:cubicBezTo>
                  <a:lnTo>
                    <a:pt x="168" y="312"/>
                  </a:lnTo>
                  <a:cubicBezTo>
                    <a:pt x="168" y="312"/>
                    <a:pt x="168" y="312"/>
                    <a:pt x="168" y="312"/>
                  </a:cubicBezTo>
                  <a:cubicBezTo>
                    <a:pt x="186" y="258"/>
                    <a:pt x="224" y="94"/>
                    <a:pt x="276" y="60"/>
                  </a:cubicBezTo>
                  <a:cubicBezTo>
                    <a:pt x="312" y="36"/>
                    <a:pt x="348" y="24"/>
                    <a:pt x="384" y="0"/>
                  </a:cubicBezTo>
                  <a:cubicBezTo>
                    <a:pt x="512" y="14"/>
                    <a:pt x="456" y="12"/>
                    <a:pt x="552" y="12"/>
                  </a:cubicBezTo>
                </a:path>
              </a:pathLst>
            </a:custGeom>
            <a:noFill/>
            <a:ln w="38100">
              <a:solidFill>
                <a:schemeClr val="tx1"/>
              </a:solidFill>
              <a:round/>
              <a:headEnd/>
              <a:tailEnd type="triangle" w="med" len="med"/>
            </a:ln>
          </p:spPr>
          <p:txBody>
            <a:bodyPr/>
            <a:lstStyle/>
            <a:p>
              <a:endParaRPr lang="en-US" sz="1600"/>
            </a:p>
          </p:txBody>
        </p:sp>
        <p:sp>
          <p:nvSpPr>
            <p:cNvPr id="55" name="Freeform 21"/>
            <p:cNvSpPr>
              <a:spLocks/>
            </p:cNvSpPr>
            <p:nvPr/>
          </p:nvSpPr>
          <p:spPr bwMode="auto">
            <a:xfrm>
              <a:off x="624" y="1836"/>
              <a:ext cx="300" cy="180"/>
            </a:xfrm>
            <a:custGeom>
              <a:avLst/>
              <a:gdLst>
                <a:gd name="T0" fmla="*/ 0 w 300"/>
                <a:gd name="T1" fmla="*/ 180 h 180"/>
                <a:gd name="T2" fmla="*/ 36 w 300"/>
                <a:gd name="T3" fmla="*/ 108 h 180"/>
                <a:gd name="T4" fmla="*/ 72 w 300"/>
                <a:gd name="T5" fmla="*/ 72 h 180"/>
                <a:gd name="T6" fmla="*/ 168 w 300"/>
                <a:gd name="T7" fmla="*/ 0 h 180"/>
                <a:gd name="T8" fmla="*/ 300 w 300"/>
                <a:gd name="T9" fmla="*/ 12 h 180"/>
                <a:gd name="T10" fmla="*/ 0 60000 65536"/>
                <a:gd name="T11" fmla="*/ 0 60000 65536"/>
                <a:gd name="T12" fmla="*/ 0 60000 65536"/>
                <a:gd name="T13" fmla="*/ 0 60000 65536"/>
                <a:gd name="T14" fmla="*/ 0 60000 65536"/>
                <a:gd name="T15" fmla="*/ 0 w 300"/>
                <a:gd name="T16" fmla="*/ 0 h 180"/>
                <a:gd name="T17" fmla="*/ 300 w 300"/>
                <a:gd name="T18" fmla="*/ 180 h 180"/>
              </a:gdLst>
              <a:ahLst/>
              <a:cxnLst>
                <a:cxn ang="T10">
                  <a:pos x="T0" y="T1"/>
                </a:cxn>
                <a:cxn ang="T11">
                  <a:pos x="T2" y="T3"/>
                </a:cxn>
                <a:cxn ang="T12">
                  <a:pos x="T4" y="T5"/>
                </a:cxn>
                <a:cxn ang="T13">
                  <a:pos x="T6" y="T7"/>
                </a:cxn>
                <a:cxn ang="T14">
                  <a:pos x="T8" y="T9"/>
                </a:cxn>
              </a:cxnLst>
              <a:rect l="T15" t="T16" r="T17" b="T18"/>
              <a:pathLst>
                <a:path w="300" h="180">
                  <a:moveTo>
                    <a:pt x="0" y="180"/>
                  </a:moveTo>
                  <a:cubicBezTo>
                    <a:pt x="0" y="180"/>
                    <a:pt x="35" y="110"/>
                    <a:pt x="36" y="108"/>
                  </a:cubicBezTo>
                  <a:cubicBezTo>
                    <a:pt x="45" y="94"/>
                    <a:pt x="61" y="85"/>
                    <a:pt x="72" y="72"/>
                  </a:cubicBezTo>
                  <a:cubicBezTo>
                    <a:pt x="105" y="33"/>
                    <a:pt x="118" y="17"/>
                    <a:pt x="168" y="0"/>
                  </a:cubicBezTo>
                  <a:cubicBezTo>
                    <a:pt x="268" y="14"/>
                    <a:pt x="224" y="12"/>
                    <a:pt x="300" y="12"/>
                  </a:cubicBezTo>
                </a:path>
              </a:pathLst>
            </a:custGeom>
            <a:noFill/>
            <a:ln w="38100">
              <a:solidFill>
                <a:schemeClr val="tx1"/>
              </a:solidFill>
              <a:round/>
              <a:headEnd/>
              <a:tailEnd type="triangle" w="med" len="med"/>
            </a:ln>
          </p:spPr>
          <p:txBody>
            <a:bodyPr/>
            <a:lstStyle/>
            <a:p>
              <a:endParaRPr lang="en-US" sz="1600"/>
            </a:p>
          </p:txBody>
        </p:sp>
        <p:sp>
          <p:nvSpPr>
            <p:cNvPr id="56" name="Freeform 22"/>
            <p:cNvSpPr>
              <a:spLocks/>
            </p:cNvSpPr>
            <p:nvPr/>
          </p:nvSpPr>
          <p:spPr bwMode="auto">
            <a:xfrm>
              <a:off x="732" y="2172"/>
              <a:ext cx="192" cy="156"/>
            </a:xfrm>
            <a:custGeom>
              <a:avLst/>
              <a:gdLst>
                <a:gd name="T0" fmla="*/ 0 w 192"/>
                <a:gd name="T1" fmla="*/ 0 h 156"/>
                <a:gd name="T2" fmla="*/ 36 w 192"/>
                <a:gd name="T3" fmla="*/ 24 h 156"/>
                <a:gd name="T4" fmla="*/ 72 w 192"/>
                <a:gd name="T5" fmla="*/ 96 h 156"/>
                <a:gd name="T6" fmla="*/ 192 w 192"/>
                <a:gd name="T7" fmla="*/ 156 h 156"/>
                <a:gd name="T8" fmla="*/ 0 60000 65536"/>
                <a:gd name="T9" fmla="*/ 0 60000 65536"/>
                <a:gd name="T10" fmla="*/ 0 60000 65536"/>
                <a:gd name="T11" fmla="*/ 0 60000 65536"/>
                <a:gd name="T12" fmla="*/ 0 w 192"/>
                <a:gd name="T13" fmla="*/ 0 h 156"/>
                <a:gd name="T14" fmla="*/ 192 w 192"/>
                <a:gd name="T15" fmla="*/ 156 h 156"/>
              </a:gdLst>
              <a:ahLst/>
              <a:cxnLst>
                <a:cxn ang="T8">
                  <a:pos x="T0" y="T1"/>
                </a:cxn>
                <a:cxn ang="T9">
                  <a:pos x="T2" y="T3"/>
                </a:cxn>
                <a:cxn ang="T10">
                  <a:pos x="T4" y="T5"/>
                </a:cxn>
                <a:cxn ang="T11">
                  <a:pos x="T6" y="T7"/>
                </a:cxn>
              </a:cxnLst>
              <a:rect l="T12" t="T13" r="T14" b="T15"/>
              <a:pathLst>
                <a:path w="192" h="156">
                  <a:moveTo>
                    <a:pt x="0" y="0"/>
                  </a:moveTo>
                  <a:cubicBezTo>
                    <a:pt x="12" y="8"/>
                    <a:pt x="27" y="13"/>
                    <a:pt x="36" y="24"/>
                  </a:cubicBezTo>
                  <a:cubicBezTo>
                    <a:pt x="85" y="85"/>
                    <a:pt x="5" y="37"/>
                    <a:pt x="72" y="96"/>
                  </a:cubicBezTo>
                  <a:cubicBezTo>
                    <a:pt x="101" y="121"/>
                    <a:pt x="149" y="156"/>
                    <a:pt x="192" y="156"/>
                  </a:cubicBezTo>
                </a:path>
              </a:pathLst>
            </a:custGeom>
            <a:noFill/>
            <a:ln w="38100">
              <a:solidFill>
                <a:schemeClr val="tx1"/>
              </a:solidFill>
              <a:round/>
              <a:headEnd/>
              <a:tailEnd type="triangle" w="med" len="med"/>
            </a:ln>
          </p:spPr>
          <p:txBody>
            <a:bodyPr/>
            <a:lstStyle/>
            <a:p>
              <a:endParaRPr lang="en-US" sz="1600"/>
            </a:p>
          </p:txBody>
        </p:sp>
        <p:sp>
          <p:nvSpPr>
            <p:cNvPr id="57" name="Freeform 23"/>
            <p:cNvSpPr>
              <a:spLocks/>
            </p:cNvSpPr>
            <p:nvPr/>
          </p:nvSpPr>
          <p:spPr bwMode="auto">
            <a:xfrm>
              <a:off x="506" y="2304"/>
              <a:ext cx="394" cy="432"/>
            </a:xfrm>
            <a:custGeom>
              <a:avLst/>
              <a:gdLst>
                <a:gd name="T0" fmla="*/ 22 w 394"/>
                <a:gd name="T1" fmla="*/ 0 h 432"/>
                <a:gd name="T2" fmla="*/ 118 w 394"/>
                <a:gd name="T3" fmla="*/ 324 h 432"/>
                <a:gd name="T4" fmla="*/ 394 w 394"/>
                <a:gd name="T5" fmla="*/ 432 h 432"/>
                <a:gd name="T6" fmla="*/ 0 60000 65536"/>
                <a:gd name="T7" fmla="*/ 0 60000 65536"/>
                <a:gd name="T8" fmla="*/ 0 60000 65536"/>
                <a:gd name="T9" fmla="*/ 0 w 394"/>
                <a:gd name="T10" fmla="*/ 0 h 432"/>
                <a:gd name="T11" fmla="*/ 394 w 394"/>
                <a:gd name="T12" fmla="*/ 432 h 432"/>
              </a:gdLst>
              <a:ahLst/>
              <a:cxnLst>
                <a:cxn ang="T6">
                  <a:pos x="T0" y="T1"/>
                </a:cxn>
                <a:cxn ang="T7">
                  <a:pos x="T2" y="T3"/>
                </a:cxn>
                <a:cxn ang="T8">
                  <a:pos x="T4" y="T5"/>
                </a:cxn>
              </a:cxnLst>
              <a:rect l="T9" t="T10" r="T11" b="T12"/>
              <a:pathLst>
                <a:path w="394" h="432">
                  <a:moveTo>
                    <a:pt x="22" y="0"/>
                  </a:moveTo>
                  <a:cubicBezTo>
                    <a:pt x="27" y="85"/>
                    <a:pt x="0" y="285"/>
                    <a:pt x="118" y="324"/>
                  </a:cubicBezTo>
                  <a:cubicBezTo>
                    <a:pt x="185" y="424"/>
                    <a:pt x="282" y="432"/>
                    <a:pt x="394" y="432"/>
                  </a:cubicBezTo>
                </a:path>
              </a:pathLst>
            </a:custGeom>
            <a:noFill/>
            <a:ln w="38100">
              <a:solidFill>
                <a:schemeClr val="tx1"/>
              </a:solidFill>
              <a:round/>
              <a:headEnd/>
              <a:tailEnd type="triangle" w="med" len="med"/>
            </a:ln>
          </p:spPr>
          <p:txBody>
            <a:bodyPr/>
            <a:lstStyle/>
            <a:p>
              <a:endParaRPr lang="en-US" sz="1600"/>
            </a:p>
          </p:txBody>
        </p:sp>
        <p:sp>
          <p:nvSpPr>
            <p:cNvPr id="58" name="Freeform 24"/>
            <p:cNvSpPr>
              <a:spLocks/>
            </p:cNvSpPr>
            <p:nvPr/>
          </p:nvSpPr>
          <p:spPr bwMode="auto">
            <a:xfrm>
              <a:off x="348" y="2352"/>
              <a:ext cx="560" cy="852"/>
            </a:xfrm>
            <a:custGeom>
              <a:avLst/>
              <a:gdLst>
                <a:gd name="T0" fmla="*/ 0 w 560"/>
                <a:gd name="T1" fmla="*/ 0 h 852"/>
                <a:gd name="T2" fmla="*/ 12 w 560"/>
                <a:gd name="T3" fmla="*/ 516 h 852"/>
                <a:gd name="T4" fmla="*/ 36 w 560"/>
                <a:gd name="T5" fmla="*/ 588 h 852"/>
                <a:gd name="T6" fmla="*/ 192 w 560"/>
                <a:gd name="T7" fmla="*/ 720 h 852"/>
                <a:gd name="T8" fmla="*/ 264 w 560"/>
                <a:gd name="T9" fmla="*/ 744 h 852"/>
                <a:gd name="T10" fmla="*/ 336 w 560"/>
                <a:gd name="T11" fmla="*/ 792 h 852"/>
                <a:gd name="T12" fmla="*/ 408 w 560"/>
                <a:gd name="T13" fmla="*/ 816 h 852"/>
                <a:gd name="T14" fmla="*/ 552 w 560"/>
                <a:gd name="T15" fmla="*/ 780 h 852"/>
                <a:gd name="T16" fmla="*/ 0 60000 65536"/>
                <a:gd name="T17" fmla="*/ 0 60000 65536"/>
                <a:gd name="T18" fmla="*/ 0 60000 65536"/>
                <a:gd name="T19" fmla="*/ 0 60000 65536"/>
                <a:gd name="T20" fmla="*/ 0 60000 65536"/>
                <a:gd name="T21" fmla="*/ 0 60000 65536"/>
                <a:gd name="T22" fmla="*/ 0 60000 65536"/>
                <a:gd name="T23" fmla="*/ 0 60000 65536"/>
                <a:gd name="T24" fmla="*/ 0 w 560"/>
                <a:gd name="T25" fmla="*/ 0 h 852"/>
                <a:gd name="T26" fmla="*/ 560 w 560"/>
                <a:gd name="T27" fmla="*/ 852 h 85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60" h="852">
                  <a:moveTo>
                    <a:pt x="0" y="0"/>
                  </a:moveTo>
                  <a:cubicBezTo>
                    <a:pt x="4" y="172"/>
                    <a:pt x="1" y="344"/>
                    <a:pt x="12" y="516"/>
                  </a:cubicBezTo>
                  <a:cubicBezTo>
                    <a:pt x="14" y="541"/>
                    <a:pt x="22" y="567"/>
                    <a:pt x="36" y="588"/>
                  </a:cubicBezTo>
                  <a:cubicBezTo>
                    <a:pt x="84" y="661"/>
                    <a:pt x="113" y="685"/>
                    <a:pt x="192" y="720"/>
                  </a:cubicBezTo>
                  <a:cubicBezTo>
                    <a:pt x="215" y="730"/>
                    <a:pt x="243" y="730"/>
                    <a:pt x="264" y="744"/>
                  </a:cubicBezTo>
                  <a:cubicBezTo>
                    <a:pt x="288" y="760"/>
                    <a:pt x="309" y="783"/>
                    <a:pt x="336" y="792"/>
                  </a:cubicBezTo>
                  <a:cubicBezTo>
                    <a:pt x="360" y="800"/>
                    <a:pt x="408" y="816"/>
                    <a:pt x="408" y="816"/>
                  </a:cubicBezTo>
                  <a:cubicBezTo>
                    <a:pt x="560" y="803"/>
                    <a:pt x="552" y="852"/>
                    <a:pt x="552" y="780"/>
                  </a:cubicBezTo>
                </a:path>
              </a:pathLst>
            </a:custGeom>
            <a:noFill/>
            <a:ln w="38100">
              <a:solidFill>
                <a:schemeClr val="tx1"/>
              </a:solidFill>
              <a:round/>
              <a:headEnd/>
              <a:tailEnd type="triangle" w="med" len="med"/>
            </a:ln>
          </p:spPr>
          <p:txBody>
            <a:bodyPr/>
            <a:lstStyle/>
            <a:p>
              <a:endParaRPr lang="en-US" sz="1600"/>
            </a:p>
          </p:txBody>
        </p:sp>
      </p:grpSp>
      <p:grpSp>
        <p:nvGrpSpPr>
          <p:cNvPr id="59" name="Group 60"/>
          <p:cNvGrpSpPr>
            <a:grpSpLocks/>
          </p:cNvGrpSpPr>
          <p:nvPr/>
        </p:nvGrpSpPr>
        <p:grpSpPr bwMode="auto">
          <a:xfrm>
            <a:off x="6134170" y="886689"/>
            <a:ext cx="3940558" cy="635894"/>
            <a:chOff x="3120" y="140"/>
            <a:chExt cx="2460" cy="436"/>
          </a:xfrm>
          <a:solidFill>
            <a:schemeClr val="accent5">
              <a:lumMod val="40000"/>
              <a:lumOff val="60000"/>
            </a:schemeClr>
          </a:solidFill>
        </p:grpSpPr>
        <p:sp>
          <p:nvSpPr>
            <p:cNvPr id="60" name="AutoShape 61"/>
            <p:cNvSpPr>
              <a:spLocks noChangeArrowheads="1"/>
            </p:cNvSpPr>
            <p:nvPr/>
          </p:nvSpPr>
          <p:spPr bwMode="auto">
            <a:xfrm>
              <a:off x="4380" y="140"/>
              <a:ext cx="1200" cy="432"/>
            </a:xfrm>
            <a:prstGeom prst="cloudCallout">
              <a:avLst>
                <a:gd name="adj1" fmla="val -30917"/>
                <a:gd name="adj2" fmla="val 115741"/>
              </a:avLst>
            </a:prstGeom>
            <a:grpFill/>
            <a:ln w="9525">
              <a:noFill/>
              <a:round/>
              <a:headEnd/>
              <a:tailEnd/>
            </a:ln>
            <a:effectLst/>
          </p:spPr>
          <p:txBody>
            <a:bodyPr anchor="ctr" anchorCtr="1"/>
            <a:lstStyle/>
            <a:p>
              <a:pPr algn="ctr">
                <a:defRPr/>
              </a:pPr>
              <a:r>
                <a:rPr lang="en-US" sz="2000">
                  <a:effectLst>
                    <a:outerShdw blurRad="38100" dist="38100" dir="2700000" algn="tl">
                      <a:srgbClr val="FFFFFF"/>
                    </a:outerShdw>
                  </a:effectLst>
                  <a:latin typeface="Arial" charset="0"/>
                  <a:cs typeface="Arial" charset="0"/>
                </a:rPr>
                <a:t>Domain</a:t>
              </a:r>
            </a:p>
          </p:txBody>
        </p:sp>
        <p:sp>
          <p:nvSpPr>
            <p:cNvPr id="61" name="AutoShape 62"/>
            <p:cNvSpPr>
              <a:spLocks noChangeArrowheads="1"/>
            </p:cNvSpPr>
            <p:nvPr/>
          </p:nvSpPr>
          <p:spPr bwMode="auto">
            <a:xfrm>
              <a:off x="3120" y="144"/>
              <a:ext cx="1200" cy="432"/>
            </a:xfrm>
            <a:prstGeom prst="cloudCallout">
              <a:avLst>
                <a:gd name="adj1" fmla="val -30917"/>
                <a:gd name="adj2" fmla="val 115741"/>
              </a:avLst>
            </a:prstGeom>
            <a:grpFill/>
            <a:ln w="9525">
              <a:noFill/>
              <a:round/>
              <a:headEnd/>
              <a:tailEnd/>
            </a:ln>
            <a:effectLst/>
          </p:spPr>
          <p:txBody>
            <a:bodyPr anchor="ctr" anchorCtr="1"/>
            <a:lstStyle/>
            <a:p>
              <a:pPr algn="ctr">
                <a:defRPr/>
              </a:pPr>
              <a:r>
                <a:rPr lang="en-US" sz="2000">
                  <a:effectLst>
                    <a:outerShdw blurRad="38100" dist="38100" dir="2700000" algn="tl">
                      <a:srgbClr val="FFFFFF"/>
                    </a:outerShdw>
                  </a:effectLst>
                  <a:latin typeface="Arial" charset="0"/>
                  <a:cs typeface="Arial" charset="0"/>
                </a:rPr>
                <a:t>Domain</a:t>
              </a:r>
            </a:p>
          </p:txBody>
        </p:sp>
      </p:grpSp>
      <p:sp>
        <p:nvSpPr>
          <p:cNvPr id="62" name="Line 63"/>
          <p:cNvSpPr>
            <a:spLocks noChangeShapeType="1"/>
          </p:cNvSpPr>
          <p:nvPr/>
        </p:nvSpPr>
        <p:spPr bwMode="auto">
          <a:xfrm>
            <a:off x="3361418" y="2267511"/>
            <a:ext cx="914400" cy="0"/>
          </a:xfrm>
          <a:prstGeom prst="line">
            <a:avLst/>
          </a:prstGeom>
          <a:noFill/>
          <a:ln w="47625">
            <a:solidFill>
              <a:schemeClr val="tx1"/>
            </a:solidFill>
            <a:round/>
            <a:headEnd/>
            <a:tailEnd/>
          </a:ln>
        </p:spPr>
        <p:txBody>
          <a:bodyPr wrap="none" anchor="ctr"/>
          <a:lstStyle/>
          <a:p>
            <a:endParaRPr lang="en-US" sz="1600"/>
          </a:p>
        </p:txBody>
      </p:sp>
      <p:graphicFrame>
        <p:nvGraphicFramePr>
          <p:cNvPr id="63" name="Group 26"/>
          <p:cNvGraphicFramePr>
            <a:graphicFrameLocks noGrp="1"/>
          </p:cNvGraphicFramePr>
          <p:nvPr>
            <p:extLst>
              <p:ext uri="{D42A27DB-BD31-4B8C-83A1-F6EECF244321}">
                <p14:modId xmlns:p14="http://schemas.microsoft.com/office/powerpoint/2010/main" val="3691930644"/>
              </p:ext>
            </p:extLst>
          </p:nvPr>
        </p:nvGraphicFramePr>
        <p:xfrm>
          <a:off x="2920448" y="1716649"/>
          <a:ext cx="6248400" cy="3488886"/>
        </p:xfrm>
        <a:graphic>
          <a:graphicData uri="http://schemas.openxmlformats.org/drawingml/2006/table">
            <a:tbl>
              <a:tblPr/>
              <a:tblGrid>
                <a:gridCol w="1562100">
                  <a:extLst>
                    <a:ext uri="{9D8B030D-6E8A-4147-A177-3AD203B41FA5}">
                      <a16:colId xmlns:a16="http://schemas.microsoft.com/office/drawing/2014/main" val="20000"/>
                    </a:ext>
                  </a:extLst>
                </a:gridCol>
                <a:gridCol w="1562100">
                  <a:extLst>
                    <a:ext uri="{9D8B030D-6E8A-4147-A177-3AD203B41FA5}">
                      <a16:colId xmlns:a16="http://schemas.microsoft.com/office/drawing/2014/main" val="20001"/>
                    </a:ext>
                  </a:extLst>
                </a:gridCol>
                <a:gridCol w="1433513">
                  <a:extLst>
                    <a:ext uri="{9D8B030D-6E8A-4147-A177-3AD203B41FA5}">
                      <a16:colId xmlns:a16="http://schemas.microsoft.com/office/drawing/2014/main" val="20002"/>
                    </a:ext>
                  </a:extLst>
                </a:gridCol>
                <a:gridCol w="1690687">
                  <a:extLst>
                    <a:ext uri="{9D8B030D-6E8A-4147-A177-3AD203B41FA5}">
                      <a16:colId xmlns:a16="http://schemas.microsoft.com/office/drawing/2014/main" val="20003"/>
                    </a:ext>
                  </a:extLst>
                </a:gridCol>
              </a:tblGrid>
              <a:tr h="582419">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sz="2000" b="1" i="0" u="sng" strike="noStrike" cap="none" normalizeH="0" baseline="0" dirty="0" err="1">
                          <a:ln>
                            <a:noFill/>
                          </a:ln>
                          <a:solidFill>
                            <a:schemeClr val="tx1"/>
                          </a:solidFill>
                          <a:effectLst>
                            <a:outerShdw blurRad="38100" dist="38100" dir="2700000" algn="tl">
                              <a:srgbClr val="000000"/>
                            </a:outerShdw>
                          </a:effectLst>
                          <a:latin typeface="Times New Roman" pitchFamily="18" charset="0"/>
                        </a:rPr>
                        <a:t>SCode</a:t>
                      </a:r>
                      <a:endParaRPr kumimoji="0" lang="en-US" sz="2000" b="1" i="0" u="sng" strike="noStrike" cap="none" normalizeH="0" baseline="0" dirty="0">
                        <a:ln>
                          <a:noFill/>
                        </a:ln>
                        <a:solidFill>
                          <a:schemeClr val="tx1"/>
                        </a:solidFill>
                        <a:effectLst>
                          <a:outerShdw blurRad="38100" dist="38100" dir="2700000" algn="tl">
                            <a:srgbClr val="000000"/>
                          </a:outerShdw>
                        </a:effectLst>
                        <a:latin typeface="Times New Roman"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sz="2000" b="1" i="0" u="none" strike="noStrike" cap="none" normalizeH="0" baseline="0" dirty="0" err="1">
                          <a:ln>
                            <a:noFill/>
                          </a:ln>
                          <a:solidFill>
                            <a:schemeClr val="tx1"/>
                          </a:solidFill>
                          <a:effectLst>
                            <a:outerShdw blurRad="38100" dist="38100" dir="2700000" algn="tl">
                              <a:srgbClr val="000000"/>
                            </a:outerShdw>
                          </a:effectLst>
                          <a:latin typeface="Times New Roman" pitchFamily="18" charset="0"/>
                        </a:rPr>
                        <a:t>SName</a:t>
                      </a:r>
                      <a:endParaRPr kumimoji="0" lang="en-US" sz="2000" b="1" i="0" u="none" strike="noStrike" cap="none" normalizeH="0" baseline="0" dirty="0">
                        <a:ln>
                          <a:noFill/>
                        </a:ln>
                        <a:solidFill>
                          <a:schemeClr val="tx1"/>
                        </a:solidFill>
                        <a:effectLst>
                          <a:outerShdw blurRad="38100" dist="38100" dir="2700000" algn="tl">
                            <a:srgbClr val="000000"/>
                          </a:outerShdw>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sz="2000" b="1" i="0" u="none" strike="noStrike" cap="none" normalizeH="0" baseline="0">
                          <a:ln>
                            <a:noFill/>
                          </a:ln>
                          <a:solidFill>
                            <a:schemeClr val="tx1"/>
                          </a:solidFill>
                          <a:effectLst>
                            <a:outerShdw blurRad="38100" dist="38100" dir="2700000" algn="tl">
                              <a:srgbClr val="000000"/>
                            </a:outerShdw>
                          </a:effectLst>
                          <a:latin typeface="Times New Roman" pitchFamily="18" charset="0"/>
                        </a:rPr>
                        <a:t>Quantity</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sz="2000" b="1" i="0" u="none" strike="noStrike" cap="none" normalizeH="0" baseline="0">
                          <a:ln>
                            <a:noFill/>
                          </a:ln>
                          <a:solidFill>
                            <a:schemeClr val="tx1"/>
                          </a:solidFill>
                          <a:effectLst>
                            <a:outerShdw blurRad="38100" dist="38100" dir="2700000" algn="tl">
                              <a:srgbClr val="000000"/>
                            </a:outerShdw>
                          </a:effectLst>
                          <a:latin typeface="Times New Roman" pitchFamily="18" charset="0"/>
                        </a:rPr>
                        <a:t>City</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solidFill>
                  </a:tcPr>
                </a:tc>
                <a:extLst>
                  <a:ext uri="{0D108BD9-81ED-4DB2-BD59-A6C34878D82A}">
                    <a16:rowId xmlns:a16="http://schemas.microsoft.com/office/drawing/2014/main" val="10000"/>
                  </a:ext>
                </a:extLst>
              </a:tr>
              <a:tr h="579605">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sz="20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rPr>
                        <a:t>S1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2000" b="1" i="0" u="none" strike="noStrike" cap="none" normalizeH="0" baseline="0" dirty="0" err="1">
                          <a:ln>
                            <a:noFill/>
                          </a:ln>
                          <a:solidFill>
                            <a:schemeClr val="tx1"/>
                          </a:solidFill>
                          <a:effectLst>
                            <a:outerShdw blurRad="38100" dist="38100" dir="2700000" algn="tl">
                              <a:srgbClr val="FFFFFF"/>
                            </a:outerShdw>
                          </a:effectLst>
                          <a:latin typeface="Times New Roman" pitchFamily="18" charset="0"/>
                        </a:rPr>
                        <a:t>Kamran</a:t>
                      </a:r>
                      <a:endParaRPr kumimoji="0" lang="en-US" sz="20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20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rPr>
                        <a:t>20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rPr>
                        <a:t>Lahore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582419">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sz="20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rPr>
                        <a:t>S2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rPr>
                        <a:t>Zafar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rPr>
                        <a:t>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rPr>
                        <a:t>Islamabad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2"/>
                  </a:ext>
                </a:extLst>
              </a:tr>
              <a:tr h="582419">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rPr>
                        <a:t>S3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rPr>
                        <a:t>Azmat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rPr>
                        <a:t>40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rPr>
                        <a:t>Karachi</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3"/>
                  </a:ext>
                </a:extLst>
              </a:tr>
              <a:tr h="579605">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sz="20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rPr>
                        <a:t>S4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rPr>
                        <a:t>Abdul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rPr>
                        <a:t>34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rPr>
                        <a:t>Lahore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4"/>
                  </a:ext>
                </a:extLst>
              </a:tr>
              <a:tr h="582419">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rPr>
                        <a:t>S5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rPr>
                        <a:t>Nasir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2000" b="1" i="0" u="none" strike="noStrike" cap="none" normalizeH="0" baseline="0">
                          <a:ln>
                            <a:noFill/>
                          </a:ln>
                          <a:solidFill>
                            <a:schemeClr val="tx1"/>
                          </a:solidFill>
                          <a:effectLst>
                            <a:outerShdw blurRad="38100" dist="38100" dir="2700000" algn="tl">
                              <a:srgbClr val="FFFFFF"/>
                            </a:outerShdw>
                          </a:effectLst>
                          <a:latin typeface="Times New Roman" pitchFamily="18" charset="0"/>
                        </a:rPr>
                        <a:t>25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2000" b="1" i="0" u="none" strike="noStrike" cap="none" normalizeH="0" baseline="0" dirty="0">
                          <a:ln>
                            <a:noFill/>
                          </a:ln>
                          <a:solidFill>
                            <a:schemeClr val="tx1"/>
                          </a:solidFill>
                          <a:effectLst>
                            <a:outerShdw blurRad="38100" dist="38100" dir="2700000" algn="tl">
                              <a:srgbClr val="FFFFFF"/>
                            </a:outerShdw>
                          </a:effectLst>
                          <a:latin typeface="Times New Roman" pitchFamily="18" charset="0"/>
                        </a:rPr>
                        <a:t>Islamabad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64" name="AutoShape 32"/>
          <p:cNvSpPr>
            <a:spLocks/>
          </p:cNvSpPr>
          <p:nvPr/>
        </p:nvSpPr>
        <p:spPr bwMode="auto">
          <a:xfrm>
            <a:off x="1486878" y="988909"/>
            <a:ext cx="1615480" cy="533674"/>
          </a:xfrm>
          <a:prstGeom prst="borderCallout2">
            <a:avLst>
              <a:gd name="adj1" fmla="val 18750"/>
              <a:gd name="adj2" fmla="val 107694"/>
              <a:gd name="adj3" fmla="val 28274"/>
              <a:gd name="adj4" fmla="val 123430"/>
              <a:gd name="adj5" fmla="val 140365"/>
              <a:gd name="adj6" fmla="val 134868"/>
            </a:avLst>
          </a:prstGeom>
          <a:solidFill>
            <a:schemeClr val="accent6"/>
          </a:solidFill>
          <a:ln w="12700">
            <a:solidFill>
              <a:schemeClr val="tx1"/>
            </a:solidFill>
            <a:miter lim="800000"/>
            <a:headEnd/>
            <a:tailEnd/>
          </a:ln>
          <a:effectLst/>
        </p:spPr>
        <p:txBody>
          <a:bodyPr anchor="ctr"/>
          <a:lstStyle/>
          <a:p>
            <a:pPr lvl="0" algn="ctr">
              <a:spcBef>
                <a:spcPct val="50000"/>
              </a:spcBef>
              <a:defRPr/>
            </a:pPr>
            <a:r>
              <a:rPr lang="en-US" sz="2000" dirty="0">
                <a:latin typeface="Arial" panose="020B0604020202020204" pitchFamily="34" charset="0"/>
                <a:cs typeface="Arial" panose="020B0604020202020204" pitchFamily="34" charset="0"/>
              </a:rPr>
              <a:t>Supplier</a:t>
            </a:r>
          </a:p>
        </p:txBody>
      </p:sp>
    </p:spTree>
    <p:extLst>
      <p:ext uri="{BB962C8B-B14F-4D97-AF65-F5344CB8AC3E}">
        <p14:creationId xmlns:p14="http://schemas.microsoft.com/office/powerpoint/2010/main" val="9512329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Schema </a:t>
            </a:r>
            <a:r>
              <a:rPr lang="en-US" sz="1800" dirty="0"/>
              <a:t>(1/2)</a:t>
            </a:r>
            <a:endParaRPr lang="en-US" dirty="0"/>
          </a:p>
        </p:txBody>
      </p:sp>
      <p:sp>
        <p:nvSpPr>
          <p:cNvPr id="3" name="Content Placeholder 2"/>
          <p:cNvSpPr>
            <a:spLocks noGrp="1"/>
          </p:cNvSpPr>
          <p:nvPr>
            <p:ph idx="1"/>
          </p:nvPr>
        </p:nvSpPr>
        <p:spPr/>
        <p:txBody>
          <a:bodyPr/>
          <a:lstStyle/>
          <a:p>
            <a:pPr marL="400050" lvl="1" indent="0" algn="just">
              <a:lnSpc>
                <a:spcPct val="120000"/>
              </a:lnSpc>
              <a:buNone/>
            </a:pPr>
            <a:r>
              <a:rPr lang="en-US" sz="2200" dirty="0"/>
              <a:t>The name of a relation and the set of attributes for a relation is called a </a:t>
            </a:r>
            <a:r>
              <a:rPr lang="en-US" sz="2200" b="1" dirty="0"/>
              <a:t>schema</a:t>
            </a:r>
            <a:r>
              <a:rPr lang="en-US" sz="2200" dirty="0"/>
              <a:t>.</a:t>
            </a:r>
          </a:p>
          <a:p>
            <a:pPr lvl="1" algn="just">
              <a:lnSpc>
                <a:spcPct val="120000"/>
              </a:lnSpc>
            </a:pPr>
            <a:r>
              <a:rPr lang="en-US" sz="2400" dirty="0"/>
              <a:t>Example: the schema for previous slide is</a:t>
            </a:r>
          </a:p>
          <a:p>
            <a:pPr algn="ctr">
              <a:lnSpc>
                <a:spcPct val="120000"/>
              </a:lnSpc>
              <a:buNone/>
            </a:pPr>
            <a:r>
              <a:rPr lang="en-US" b="1" dirty="0">
                <a:solidFill>
                  <a:srgbClr val="240AE6"/>
                </a:solidFill>
              </a:rPr>
              <a:t>Supplier</a:t>
            </a:r>
            <a:r>
              <a:rPr lang="en-US" dirty="0">
                <a:solidFill>
                  <a:srgbClr val="240AE6"/>
                </a:solidFill>
              </a:rPr>
              <a:t> (</a:t>
            </a:r>
            <a:r>
              <a:rPr lang="en-US" u="sng" dirty="0" err="1">
                <a:solidFill>
                  <a:srgbClr val="240AE6"/>
                </a:solidFill>
              </a:rPr>
              <a:t>SCode</a:t>
            </a:r>
            <a:r>
              <a:rPr lang="en-US" dirty="0">
                <a:solidFill>
                  <a:srgbClr val="240AE6"/>
                </a:solidFill>
              </a:rPr>
              <a:t>, </a:t>
            </a:r>
            <a:r>
              <a:rPr lang="en-US" dirty="0" err="1">
                <a:solidFill>
                  <a:srgbClr val="240AE6"/>
                </a:solidFill>
              </a:rPr>
              <a:t>SName</a:t>
            </a:r>
            <a:r>
              <a:rPr lang="en-US" dirty="0">
                <a:solidFill>
                  <a:srgbClr val="240AE6"/>
                </a:solidFill>
              </a:rPr>
              <a:t>, Quantity, City)</a:t>
            </a:r>
          </a:p>
          <a:p>
            <a:pPr marL="400050" lvl="1" indent="0" algn="just">
              <a:lnSpc>
                <a:spcPct val="120000"/>
              </a:lnSpc>
              <a:buNone/>
            </a:pPr>
            <a:r>
              <a:rPr lang="en-US" sz="2200" b="1" dirty="0"/>
              <a:t>Relation schema </a:t>
            </a:r>
            <a:r>
              <a:rPr lang="en-US" sz="2200" dirty="0"/>
              <a:t>= name(attributes) + other structure info., e.g., keys, other constraints. </a:t>
            </a:r>
            <a:endParaRPr lang="en-US" sz="2200" b="1" dirty="0">
              <a:latin typeface="Courier New" pitchFamily="49" charset="0"/>
            </a:endParaRPr>
          </a:p>
          <a:p>
            <a:pPr marL="400050" lvl="1" indent="0" algn="just">
              <a:lnSpc>
                <a:spcPct val="120000"/>
              </a:lnSpc>
              <a:buNone/>
            </a:pPr>
            <a:r>
              <a:rPr lang="en-US" sz="2200" dirty="0"/>
              <a:t>Order of attributes is arbitrary, but in practice we need to assume the (</a:t>
            </a:r>
            <a:r>
              <a:rPr lang="en-US" sz="2200" i="1" dirty="0"/>
              <a:t>standard</a:t>
            </a:r>
            <a:r>
              <a:rPr lang="en-US" sz="2200" dirty="0"/>
              <a:t>) order given in the relation schema.</a:t>
            </a:r>
          </a:p>
          <a:p>
            <a:pPr marL="400050" lvl="1" indent="0" algn="just">
              <a:lnSpc>
                <a:spcPct val="120000"/>
              </a:lnSpc>
              <a:buNone/>
            </a:pPr>
            <a:r>
              <a:rPr lang="en-US" sz="2200" b="1" dirty="0"/>
              <a:t>Relational database schema </a:t>
            </a:r>
            <a:r>
              <a:rPr lang="en-US" sz="2200" dirty="0"/>
              <a:t>= collection of relation schemas.</a:t>
            </a:r>
          </a:p>
        </p:txBody>
      </p:sp>
      <p:sp>
        <p:nvSpPr>
          <p:cNvPr id="4" name="Slide Number Placeholder 3"/>
          <p:cNvSpPr>
            <a:spLocks noGrp="1"/>
          </p:cNvSpPr>
          <p:nvPr>
            <p:ph type="sldNum" sz="quarter" idx="12"/>
          </p:nvPr>
        </p:nvSpPr>
        <p:spPr/>
        <p:txBody>
          <a:bodyPr/>
          <a:lstStyle/>
          <a:p>
            <a:fld id="{586DAB0F-01A5-4AB0-84E3-BA9DDAF20443}" type="slidenum">
              <a:rPr lang="en-US" smtClean="0"/>
              <a:t>12</a:t>
            </a:fld>
            <a:endParaRPr lang="en-US"/>
          </a:p>
        </p:txBody>
      </p:sp>
      <p:sp>
        <p:nvSpPr>
          <p:cNvPr id="5" name="Footer Placeholder 4"/>
          <p:cNvSpPr>
            <a:spLocks noGrp="1"/>
          </p:cNvSpPr>
          <p:nvPr>
            <p:ph type="ftr" sz="quarter" idx="3"/>
          </p:nvPr>
        </p:nvSpPr>
        <p:spPr/>
        <p:txBody>
          <a:bodyPr/>
          <a:lstStyle/>
          <a:p>
            <a:r>
              <a:rPr lang="en-US"/>
              <a:t>09e-BM/DT/FSOFT - @FPT SOFTWARE - FPT Software Academy - Internal Use</a:t>
            </a:r>
          </a:p>
        </p:txBody>
      </p:sp>
      <p:pic>
        <p:nvPicPr>
          <p:cNvPr id="6" name="Picture 2" descr="http://icons.iconarchive.com/icons/icontexto/webdev/128/webdev-bullet-icon.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35496" y="1224882"/>
            <a:ext cx="338321" cy="33832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http://icons.iconarchive.com/icons/icontexto/webdev/128/webdev-bullet-icon.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35496" y="2762166"/>
            <a:ext cx="338321" cy="338322"/>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http://icons.iconarchive.com/icons/icontexto/webdev/128/webdev-bullet-icon.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35496" y="3612600"/>
            <a:ext cx="338321" cy="338322"/>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http://icons.iconarchive.com/icons/icontexto/webdev/128/webdev-bullet-icon.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35495" y="4463034"/>
            <a:ext cx="338321" cy="3383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58320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870494" y="230688"/>
            <a:ext cx="9001156" cy="700110"/>
          </a:xfrm>
        </p:spPr>
        <p:txBody>
          <a:bodyPr>
            <a:normAutofit fontScale="90000"/>
          </a:bodyPr>
          <a:lstStyle/>
          <a:p>
            <a:pPr algn="l"/>
            <a:r>
              <a:rPr lang="en-US" sz="4000" dirty="0"/>
              <a:t>Schema</a:t>
            </a:r>
            <a:r>
              <a:rPr lang="en-US" sz="4900" dirty="0"/>
              <a:t> </a:t>
            </a:r>
            <a:r>
              <a:rPr lang="en-US" sz="1800" dirty="0"/>
              <a:t>(2/2)</a:t>
            </a:r>
            <a:endParaRPr lang="en-US" dirty="0"/>
          </a:p>
        </p:txBody>
      </p:sp>
      <p:sp>
        <p:nvSpPr>
          <p:cNvPr id="17411" name="Rectangle 3"/>
          <p:cNvSpPr>
            <a:spLocks noGrp="1" noChangeArrowheads="1"/>
          </p:cNvSpPr>
          <p:nvPr>
            <p:ph type="body" idx="1"/>
          </p:nvPr>
        </p:nvSpPr>
        <p:spPr>
          <a:xfrm>
            <a:off x="1099094" y="930798"/>
            <a:ext cx="9206623" cy="5572164"/>
          </a:xfrm>
        </p:spPr>
        <p:txBody>
          <a:bodyPr>
            <a:normAutofit/>
          </a:bodyPr>
          <a:lstStyle/>
          <a:p>
            <a:pPr algn="just">
              <a:lnSpc>
                <a:spcPct val="120000"/>
              </a:lnSpc>
            </a:pPr>
            <a:r>
              <a:rPr lang="en-US" b="1" dirty="0"/>
              <a:t>Relation schema example:</a:t>
            </a:r>
            <a:endParaRPr lang="en-US" b="1" dirty="0">
              <a:latin typeface="Courier New" pitchFamily="49" charset="0"/>
            </a:endParaRPr>
          </a:p>
        </p:txBody>
      </p:sp>
      <p:pic>
        <p:nvPicPr>
          <p:cNvPr id="82947" name="Picture 3"/>
          <p:cNvPicPr>
            <a:picLocks noChangeAspect="1" noChangeArrowheads="1"/>
          </p:cNvPicPr>
          <p:nvPr/>
        </p:nvPicPr>
        <p:blipFill>
          <a:blip r:embed="rId3"/>
          <a:srcRect l="7174" t="8984" r="7174" b="15820"/>
          <a:stretch>
            <a:fillRect/>
          </a:stretch>
        </p:blipFill>
        <p:spPr bwMode="auto">
          <a:xfrm>
            <a:off x="2247236" y="1485895"/>
            <a:ext cx="7228114" cy="4645843"/>
          </a:xfrm>
          <a:prstGeom prst="rect">
            <a:avLst/>
          </a:prstGeom>
          <a:noFill/>
          <a:ln w="9525">
            <a:solidFill>
              <a:schemeClr val="accent1"/>
            </a:solidFill>
            <a:miter lim="800000"/>
            <a:headEnd/>
            <a:tailEnd/>
          </a:ln>
          <a:effectLst/>
        </p:spPr>
      </p:pic>
      <p:sp>
        <p:nvSpPr>
          <p:cNvPr id="3" name="Slide Number Placeholder 2"/>
          <p:cNvSpPr>
            <a:spLocks noGrp="1"/>
          </p:cNvSpPr>
          <p:nvPr>
            <p:ph type="sldNum" sz="quarter" idx="12"/>
          </p:nvPr>
        </p:nvSpPr>
        <p:spPr/>
        <p:txBody>
          <a:bodyPr/>
          <a:lstStyle/>
          <a:p>
            <a:fld id="{AB4FB0DF-9300-7D4B-B157-CBD30D15743F}" type="slidenum">
              <a:rPr lang="en-US" smtClean="0"/>
              <a:t>13</a:t>
            </a:fld>
            <a:endParaRPr lang="en-US"/>
          </a:p>
        </p:txBody>
      </p:sp>
      <p:sp>
        <p:nvSpPr>
          <p:cNvPr id="6" name="Footer Placeholder 4"/>
          <p:cNvSpPr>
            <a:spLocks noGrp="1"/>
          </p:cNvSpPr>
          <p:nvPr>
            <p:ph type="ftr" sz="quarter" idx="3"/>
          </p:nvPr>
        </p:nvSpPr>
        <p:spPr>
          <a:xfrm>
            <a:off x="4901329" y="6320400"/>
            <a:ext cx="6071471" cy="365125"/>
          </a:xfrm>
        </p:spPr>
        <p:txBody>
          <a:bodyPr/>
          <a:lstStyle/>
          <a:p>
            <a:r>
              <a:rPr lang="en-US" dirty="0"/>
              <a:t>09e-BM/DT/FSOFT - @FPT SOFTWARE - FPT Software Academy - Internal Use</a:t>
            </a:r>
          </a:p>
        </p:txBody>
      </p:sp>
    </p:spTree>
    <p:extLst>
      <p:ext uri="{BB962C8B-B14F-4D97-AF65-F5344CB8AC3E}">
        <p14:creationId xmlns:p14="http://schemas.microsoft.com/office/powerpoint/2010/main" val="35741134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885984" y="233786"/>
            <a:ext cx="8572560" cy="684213"/>
          </a:xfrm>
        </p:spPr>
        <p:txBody>
          <a:bodyPr>
            <a:normAutofit/>
          </a:bodyPr>
          <a:lstStyle/>
          <a:p>
            <a:pPr algn="l"/>
            <a:r>
              <a:rPr lang="en-US" dirty="0"/>
              <a:t>Schema versus Instance</a:t>
            </a:r>
          </a:p>
        </p:txBody>
      </p:sp>
      <p:graphicFrame>
        <p:nvGraphicFramePr>
          <p:cNvPr id="228356" name="Group 4"/>
          <p:cNvGraphicFramePr>
            <a:graphicFrameLocks noGrp="1"/>
          </p:cNvGraphicFramePr>
          <p:nvPr>
            <p:extLst>
              <p:ext uri="{D42A27DB-BD31-4B8C-83A1-F6EECF244321}">
                <p14:modId xmlns:p14="http://schemas.microsoft.com/office/powerpoint/2010/main" val="1647043991"/>
              </p:ext>
            </p:extLst>
          </p:nvPr>
        </p:nvGraphicFramePr>
        <p:xfrm>
          <a:off x="1442358" y="3228493"/>
          <a:ext cx="9307284" cy="1552347"/>
        </p:xfrm>
        <a:graphic>
          <a:graphicData uri="http://schemas.openxmlformats.org/drawingml/2006/table">
            <a:tbl>
              <a:tblPr/>
              <a:tblGrid>
                <a:gridCol w="1236594">
                  <a:extLst>
                    <a:ext uri="{9D8B030D-6E8A-4147-A177-3AD203B41FA5}">
                      <a16:colId xmlns:a16="http://schemas.microsoft.com/office/drawing/2014/main" val="20000"/>
                    </a:ext>
                  </a:extLst>
                </a:gridCol>
                <a:gridCol w="2486319">
                  <a:extLst>
                    <a:ext uri="{9D8B030D-6E8A-4147-A177-3AD203B41FA5}">
                      <a16:colId xmlns:a16="http://schemas.microsoft.com/office/drawing/2014/main" val="20001"/>
                    </a:ext>
                  </a:extLst>
                </a:gridCol>
                <a:gridCol w="1861457">
                  <a:extLst>
                    <a:ext uri="{9D8B030D-6E8A-4147-A177-3AD203B41FA5}">
                      <a16:colId xmlns:a16="http://schemas.microsoft.com/office/drawing/2014/main" val="20002"/>
                    </a:ext>
                  </a:extLst>
                </a:gridCol>
                <a:gridCol w="1861457">
                  <a:extLst>
                    <a:ext uri="{9D8B030D-6E8A-4147-A177-3AD203B41FA5}">
                      <a16:colId xmlns:a16="http://schemas.microsoft.com/office/drawing/2014/main" val="20003"/>
                    </a:ext>
                  </a:extLst>
                </a:gridCol>
                <a:gridCol w="1861457">
                  <a:extLst>
                    <a:ext uri="{9D8B030D-6E8A-4147-A177-3AD203B41FA5}">
                      <a16:colId xmlns:a16="http://schemas.microsoft.com/office/drawing/2014/main" val="20004"/>
                    </a:ext>
                  </a:extLst>
                </a:gridCol>
              </a:tblGrid>
              <a:tr h="449739">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800" b="1" i="0" u="none" strike="noStrike" cap="none" normalizeH="0" baseline="0" dirty="0" err="1">
                          <a:ln>
                            <a:noFill/>
                          </a:ln>
                          <a:solidFill>
                            <a:schemeClr val="tx1"/>
                          </a:solidFill>
                          <a:effectLst/>
                          <a:latin typeface="Times New Roman" pitchFamily="18" charset="0"/>
                        </a:rPr>
                        <a:t>sid</a:t>
                      </a:r>
                      <a:endParaRPr kumimoji="0" lang="en-US" sz="1800" b="1" i="0" u="none" strike="noStrike" cap="none" normalizeH="0" baseline="0" dirty="0">
                        <a:ln>
                          <a:noFill/>
                        </a:ln>
                        <a:solidFill>
                          <a:schemeClr val="tx1"/>
                        </a:solidFill>
                        <a:effectLst/>
                        <a:latin typeface="Times New Roman" pitchFamily="18" charset="0"/>
                      </a:endParaRP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60000"/>
                        <a:lumOff val="40000"/>
                      </a:schemeClr>
                    </a:solid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800" b="1" i="0" u="none" strike="noStrike" cap="none" normalizeH="0" baseline="0">
                          <a:ln>
                            <a:noFill/>
                          </a:ln>
                          <a:solidFill>
                            <a:schemeClr val="tx1"/>
                          </a:solidFill>
                          <a:effectLst/>
                          <a:latin typeface="Times New Roman" pitchFamily="18" charset="0"/>
                        </a:rPr>
                        <a:t>Name</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60000"/>
                        <a:lumOff val="40000"/>
                      </a:schemeClr>
                    </a:solid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800" b="1" i="0" u="none" strike="noStrike" cap="none" normalizeH="0" baseline="0">
                          <a:ln>
                            <a:noFill/>
                          </a:ln>
                          <a:solidFill>
                            <a:schemeClr val="tx1"/>
                          </a:solidFill>
                          <a:effectLst/>
                          <a:latin typeface="Times New Roman" pitchFamily="18" charset="0"/>
                        </a:rPr>
                        <a:t>Login</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60000"/>
                        <a:lumOff val="40000"/>
                      </a:schemeClr>
                    </a:solid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800" b="1" i="0" u="none" strike="noStrike" cap="none" normalizeH="0" baseline="0">
                          <a:ln>
                            <a:noFill/>
                          </a:ln>
                          <a:solidFill>
                            <a:schemeClr val="tx1"/>
                          </a:solidFill>
                          <a:effectLst/>
                          <a:latin typeface="Times New Roman" pitchFamily="18" charset="0"/>
                        </a:rPr>
                        <a:t>age</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60000"/>
                        <a:lumOff val="40000"/>
                      </a:schemeClr>
                    </a:solid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800" b="1" i="0" u="none" strike="noStrike" cap="none" normalizeH="0" baseline="0" dirty="0">
                          <a:ln>
                            <a:noFill/>
                          </a:ln>
                          <a:solidFill>
                            <a:schemeClr val="tx1"/>
                          </a:solidFill>
                          <a:effectLst/>
                          <a:latin typeface="Times New Roman" pitchFamily="18" charset="0"/>
                        </a:rPr>
                        <a:t>GPA</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60000"/>
                        <a:lumOff val="40000"/>
                      </a:schemeClr>
                    </a:solidFill>
                  </a:tcPr>
                </a:tc>
                <a:extLst>
                  <a:ext uri="{0D108BD9-81ED-4DB2-BD59-A6C34878D82A}">
                    <a16:rowId xmlns:a16="http://schemas.microsoft.com/office/drawing/2014/main" val="10000"/>
                  </a:ext>
                </a:extLst>
              </a:tr>
              <a:tr h="367536">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0" i="0" u="none" strike="noStrike" cap="none" normalizeH="0" baseline="0">
                          <a:ln>
                            <a:noFill/>
                          </a:ln>
                          <a:solidFill>
                            <a:schemeClr val="tx1"/>
                          </a:solidFill>
                          <a:effectLst/>
                          <a:latin typeface="Times New Roman" pitchFamily="18" charset="0"/>
                        </a:rPr>
                        <a:t>53666</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0" i="0" u="none" strike="noStrike" cap="none" normalizeH="0" baseline="0" dirty="0">
                          <a:ln>
                            <a:noFill/>
                          </a:ln>
                          <a:solidFill>
                            <a:schemeClr val="tx1"/>
                          </a:solidFill>
                          <a:effectLst/>
                          <a:latin typeface="Times New Roman" pitchFamily="18" charset="0"/>
                        </a:rPr>
                        <a:t>Jones</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0" i="0" u="none" strike="noStrike" cap="none" normalizeH="0" baseline="0">
                          <a:ln>
                            <a:noFill/>
                          </a:ln>
                          <a:solidFill>
                            <a:schemeClr val="tx1"/>
                          </a:solidFill>
                          <a:effectLst/>
                          <a:latin typeface="Times New Roman" pitchFamily="18" charset="0"/>
                          <a:hlinkClick r:id="rId2"/>
                        </a:rPr>
                        <a:t>Jones@ca</a:t>
                      </a:r>
                      <a:endParaRPr kumimoji="0" lang="en-US" sz="1600" b="0" i="0" u="none" strike="noStrike" cap="none" normalizeH="0" baseline="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0" i="0" u="none" strike="noStrike" cap="none" normalizeH="0" baseline="0">
                          <a:ln>
                            <a:noFill/>
                          </a:ln>
                          <a:solidFill>
                            <a:schemeClr val="tx1"/>
                          </a:solidFill>
                          <a:effectLst/>
                          <a:latin typeface="Times New Roman" pitchFamily="18" charset="0"/>
                        </a:rPr>
                        <a:t>18</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0" i="0" u="none" strike="noStrike" cap="none" normalizeH="0" baseline="0">
                          <a:ln>
                            <a:noFill/>
                          </a:ln>
                          <a:solidFill>
                            <a:schemeClr val="tx1"/>
                          </a:solidFill>
                          <a:effectLst/>
                          <a:latin typeface="Times New Roman" pitchFamily="18" charset="0"/>
                        </a:rPr>
                        <a:t>3.4</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367536">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0" i="0" u="none" strike="noStrike" cap="none" normalizeH="0" baseline="0">
                          <a:ln>
                            <a:noFill/>
                          </a:ln>
                          <a:solidFill>
                            <a:schemeClr val="tx1"/>
                          </a:solidFill>
                          <a:effectLst/>
                          <a:latin typeface="Times New Roman" pitchFamily="18" charset="0"/>
                        </a:rPr>
                        <a:t>53444</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0" i="0" u="none" strike="noStrike" cap="none" normalizeH="0" baseline="0">
                          <a:ln>
                            <a:noFill/>
                          </a:ln>
                          <a:solidFill>
                            <a:schemeClr val="tx1"/>
                          </a:solidFill>
                          <a:effectLst/>
                          <a:latin typeface="Times New Roman" pitchFamily="18" charset="0"/>
                        </a:rPr>
                        <a:t>smith</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0" i="0" u="none" strike="noStrike" cap="none" normalizeH="0" baseline="0">
                          <a:ln>
                            <a:noFill/>
                          </a:ln>
                          <a:solidFill>
                            <a:schemeClr val="tx1"/>
                          </a:solidFill>
                          <a:effectLst/>
                          <a:latin typeface="Times New Roman" pitchFamily="18" charset="0"/>
                          <a:hlinkClick r:id="rId3"/>
                        </a:rPr>
                        <a:t>Smith@ecs</a:t>
                      </a:r>
                      <a:endParaRPr kumimoji="0" lang="en-US" sz="1600" b="0" i="0" u="none" strike="noStrike" cap="none" normalizeH="0" baseline="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0" i="0" u="none" strike="noStrike" cap="none" normalizeH="0" baseline="0">
                          <a:ln>
                            <a:noFill/>
                          </a:ln>
                          <a:solidFill>
                            <a:schemeClr val="tx1"/>
                          </a:solidFill>
                          <a:effectLst/>
                          <a:latin typeface="Times New Roman" pitchFamily="18" charset="0"/>
                        </a:rPr>
                        <a:t>18</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0" i="0" u="none" strike="noStrike" cap="none" normalizeH="0" baseline="0">
                          <a:ln>
                            <a:noFill/>
                          </a:ln>
                          <a:solidFill>
                            <a:schemeClr val="tx1"/>
                          </a:solidFill>
                          <a:effectLst/>
                          <a:latin typeface="Times New Roman" pitchFamily="18" charset="0"/>
                        </a:rPr>
                        <a:t>3.2</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367536">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0" i="0" u="none" strike="noStrike" cap="none" normalizeH="0" baseline="0">
                          <a:ln>
                            <a:noFill/>
                          </a:ln>
                          <a:solidFill>
                            <a:schemeClr val="tx1"/>
                          </a:solidFill>
                          <a:effectLst/>
                          <a:latin typeface="Times New Roman" pitchFamily="18" charset="0"/>
                        </a:rPr>
                        <a:t>53777</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0" i="0" u="none" strike="noStrike" cap="none" normalizeH="0" baseline="0">
                          <a:ln>
                            <a:noFill/>
                          </a:ln>
                          <a:solidFill>
                            <a:schemeClr val="tx1"/>
                          </a:solidFill>
                          <a:effectLst/>
                          <a:latin typeface="Times New Roman" pitchFamily="18" charset="0"/>
                        </a:rPr>
                        <a:t>Blake</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0" i="0" u="none" strike="noStrike" cap="none" normalizeH="0" baseline="0" dirty="0" err="1">
                          <a:ln>
                            <a:noFill/>
                          </a:ln>
                          <a:solidFill>
                            <a:schemeClr val="tx1"/>
                          </a:solidFill>
                          <a:effectLst/>
                          <a:latin typeface="Times New Roman" pitchFamily="18" charset="0"/>
                          <a:hlinkClick r:id="rId4"/>
                        </a:rPr>
                        <a:t>Blake@aa</a:t>
                      </a:r>
                      <a:endParaRPr kumimoji="0" lang="en-US" sz="1600" b="0" i="0" u="none" strike="noStrike" cap="none" normalizeH="0" baseline="0" dirty="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0" i="0" u="none" strike="noStrike" cap="none" normalizeH="0" baseline="0" dirty="0">
                          <a:ln>
                            <a:noFill/>
                          </a:ln>
                          <a:solidFill>
                            <a:schemeClr val="tx1"/>
                          </a:solidFill>
                          <a:effectLst/>
                          <a:latin typeface="Times New Roman" pitchFamily="18" charset="0"/>
                        </a:rPr>
                        <a:t>19</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600" b="0" i="0" u="none" strike="noStrike" cap="none" normalizeH="0" baseline="0" dirty="0">
                          <a:ln>
                            <a:noFill/>
                          </a:ln>
                          <a:solidFill>
                            <a:schemeClr val="tx1"/>
                          </a:solidFill>
                          <a:effectLst/>
                          <a:latin typeface="Times New Roman" pitchFamily="18" charset="0"/>
                        </a:rPr>
                        <a:t>3.8</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1540" name="Text Box 36"/>
          <p:cNvSpPr txBox="1">
            <a:spLocks noChangeArrowheads="1"/>
          </p:cNvSpPr>
          <p:nvPr/>
        </p:nvSpPr>
        <p:spPr bwMode="auto">
          <a:xfrm>
            <a:off x="1114211" y="5192660"/>
            <a:ext cx="9108504" cy="784830"/>
          </a:xfrm>
          <a:prstGeom prst="rect">
            <a:avLst/>
          </a:prstGeom>
          <a:noFill/>
          <a:ln w="12700">
            <a:noFill/>
            <a:miter lim="800000"/>
            <a:headEnd type="none" w="sm" len="sm"/>
            <a:tailEnd type="none" w="sm" len="sm"/>
          </a:ln>
        </p:spPr>
        <p:txBody>
          <a:bodyPr wrap="square">
            <a:spAutoFit/>
          </a:bodyPr>
          <a:lstStyle/>
          <a:p>
            <a:pPr>
              <a:spcBef>
                <a:spcPct val="50000"/>
              </a:spcBef>
            </a:pPr>
            <a:r>
              <a:rPr lang="en-US">
                <a:sym typeface="Wingdings" panose="05000000000000000000" pitchFamily="2" charset="2"/>
              </a:rPr>
              <a:t> </a:t>
            </a:r>
            <a:r>
              <a:rPr lang="en-US"/>
              <a:t>Cardinality = 3, arity = 5 , all rows distinct</a:t>
            </a:r>
          </a:p>
          <a:p>
            <a:pPr>
              <a:spcBef>
                <a:spcPct val="50000"/>
              </a:spcBef>
            </a:pPr>
            <a:r>
              <a:rPr lang="en-US">
                <a:sym typeface="Wingdings" panose="05000000000000000000" pitchFamily="2" charset="2"/>
              </a:rPr>
              <a:t> </a:t>
            </a:r>
            <a:r>
              <a:rPr lang="en-US"/>
              <a:t>Do all values in each column of a relation instance have to be distinct?</a:t>
            </a:r>
          </a:p>
        </p:txBody>
      </p:sp>
      <p:sp>
        <p:nvSpPr>
          <p:cNvPr id="21542" name="Rectangle 38"/>
          <p:cNvSpPr>
            <a:spLocks noChangeArrowheads="1"/>
          </p:cNvSpPr>
          <p:nvPr/>
        </p:nvSpPr>
        <p:spPr bwMode="auto">
          <a:xfrm>
            <a:off x="1114211" y="1046100"/>
            <a:ext cx="5000411" cy="1895626"/>
          </a:xfrm>
          <a:prstGeom prst="rect">
            <a:avLst/>
          </a:prstGeom>
          <a:noFill/>
          <a:ln w="12700">
            <a:noFill/>
            <a:miter lim="800000"/>
            <a:headEnd/>
            <a:tailEnd/>
          </a:ln>
        </p:spPr>
        <p:txBody>
          <a:bodyPr wrap="square" lIns="90488" tIns="44450" rIns="90488" bIns="44450">
            <a:spAutoFit/>
          </a:bodyPr>
          <a:lstStyle/>
          <a:p>
            <a:pPr>
              <a:spcBef>
                <a:spcPct val="20000"/>
              </a:spcBef>
            </a:pPr>
            <a:r>
              <a:rPr lang="en-US" sz="2000" b="1" dirty="0">
                <a:latin typeface="Courier New" pitchFamily="49" charset="0"/>
              </a:rPr>
              <a:t>Student</a:t>
            </a:r>
            <a:r>
              <a:rPr lang="en-US" sz="2000" dirty="0">
                <a:latin typeface="Courier New" pitchFamily="49" charset="0"/>
              </a:rPr>
              <a:t>(</a:t>
            </a:r>
            <a:r>
              <a:rPr lang="en-US" sz="2000" dirty="0" err="1">
                <a:latin typeface="Courier New" pitchFamily="49" charset="0"/>
              </a:rPr>
              <a:t>studno,name,address</a:t>
            </a:r>
            <a:r>
              <a:rPr lang="en-US" sz="2000" dirty="0">
                <a:latin typeface="Courier New" pitchFamily="49" charset="0"/>
              </a:rPr>
              <a:t>)</a:t>
            </a:r>
          </a:p>
          <a:p>
            <a:pPr>
              <a:spcBef>
                <a:spcPct val="20000"/>
              </a:spcBef>
            </a:pPr>
            <a:r>
              <a:rPr lang="en-US" sz="2000" b="1" dirty="0">
                <a:latin typeface="Courier New" pitchFamily="49" charset="0"/>
              </a:rPr>
              <a:t>Course</a:t>
            </a:r>
            <a:r>
              <a:rPr lang="en-US" sz="2000" dirty="0">
                <a:latin typeface="Courier New" pitchFamily="49" charset="0"/>
              </a:rPr>
              <a:t>(</a:t>
            </a:r>
            <a:r>
              <a:rPr lang="en-US" sz="2000" dirty="0" err="1">
                <a:latin typeface="Courier New" pitchFamily="49" charset="0"/>
              </a:rPr>
              <a:t>courseno,lecturer</a:t>
            </a:r>
            <a:r>
              <a:rPr lang="en-US" sz="2000" dirty="0">
                <a:latin typeface="Courier New" pitchFamily="49" charset="0"/>
              </a:rPr>
              <a:t>)</a:t>
            </a:r>
          </a:p>
          <a:p>
            <a:pPr>
              <a:spcBef>
                <a:spcPct val="20000"/>
              </a:spcBef>
            </a:pPr>
            <a:endParaRPr lang="en-US" sz="2000" dirty="0"/>
          </a:p>
          <a:p>
            <a:pPr>
              <a:spcBef>
                <a:spcPct val="20000"/>
              </a:spcBef>
            </a:pPr>
            <a:r>
              <a:rPr lang="en-US" sz="2000" b="1" dirty="0">
                <a:latin typeface="Courier New" pitchFamily="49" charset="0"/>
              </a:rPr>
              <a:t>Student</a:t>
            </a:r>
            <a:r>
              <a:rPr lang="en-US" sz="2000" dirty="0">
                <a:latin typeface="Courier New" pitchFamily="49" charset="0"/>
              </a:rPr>
              <a:t>(</a:t>
            </a:r>
            <a:r>
              <a:rPr lang="en-US" sz="2000" u="sng" dirty="0">
                <a:latin typeface="Courier New" pitchFamily="49" charset="0"/>
              </a:rPr>
              <a:t>123,Bloggs,Woolton</a:t>
            </a:r>
            <a:r>
              <a:rPr lang="en-US" sz="2000" dirty="0">
                <a:latin typeface="Courier New" pitchFamily="49" charset="0"/>
              </a:rPr>
              <a:t>)</a:t>
            </a:r>
          </a:p>
          <a:p>
            <a:pPr>
              <a:spcBef>
                <a:spcPct val="20000"/>
              </a:spcBef>
            </a:pPr>
            <a:r>
              <a:rPr lang="en-US" sz="2000" dirty="0">
                <a:latin typeface="Courier New" pitchFamily="49" charset="0"/>
              </a:rPr>
              <a:t>       (</a:t>
            </a:r>
            <a:r>
              <a:rPr lang="en-US" sz="2000" u="sng" dirty="0">
                <a:latin typeface="Courier New" pitchFamily="49" charset="0"/>
              </a:rPr>
              <a:t>321,Jones,Owens</a:t>
            </a:r>
            <a:r>
              <a:rPr lang="en-US" sz="2000" dirty="0">
                <a:latin typeface="Courier New" pitchFamily="49" charset="0"/>
              </a:rPr>
              <a:t>)</a:t>
            </a:r>
          </a:p>
        </p:txBody>
      </p:sp>
      <p:sp>
        <p:nvSpPr>
          <p:cNvPr id="21543" name="AutoShape 39"/>
          <p:cNvSpPr>
            <a:spLocks noChangeArrowheads="1"/>
          </p:cNvSpPr>
          <p:nvPr/>
        </p:nvSpPr>
        <p:spPr bwMode="auto">
          <a:xfrm rot="660000" flipH="1">
            <a:off x="5942924" y="1257787"/>
            <a:ext cx="1341108" cy="294014"/>
          </a:xfrm>
          <a:prstGeom prst="rightArrow">
            <a:avLst>
              <a:gd name="adj1" fmla="val 50000"/>
              <a:gd name="adj2" fmla="val 141317"/>
            </a:avLst>
          </a:prstGeom>
          <a:solidFill>
            <a:schemeClr val="accent1"/>
          </a:solidFill>
          <a:ln w="12700">
            <a:solidFill>
              <a:schemeClr val="tx1"/>
            </a:solidFill>
            <a:miter lim="800000"/>
            <a:headEnd/>
            <a:tailEnd/>
          </a:ln>
        </p:spPr>
        <p:txBody>
          <a:bodyPr wrap="none" anchor="ctr"/>
          <a:lstStyle/>
          <a:p>
            <a:endParaRPr lang="en-US"/>
          </a:p>
        </p:txBody>
      </p:sp>
      <p:sp>
        <p:nvSpPr>
          <p:cNvPr id="21544" name="AutoShape 40"/>
          <p:cNvSpPr>
            <a:spLocks noChangeArrowheads="1"/>
          </p:cNvSpPr>
          <p:nvPr/>
        </p:nvSpPr>
        <p:spPr bwMode="auto">
          <a:xfrm rot="467894" flipH="1">
            <a:off x="5755210" y="2326574"/>
            <a:ext cx="1404626" cy="336201"/>
          </a:xfrm>
          <a:prstGeom prst="rightArrow">
            <a:avLst>
              <a:gd name="adj1" fmla="val 50000"/>
              <a:gd name="adj2" fmla="val 154362"/>
            </a:avLst>
          </a:prstGeom>
          <a:solidFill>
            <a:schemeClr val="accent1"/>
          </a:solidFill>
          <a:ln w="12700">
            <a:solidFill>
              <a:schemeClr val="tx1"/>
            </a:solidFill>
            <a:miter lim="800000"/>
            <a:headEnd/>
            <a:tailEnd/>
          </a:ln>
        </p:spPr>
        <p:txBody>
          <a:bodyPr wrap="none" anchor="ctr"/>
          <a:lstStyle/>
          <a:p>
            <a:endParaRPr lang="en-US"/>
          </a:p>
        </p:txBody>
      </p:sp>
      <p:sp>
        <p:nvSpPr>
          <p:cNvPr id="21545" name="Rectangle 41"/>
          <p:cNvSpPr>
            <a:spLocks noChangeArrowheads="1"/>
          </p:cNvSpPr>
          <p:nvPr/>
        </p:nvSpPr>
        <p:spPr bwMode="auto">
          <a:xfrm>
            <a:off x="7623323" y="1288272"/>
            <a:ext cx="1296831" cy="459100"/>
          </a:xfrm>
          <a:prstGeom prst="rect">
            <a:avLst/>
          </a:prstGeom>
          <a:noFill/>
          <a:ln w="12700">
            <a:noFill/>
            <a:miter lim="800000"/>
            <a:headEnd/>
            <a:tailEnd/>
          </a:ln>
        </p:spPr>
        <p:txBody>
          <a:bodyPr wrap="none" lIns="90488" tIns="44450" rIns="90488" bIns="44450">
            <a:spAutoFit/>
          </a:bodyPr>
          <a:lstStyle/>
          <a:p>
            <a:r>
              <a:rPr lang="en-US" sz="2400" dirty="0">
                <a:latin typeface="Comic Sans MS" pitchFamily="66" charset="0"/>
              </a:rPr>
              <a:t>Schema</a:t>
            </a:r>
            <a:endParaRPr lang="en-US" sz="2400" dirty="0">
              <a:latin typeface="Hobo"/>
            </a:endParaRPr>
          </a:p>
        </p:txBody>
      </p:sp>
      <p:sp>
        <p:nvSpPr>
          <p:cNvPr id="21546" name="Rectangle 42"/>
          <p:cNvSpPr>
            <a:spLocks noChangeArrowheads="1"/>
          </p:cNvSpPr>
          <p:nvPr/>
        </p:nvSpPr>
        <p:spPr bwMode="auto">
          <a:xfrm>
            <a:off x="7545578" y="2355927"/>
            <a:ext cx="1452322" cy="459100"/>
          </a:xfrm>
          <a:prstGeom prst="rect">
            <a:avLst/>
          </a:prstGeom>
          <a:noFill/>
          <a:ln w="12700">
            <a:noFill/>
            <a:miter lim="800000"/>
            <a:headEnd/>
            <a:tailEnd/>
          </a:ln>
        </p:spPr>
        <p:txBody>
          <a:bodyPr wrap="none" lIns="90488" tIns="44450" rIns="90488" bIns="44450">
            <a:spAutoFit/>
          </a:bodyPr>
          <a:lstStyle/>
          <a:p>
            <a:r>
              <a:rPr lang="en-US" sz="2400" dirty="0">
                <a:latin typeface="Comic Sans MS" pitchFamily="66" charset="0"/>
              </a:rPr>
              <a:t>Instance</a:t>
            </a:r>
            <a:endParaRPr lang="en-US" sz="2400" dirty="0">
              <a:latin typeface="Hobo"/>
            </a:endParaRPr>
          </a:p>
        </p:txBody>
      </p:sp>
      <p:sp>
        <p:nvSpPr>
          <p:cNvPr id="14" name="Slide Number Placeholder 2"/>
          <p:cNvSpPr>
            <a:spLocks noGrp="1"/>
          </p:cNvSpPr>
          <p:nvPr>
            <p:ph type="sldNum" sz="quarter" idx="12"/>
          </p:nvPr>
        </p:nvSpPr>
        <p:spPr>
          <a:xfrm>
            <a:off x="10972800" y="6320400"/>
            <a:ext cx="614337" cy="365125"/>
          </a:xfrm>
        </p:spPr>
        <p:txBody>
          <a:bodyPr/>
          <a:lstStyle/>
          <a:p>
            <a:r>
              <a:rPr lang="en-US" dirty="0"/>
              <a:t>14</a:t>
            </a:r>
          </a:p>
        </p:txBody>
      </p:sp>
      <p:sp>
        <p:nvSpPr>
          <p:cNvPr id="11" name="Footer Placeholder 4"/>
          <p:cNvSpPr>
            <a:spLocks noGrp="1"/>
          </p:cNvSpPr>
          <p:nvPr>
            <p:ph type="ftr" sz="quarter" idx="3"/>
          </p:nvPr>
        </p:nvSpPr>
        <p:spPr>
          <a:xfrm>
            <a:off x="4901329" y="6320400"/>
            <a:ext cx="6071471" cy="365125"/>
          </a:xfrm>
        </p:spPr>
        <p:txBody>
          <a:bodyPr/>
          <a:lstStyle/>
          <a:p>
            <a:r>
              <a:rPr lang="en-US" dirty="0"/>
              <a:t>09e-BM/DT/FSOFT - @FPT SOFTWARE - FPT Software Academy - Internal Use</a:t>
            </a:r>
          </a:p>
        </p:txBody>
      </p:sp>
    </p:spTree>
    <p:extLst>
      <p:ext uri="{BB962C8B-B14F-4D97-AF65-F5344CB8AC3E}">
        <p14:creationId xmlns:p14="http://schemas.microsoft.com/office/powerpoint/2010/main" val="20412498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31" name="Rectangle 1026"/>
          <p:cNvSpPr>
            <a:spLocks noGrp="1" noChangeArrowheads="1"/>
          </p:cNvSpPr>
          <p:nvPr>
            <p:ph type="title"/>
          </p:nvPr>
        </p:nvSpPr>
        <p:spPr/>
        <p:txBody>
          <a:bodyPr anchor="ctr" anchorCtr="0">
            <a:noAutofit/>
          </a:bodyPr>
          <a:lstStyle/>
          <a:p>
            <a:pPr algn="l"/>
            <a:r>
              <a:rPr lang="en-US" dirty="0"/>
              <a:t>What is RDBMS?</a:t>
            </a:r>
          </a:p>
        </p:txBody>
      </p:sp>
      <p:sp>
        <p:nvSpPr>
          <p:cNvPr id="2" name="Content Placeholder 1"/>
          <p:cNvSpPr>
            <a:spLocks noGrp="1"/>
          </p:cNvSpPr>
          <p:nvPr>
            <p:ph idx="1"/>
          </p:nvPr>
        </p:nvSpPr>
        <p:spPr>
          <a:xfrm>
            <a:off x="735496" y="992476"/>
            <a:ext cx="10618304" cy="5171428"/>
          </a:xfrm>
        </p:spPr>
        <p:txBody>
          <a:bodyPr>
            <a:noAutofit/>
          </a:bodyPr>
          <a:lstStyle/>
          <a:p>
            <a:pPr marL="339725" indent="-339725" algn="just">
              <a:lnSpc>
                <a:spcPct val="120000"/>
              </a:lnSpc>
              <a:buClr>
                <a:schemeClr val="accent6">
                  <a:lumMod val="75000"/>
                </a:schemeClr>
              </a:buClr>
              <a:buFont typeface="Wingdings" panose="05000000000000000000" pitchFamily="2" charset="2"/>
              <a:buChar char="Ø"/>
            </a:pPr>
            <a:r>
              <a:rPr lang="en-US" b="1" dirty="0"/>
              <a:t>RDBMS</a:t>
            </a:r>
            <a:r>
              <a:rPr lang="en-US" dirty="0"/>
              <a:t> stands for:</a:t>
            </a:r>
          </a:p>
          <a:p>
            <a:pPr marL="400050" lvl="1" indent="0" algn="ctr">
              <a:lnSpc>
                <a:spcPct val="120000"/>
              </a:lnSpc>
              <a:buNone/>
            </a:pPr>
            <a:r>
              <a:rPr lang="en-US" sz="2600" b="1" u="sng" dirty="0">
                <a:solidFill>
                  <a:schemeClr val="accent6"/>
                </a:solidFill>
              </a:rPr>
              <a:t>R</a:t>
            </a:r>
            <a:r>
              <a:rPr lang="en-US" sz="2600" dirty="0"/>
              <a:t>elational </a:t>
            </a:r>
            <a:r>
              <a:rPr lang="en-US" sz="2600" b="1" u="sng" dirty="0">
                <a:solidFill>
                  <a:schemeClr val="accent6"/>
                </a:solidFill>
              </a:rPr>
              <a:t>D</a:t>
            </a:r>
            <a:r>
              <a:rPr lang="en-US" sz="2600" dirty="0"/>
              <a:t>atabase </a:t>
            </a:r>
            <a:r>
              <a:rPr lang="en-US" sz="2600" b="1" u="sng" dirty="0">
                <a:solidFill>
                  <a:schemeClr val="accent6"/>
                </a:solidFill>
              </a:rPr>
              <a:t>M</a:t>
            </a:r>
            <a:r>
              <a:rPr lang="en-US" sz="2600" dirty="0"/>
              <a:t>anagement </a:t>
            </a:r>
            <a:r>
              <a:rPr lang="en-US" sz="2600" b="1" u="sng" dirty="0">
                <a:solidFill>
                  <a:schemeClr val="accent6"/>
                </a:solidFill>
              </a:rPr>
              <a:t>S</a:t>
            </a:r>
            <a:r>
              <a:rPr lang="en-US" sz="2600" dirty="0"/>
              <a:t>ystem</a:t>
            </a:r>
          </a:p>
          <a:p>
            <a:pPr marL="339725" lvl="1" indent="-339725" algn="just">
              <a:lnSpc>
                <a:spcPct val="120000"/>
              </a:lnSpc>
              <a:buClr>
                <a:schemeClr val="accent6">
                  <a:lumMod val="75000"/>
                </a:schemeClr>
              </a:buClr>
              <a:buFont typeface="Wingdings" panose="05000000000000000000" pitchFamily="2" charset="2"/>
              <a:buChar char="Ø"/>
            </a:pPr>
            <a:r>
              <a:rPr lang="en-US" sz="2400" b="1" dirty="0"/>
              <a:t>RDBMS</a:t>
            </a:r>
            <a:r>
              <a:rPr lang="en-US" sz="2400" dirty="0"/>
              <a:t> is the basis for SQL, and for all modern database systems like:</a:t>
            </a:r>
          </a:p>
          <a:p>
            <a:pPr lvl="2" indent="-342900" algn="just">
              <a:lnSpc>
                <a:spcPct val="120000"/>
              </a:lnSpc>
              <a:buFont typeface="Wingdings" panose="05000000000000000000" pitchFamily="2" charset="2"/>
              <a:buChar char="ü"/>
            </a:pPr>
            <a:r>
              <a:rPr lang="en-US" sz="1900" dirty="0"/>
              <a:t>MS SQL Server,</a:t>
            </a:r>
          </a:p>
          <a:p>
            <a:pPr lvl="2" indent="-342900" algn="just">
              <a:lnSpc>
                <a:spcPct val="120000"/>
              </a:lnSpc>
              <a:buFont typeface="Wingdings" panose="05000000000000000000" pitchFamily="2" charset="2"/>
              <a:buChar char="ü"/>
            </a:pPr>
            <a:r>
              <a:rPr lang="en-US" sz="1900" dirty="0"/>
              <a:t>IBM DB2,</a:t>
            </a:r>
          </a:p>
          <a:p>
            <a:pPr lvl="2" indent="-342900" algn="just">
              <a:lnSpc>
                <a:spcPct val="120000"/>
              </a:lnSpc>
              <a:buFont typeface="Wingdings" panose="05000000000000000000" pitchFamily="2" charset="2"/>
              <a:buChar char="ü"/>
            </a:pPr>
            <a:r>
              <a:rPr lang="en-US" sz="1900" dirty="0"/>
              <a:t>Oracle,</a:t>
            </a:r>
          </a:p>
          <a:p>
            <a:pPr lvl="2" indent="-342900" algn="just">
              <a:lnSpc>
                <a:spcPct val="120000"/>
              </a:lnSpc>
              <a:buFont typeface="Wingdings" panose="05000000000000000000" pitchFamily="2" charset="2"/>
              <a:buChar char="ü"/>
            </a:pPr>
            <a:r>
              <a:rPr lang="en-US" sz="1900" dirty="0"/>
              <a:t>MySQL,</a:t>
            </a:r>
          </a:p>
          <a:p>
            <a:pPr lvl="2" indent="-342900" algn="just">
              <a:lnSpc>
                <a:spcPct val="120000"/>
              </a:lnSpc>
              <a:buFont typeface="Wingdings" panose="05000000000000000000" pitchFamily="2" charset="2"/>
              <a:buChar char="ü"/>
            </a:pPr>
            <a:r>
              <a:rPr lang="en-US" sz="1900" dirty="0"/>
              <a:t>and Microsoft Access.</a:t>
            </a:r>
          </a:p>
          <a:p>
            <a:pPr marL="339725" indent="-339725" algn="just">
              <a:lnSpc>
                <a:spcPct val="120000"/>
              </a:lnSpc>
              <a:buClr>
                <a:schemeClr val="accent6">
                  <a:lumMod val="75000"/>
                </a:schemeClr>
              </a:buClr>
              <a:buFont typeface="Wingdings" panose="05000000000000000000" pitchFamily="2" charset="2"/>
              <a:buChar char="Ø"/>
            </a:pPr>
            <a:r>
              <a:rPr lang="en-US" dirty="0"/>
              <a:t>A Relational database management system (RDBMS) is a database management system (DBMS) that is based on the relational model as introduced by E. F. </a:t>
            </a:r>
            <a:r>
              <a:rPr lang="en-US" dirty="0" err="1"/>
              <a:t>Codd</a:t>
            </a:r>
            <a:r>
              <a:rPr lang="en-US" dirty="0"/>
              <a:t>.</a:t>
            </a:r>
            <a:endParaRPr lang="en-US" sz="2800" dirty="0"/>
          </a:p>
        </p:txBody>
      </p:sp>
      <p:sp>
        <p:nvSpPr>
          <p:cNvPr id="6" name="Slide Number Placeholder 2"/>
          <p:cNvSpPr>
            <a:spLocks noGrp="1"/>
          </p:cNvSpPr>
          <p:nvPr>
            <p:ph type="sldNum" sz="quarter" idx="12"/>
          </p:nvPr>
        </p:nvSpPr>
        <p:spPr/>
        <p:txBody>
          <a:bodyPr/>
          <a:lstStyle/>
          <a:p>
            <a:r>
              <a:rPr lang="en-US" dirty="0"/>
              <a:t>15</a:t>
            </a:r>
          </a:p>
        </p:txBody>
      </p:sp>
      <p:sp>
        <p:nvSpPr>
          <p:cNvPr id="5" name="Footer Placeholder 4"/>
          <p:cNvSpPr>
            <a:spLocks noGrp="1"/>
          </p:cNvSpPr>
          <p:nvPr>
            <p:ph type="ftr" sz="quarter" idx="3"/>
          </p:nvPr>
        </p:nvSpPr>
        <p:spPr/>
        <p:txBody>
          <a:bodyPr/>
          <a:lstStyle/>
          <a:p>
            <a:r>
              <a:rPr lang="en-US" dirty="0"/>
              <a:t>09e-BM/DT/FSOFT - @FPT SOFTWARE - FPT Software Academy - Internal Use</a:t>
            </a:r>
          </a:p>
        </p:txBody>
      </p:sp>
    </p:spTree>
    <p:extLst>
      <p:ext uri="{BB962C8B-B14F-4D97-AF65-F5344CB8AC3E}">
        <p14:creationId xmlns:p14="http://schemas.microsoft.com/office/powerpoint/2010/main" val="16911239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9694" name="Group 1102"/>
          <p:cNvGraphicFramePr>
            <a:graphicFrameLocks noGrp="1"/>
          </p:cNvGraphicFramePr>
          <p:nvPr>
            <p:extLst>
              <p:ext uri="{D42A27DB-BD31-4B8C-83A1-F6EECF244321}">
                <p14:modId xmlns:p14="http://schemas.microsoft.com/office/powerpoint/2010/main" val="2848183010"/>
              </p:ext>
            </p:extLst>
          </p:nvPr>
        </p:nvGraphicFramePr>
        <p:xfrm>
          <a:off x="836579" y="976976"/>
          <a:ext cx="10505872" cy="5103179"/>
        </p:xfrm>
        <a:graphic>
          <a:graphicData uri="http://schemas.openxmlformats.org/drawingml/2006/table">
            <a:tbl>
              <a:tblPr/>
              <a:tblGrid>
                <a:gridCol w="5252936">
                  <a:extLst>
                    <a:ext uri="{9D8B030D-6E8A-4147-A177-3AD203B41FA5}">
                      <a16:colId xmlns:a16="http://schemas.microsoft.com/office/drawing/2014/main" val="20000"/>
                    </a:ext>
                  </a:extLst>
                </a:gridCol>
                <a:gridCol w="5252936">
                  <a:extLst>
                    <a:ext uri="{9D8B030D-6E8A-4147-A177-3AD203B41FA5}">
                      <a16:colId xmlns:a16="http://schemas.microsoft.com/office/drawing/2014/main" val="20001"/>
                    </a:ext>
                  </a:extLst>
                </a:gridCol>
              </a:tblGrid>
              <a:tr h="514350">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2800" b="1" i="0" u="none" strike="noStrike" cap="none" normalizeH="0" baseline="0" dirty="0">
                          <a:ln>
                            <a:noFill/>
                          </a:ln>
                          <a:solidFill>
                            <a:srgbClr val="1450A3"/>
                          </a:solidFill>
                          <a:effectLst/>
                          <a:latin typeface="Times New Roman" pitchFamily="18" charset="0"/>
                        </a:rPr>
                        <a:t>DBMS</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60000"/>
                        <a:lumOff val="40000"/>
                      </a:schemeClr>
                    </a:solid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2800" b="1" i="0" u="none" strike="noStrike" cap="none" normalizeH="0" baseline="0" dirty="0">
                          <a:ln>
                            <a:noFill/>
                          </a:ln>
                          <a:solidFill>
                            <a:srgbClr val="1450A3"/>
                          </a:solidFill>
                          <a:effectLst/>
                          <a:latin typeface="Times New Roman" pitchFamily="18" charset="0"/>
                        </a:rPr>
                        <a:t>RDBMS</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6">
                        <a:lumMod val="60000"/>
                        <a:lumOff val="40000"/>
                      </a:schemeClr>
                    </a:solidFill>
                  </a:tcPr>
                </a:tc>
                <a:extLst>
                  <a:ext uri="{0D108BD9-81ED-4DB2-BD59-A6C34878D82A}">
                    <a16:rowId xmlns:a16="http://schemas.microsoft.com/office/drawing/2014/main" val="10000"/>
                  </a:ext>
                </a:extLst>
              </a:tr>
              <a:tr h="777875">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800" b="0" i="0" u="none" strike="noStrike" cap="none" normalizeH="0" baseline="0" dirty="0">
                          <a:ln>
                            <a:noFill/>
                          </a:ln>
                          <a:solidFill>
                            <a:srgbClr val="000000"/>
                          </a:solidFill>
                          <a:effectLst/>
                          <a:latin typeface="Arial" pitchFamily="34" charset="0"/>
                          <a:cs typeface="Times New Roman" pitchFamily="18" charset="0"/>
                        </a:rPr>
                        <a:t>The concepts of relationships is missing in  a DBMS. If it exits it is very less.</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800" b="0" i="0" u="none" strike="noStrike" cap="none" normalizeH="0" baseline="0">
                          <a:ln>
                            <a:noFill/>
                          </a:ln>
                          <a:solidFill>
                            <a:srgbClr val="000000"/>
                          </a:solidFill>
                          <a:effectLst/>
                          <a:latin typeface="Arial" pitchFamily="34" charset="0"/>
                          <a:cs typeface="Times New Roman" pitchFamily="18" charset="0"/>
                        </a:rPr>
                        <a:t>It is based on the concept</a:t>
                      </a:r>
                    </a:p>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800" b="0" i="0" u="none" strike="noStrike" cap="none" normalizeH="0" baseline="0">
                          <a:ln>
                            <a:noFill/>
                          </a:ln>
                          <a:solidFill>
                            <a:srgbClr val="000000"/>
                          </a:solidFill>
                          <a:effectLst/>
                          <a:latin typeface="Arial" pitchFamily="34" charset="0"/>
                          <a:cs typeface="Times New Roman" pitchFamily="18" charset="0"/>
                        </a:rPr>
                        <a:t>Of relationships</a:t>
                      </a:r>
                      <a:r>
                        <a:rPr kumimoji="0" lang="en-US" sz="1800" b="0" i="0" u="none" strike="noStrike" cap="none" normalizeH="0" baseline="0">
                          <a:ln>
                            <a:noFill/>
                          </a:ln>
                          <a:solidFill>
                            <a:schemeClr val="tx1"/>
                          </a:solidFill>
                          <a:effectLst/>
                          <a:latin typeface="Times New Roman" pitchFamily="18" charset="0"/>
                        </a:rPr>
                        <a:t> </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595313">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800" b="0" i="0" u="none" strike="noStrike" cap="none" normalizeH="0" baseline="0" dirty="0">
                          <a:ln>
                            <a:noFill/>
                          </a:ln>
                          <a:solidFill>
                            <a:srgbClr val="000000"/>
                          </a:solidFill>
                          <a:effectLst/>
                          <a:latin typeface="Arial" pitchFamily="34" charset="0"/>
                          <a:cs typeface="Times New Roman" pitchFamily="18" charset="0"/>
                        </a:rPr>
                        <a:t>Speed of operation is very slow</a:t>
                      </a:r>
                      <a:r>
                        <a:rPr kumimoji="0" lang="en-US" sz="1800" b="0" i="0" u="none" strike="noStrike" cap="none" normalizeH="0" baseline="0" dirty="0">
                          <a:ln>
                            <a:noFill/>
                          </a:ln>
                          <a:solidFill>
                            <a:schemeClr val="tx1"/>
                          </a:solidFill>
                          <a:effectLst/>
                          <a:latin typeface="Times New Roman" pitchFamily="18" charset="0"/>
                        </a:rPr>
                        <a:t> </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800" b="0" i="0" u="none" strike="noStrike" cap="none" normalizeH="0" baseline="0">
                          <a:ln>
                            <a:noFill/>
                          </a:ln>
                          <a:solidFill>
                            <a:srgbClr val="000000"/>
                          </a:solidFill>
                          <a:effectLst/>
                          <a:latin typeface="Arial" pitchFamily="34" charset="0"/>
                          <a:cs typeface="Times New Roman" pitchFamily="18" charset="0"/>
                        </a:rPr>
                        <a:t>Speed of operation is very Fast</a:t>
                      </a:r>
                      <a:r>
                        <a:rPr kumimoji="0" lang="en-US" sz="1800" b="0" i="0" u="none" strike="noStrike" cap="none" normalizeH="0" baseline="0">
                          <a:ln>
                            <a:noFill/>
                          </a:ln>
                          <a:solidFill>
                            <a:schemeClr val="tx1"/>
                          </a:solidFill>
                          <a:effectLst/>
                          <a:latin typeface="Times New Roman" pitchFamily="18" charset="0"/>
                        </a:rPr>
                        <a:t> </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838200">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800" b="0" i="0" u="none" strike="noStrike" cap="none" normalizeH="0" baseline="0" dirty="0">
                          <a:ln>
                            <a:noFill/>
                          </a:ln>
                          <a:solidFill>
                            <a:srgbClr val="000000"/>
                          </a:solidFill>
                          <a:effectLst/>
                          <a:latin typeface="Arial" pitchFamily="34" charset="0"/>
                          <a:cs typeface="Times New Roman" pitchFamily="18" charset="0"/>
                        </a:rPr>
                        <a:t>Hardware and Software requirements are minimum</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800" b="0" i="0" u="none" strike="noStrike" cap="none" normalizeH="0" baseline="0" dirty="0">
                          <a:ln>
                            <a:noFill/>
                          </a:ln>
                          <a:solidFill>
                            <a:srgbClr val="000000"/>
                          </a:solidFill>
                          <a:effectLst/>
                          <a:latin typeface="Times New Roman" pitchFamily="18" charset="0"/>
                          <a:cs typeface="Times New Roman" pitchFamily="18" charset="0"/>
                        </a:rPr>
                        <a:t> </a:t>
                      </a:r>
                      <a:r>
                        <a:rPr kumimoji="0" lang="en-US" sz="1800" b="0" i="0" u="none" strike="noStrike" cap="none" normalizeH="0" baseline="0" dirty="0">
                          <a:ln>
                            <a:noFill/>
                          </a:ln>
                          <a:solidFill>
                            <a:srgbClr val="000000"/>
                          </a:solidFill>
                          <a:effectLst/>
                          <a:latin typeface="Arial" pitchFamily="34" charset="0"/>
                          <a:cs typeface="Times New Roman" pitchFamily="18" charset="0"/>
                        </a:rPr>
                        <a:t>Hardware and Software requirements are High</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706438">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800" b="0" i="0" u="none" strike="noStrike" cap="none" normalizeH="0" baseline="0" dirty="0">
                          <a:ln>
                            <a:noFill/>
                          </a:ln>
                          <a:solidFill>
                            <a:srgbClr val="000000"/>
                          </a:solidFill>
                          <a:effectLst/>
                          <a:latin typeface="Arial" pitchFamily="34" charset="0"/>
                          <a:cs typeface="Times New Roman" pitchFamily="18" charset="0"/>
                        </a:rPr>
                        <a:t>Platform used is normally DOS</a:t>
                      </a:r>
                      <a:r>
                        <a:rPr kumimoji="0" lang="en-US" sz="1800" b="0" i="0" u="none" strike="noStrike" cap="none" normalizeH="0" baseline="0" dirty="0">
                          <a:ln>
                            <a:noFill/>
                          </a:ln>
                          <a:solidFill>
                            <a:schemeClr val="tx1"/>
                          </a:solidFill>
                          <a:effectLst/>
                          <a:latin typeface="Times New Roman" pitchFamily="18" charset="0"/>
                        </a:rPr>
                        <a:t> </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800" b="0" i="0" u="none" strike="noStrike" cap="none" normalizeH="0" baseline="0" dirty="0">
                          <a:ln>
                            <a:noFill/>
                          </a:ln>
                          <a:solidFill>
                            <a:srgbClr val="000000"/>
                          </a:solidFill>
                          <a:effectLst/>
                          <a:latin typeface="Arial" pitchFamily="34" charset="0"/>
                          <a:cs typeface="Times New Roman" pitchFamily="18" charset="0"/>
                        </a:rPr>
                        <a:t>Platform used can be any  DOS, UNIX,VAX,VMS, </a:t>
                      </a:r>
                      <a:r>
                        <a:rPr kumimoji="0" lang="en-US" sz="1800" b="0" i="0" u="none" strike="noStrike" cap="none" normalizeH="0" baseline="0" dirty="0" err="1">
                          <a:ln>
                            <a:noFill/>
                          </a:ln>
                          <a:solidFill>
                            <a:srgbClr val="000000"/>
                          </a:solidFill>
                          <a:effectLst/>
                          <a:latin typeface="Arial" pitchFamily="34" charset="0"/>
                          <a:cs typeface="Times New Roman" pitchFamily="18" charset="0"/>
                        </a:rPr>
                        <a:t>etc</a:t>
                      </a:r>
                      <a:endParaRPr kumimoji="0" lang="en-US" sz="1800" b="0" i="0" u="none" strike="noStrike" cap="none" normalizeH="0" baseline="0" dirty="0">
                        <a:ln>
                          <a:noFill/>
                        </a:ln>
                        <a:solidFill>
                          <a:srgbClr val="000000"/>
                        </a:solidFill>
                        <a:effectLst/>
                        <a:latin typeface="Arial" pitchFamily="34" charset="0"/>
                        <a:cs typeface="Times New Roman" pitchFamily="18" charset="0"/>
                      </a:endParaRP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512763">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800" b="0" i="0" u="none" strike="noStrike" cap="none" normalizeH="0" baseline="0" dirty="0">
                          <a:ln>
                            <a:noFill/>
                          </a:ln>
                          <a:solidFill>
                            <a:srgbClr val="000000"/>
                          </a:solidFill>
                          <a:effectLst/>
                          <a:latin typeface="Arial" pitchFamily="34" charset="0"/>
                          <a:cs typeface="Times New Roman" pitchFamily="18" charset="0"/>
                        </a:rPr>
                        <a:t>Uses concept of a file</a:t>
                      </a:r>
                      <a:r>
                        <a:rPr kumimoji="0" lang="en-US" sz="1800" b="0" i="0" u="none" strike="noStrike" cap="none" normalizeH="0" baseline="0" dirty="0">
                          <a:ln>
                            <a:noFill/>
                          </a:ln>
                          <a:solidFill>
                            <a:schemeClr val="tx1"/>
                          </a:solidFill>
                          <a:effectLst/>
                          <a:latin typeface="Times New Roman" pitchFamily="18" charset="0"/>
                        </a:rPr>
                        <a:t> </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800" b="0" i="0" u="none" strike="noStrike" cap="none" normalizeH="0" baseline="0" dirty="0">
                          <a:ln>
                            <a:noFill/>
                          </a:ln>
                          <a:solidFill>
                            <a:srgbClr val="000000"/>
                          </a:solidFill>
                          <a:effectLst/>
                          <a:latin typeface="Arial" pitchFamily="34" charset="0"/>
                          <a:cs typeface="Times New Roman" pitchFamily="18" charset="0"/>
                        </a:rPr>
                        <a:t>Uses concept of table </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r h="514350">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800" b="0" i="0" u="none" strike="noStrike" cap="none" normalizeH="0" baseline="0">
                          <a:ln>
                            <a:noFill/>
                          </a:ln>
                          <a:solidFill>
                            <a:srgbClr val="000000"/>
                          </a:solidFill>
                          <a:effectLst/>
                          <a:latin typeface="Arial" pitchFamily="34" charset="0"/>
                          <a:cs typeface="Times New Roman" pitchFamily="18" charset="0"/>
                        </a:rPr>
                        <a:t>DBMS normally use 3GL</a:t>
                      </a:r>
                      <a:r>
                        <a:rPr kumimoji="0" lang="en-US" sz="1800" b="0" i="0" u="none" strike="noStrike" cap="none" normalizeH="0" baseline="0">
                          <a:ln>
                            <a:noFill/>
                          </a:ln>
                          <a:solidFill>
                            <a:schemeClr val="tx1"/>
                          </a:solidFill>
                          <a:effectLst/>
                          <a:latin typeface="Times New Roman" pitchFamily="18" charset="0"/>
                        </a:rPr>
                        <a:t> </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800" b="0" i="0" u="none" strike="noStrike" cap="none" normalizeH="0" baseline="0" dirty="0">
                          <a:ln>
                            <a:noFill/>
                          </a:ln>
                          <a:solidFill>
                            <a:srgbClr val="000000"/>
                          </a:solidFill>
                          <a:effectLst/>
                          <a:latin typeface="Arial" pitchFamily="34" charset="0"/>
                          <a:cs typeface="Times New Roman" pitchFamily="18" charset="0"/>
                        </a:rPr>
                        <a:t>RDBMS normally use a 4GL </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6"/>
                  </a:ext>
                </a:extLst>
              </a:tr>
              <a:tr h="638175">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800" b="0" i="0" u="none" strike="noStrike" cap="none" normalizeH="0" baseline="0" dirty="0">
                          <a:ln>
                            <a:noFill/>
                          </a:ln>
                          <a:solidFill>
                            <a:srgbClr val="000000"/>
                          </a:solidFill>
                          <a:effectLst/>
                          <a:latin typeface="Arial" pitchFamily="34" charset="0"/>
                          <a:cs typeface="Times New Roman" pitchFamily="18" charset="0"/>
                        </a:rPr>
                        <a:t>Examples are dBase, FOXBASE, etc </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Pct val="100000"/>
                        <a:buFontTx/>
                        <a:buNone/>
                        <a:tabLst/>
                      </a:pPr>
                      <a:r>
                        <a:rPr kumimoji="0" lang="en-US" sz="1800" b="0" i="0" u="none" strike="noStrike" cap="none" normalizeH="0" baseline="0" dirty="0">
                          <a:ln>
                            <a:noFill/>
                          </a:ln>
                          <a:solidFill>
                            <a:srgbClr val="000000"/>
                          </a:solidFill>
                          <a:effectLst/>
                          <a:latin typeface="Arial" pitchFamily="34" charset="0"/>
                          <a:cs typeface="Times New Roman" pitchFamily="18" charset="0"/>
                        </a:rPr>
                        <a:t>Examples are ORACLE, INGRESS, SQL Server 2000 etc </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7"/>
                  </a:ext>
                </a:extLst>
              </a:tr>
            </a:tbl>
          </a:graphicData>
        </a:graphic>
      </p:graphicFrame>
      <p:sp>
        <p:nvSpPr>
          <p:cNvPr id="25631" name="Rectangle 1026"/>
          <p:cNvSpPr>
            <a:spLocks noGrp="1" noChangeArrowheads="1"/>
          </p:cNvSpPr>
          <p:nvPr>
            <p:ph type="title"/>
          </p:nvPr>
        </p:nvSpPr>
        <p:spPr/>
        <p:txBody>
          <a:bodyPr anchor="ctr" anchorCtr="0">
            <a:normAutofit/>
          </a:bodyPr>
          <a:lstStyle/>
          <a:p>
            <a:pPr algn="l"/>
            <a:r>
              <a:rPr lang="en-US" dirty="0"/>
              <a:t>DBMS vs. RDBMS </a:t>
            </a:r>
          </a:p>
        </p:txBody>
      </p:sp>
      <p:sp>
        <p:nvSpPr>
          <p:cNvPr id="3" name="Slide Number Placeholder 2"/>
          <p:cNvSpPr>
            <a:spLocks noGrp="1"/>
          </p:cNvSpPr>
          <p:nvPr>
            <p:ph type="sldNum" sz="quarter" idx="12"/>
          </p:nvPr>
        </p:nvSpPr>
        <p:spPr/>
        <p:txBody>
          <a:bodyPr/>
          <a:lstStyle/>
          <a:p>
            <a:fld id="{AB4FB0DF-9300-7D4B-B157-CBD30D15743F}" type="slidenum">
              <a:rPr lang="en-US" smtClean="0"/>
              <a:t>16</a:t>
            </a:fld>
            <a:endParaRPr lang="en-US"/>
          </a:p>
        </p:txBody>
      </p:sp>
      <p:sp>
        <p:nvSpPr>
          <p:cNvPr id="5" name="Footer Placeholder 4"/>
          <p:cNvSpPr>
            <a:spLocks noGrp="1"/>
          </p:cNvSpPr>
          <p:nvPr>
            <p:ph type="ftr" sz="quarter" idx="3"/>
          </p:nvPr>
        </p:nvSpPr>
        <p:spPr/>
        <p:txBody>
          <a:bodyPr/>
          <a:lstStyle/>
          <a:p>
            <a:r>
              <a:rPr lang="en-US" dirty="0"/>
              <a:t>09e-BM/DT/FSOFT - @FPT SOFTWARE - FPT Software Academy - Internal Use</a:t>
            </a:r>
          </a:p>
        </p:txBody>
      </p:sp>
    </p:spTree>
    <p:extLst>
      <p:ext uri="{BB962C8B-B14F-4D97-AF65-F5344CB8AC3E}">
        <p14:creationId xmlns:p14="http://schemas.microsoft.com/office/powerpoint/2010/main" val="29411969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a:t>ER Model</a:t>
            </a:r>
          </a:p>
        </p:txBody>
      </p:sp>
      <p:sp>
        <p:nvSpPr>
          <p:cNvPr id="6" name="Text Placeholder 5"/>
          <p:cNvSpPr>
            <a:spLocks noGrp="1"/>
          </p:cNvSpPr>
          <p:nvPr>
            <p:ph type="body" idx="1"/>
          </p:nvPr>
        </p:nvSpPr>
        <p:spPr/>
        <p:txBody>
          <a:bodyPr/>
          <a:lstStyle/>
          <a:p>
            <a:r>
              <a:rPr lang="en-US"/>
              <a:t>Section 3</a:t>
            </a:r>
          </a:p>
        </p:txBody>
      </p:sp>
      <p:sp>
        <p:nvSpPr>
          <p:cNvPr id="3" name="Slide Number Placeholder 2"/>
          <p:cNvSpPr>
            <a:spLocks noGrp="1"/>
          </p:cNvSpPr>
          <p:nvPr>
            <p:ph type="sldNum" sz="quarter" idx="12"/>
          </p:nvPr>
        </p:nvSpPr>
        <p:spPr/>
        <p:txBody>
          <a:bodyPr/>
          <a:lstStyle/>
          <a:p>
            <a:fld id="{AB4FB0DF-9300-7D4B-B157-CBD30D15743F}" type="slidenum">
              <a:rPr lang="en-US" smtClean="0"/>
              <a:t>17</a:t>
            </a:fld>
            <a:endParaRPr lang="en-US"/>
          </a:p>
        </p:txBody>
      </p:sp>
      <p:sp>
        <p:nvSpPr>
          <p:cNvPr id="7" name="Footer Placeholder 4"/>
          <p:cNvSpPr>
            <a:spLocks noGrp="1"/>
          </p:cNvSpPr>
          <p:nvPr>
            <p:ph type="ftr" sz="quarter" idx="3"/>
          </p:nvPr>
        </p:nvSpPr>
        <p:spPr>
          <a:xfrm>
            <a:off x="4901329" y="6320400"/>
            <a:ext cx="6071471" cy="365125"/>
          </a:xfrm>
        </p:spPr>
        <p:txBody>
          <a:bodyPr/>
          <a:lstStyle/>
          <a:p>
            <a:r>
              <a:rPr lang="en-US" dirty="0"/>
              <a:t>09e-BM/DT/FSOFT - @FPT SOFTWARE - FPT Software Academy - Internal Use</a:t>
            </a:r>
          </a:p>
        </p:txBody>
      </p:sp>
    </p:spTree>
    <p:extLst>
      <p:ext uri="{BB962C8B-B14F-4D97-AF65-F5344CB8AC3E}">
        <p14:creationId xmlns:p14="http://schemas.microsoft.com/office/powerpoint/2010/main" val="25993441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854529" y="163954"/>
            <a:ext cx="8929718" cy="704639"/>
          </a:xfrm>
        </p:spPr>
        <p:txBody>
          <a:bodyPr anchor="ctr" anchorCtr="0">
            <a:normAutofit/>
          </a:bodyPr>
          <a:lstStyle/>
          <a:p>
            <a:pPr algn="l"/>
            <a:r>
              <a:rPr lang="en-US" dirty="0"/>
              <a:t>Design Process</a:t>
            </a:r>
          </a:p>
        </p:txBody>
      </p:sp>
      <p:sp>
        <p:nvSpPr>
          <p:cNvPr id="4" name="Rectangle 3"/>
          <p:cNvSpPr/>
          <p:nvPr/>
        </p:nvSpPr>
        <p:spPr>
          <a:xfrm>
            <a:off x="6667435" y="1369446"/>
            <a:ext cx="1643061" cy="845098"/>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rPr>
              <a:t>Requirement collection &amp; </a:t>
            </a:r>
            <a:r>
              <a:rPr lang="en-US" sz="1600" dirty="0">
                <a:solidFill>
                  <a:schemeClr val="tx1"/>
                </a:solidFill>
              </a:rPr>
              <a:t>Analysis</a:t>
            </a:r>
          </a:p>
        </p:txBody>
      </p:sp>
      <p:sp>
        <p:nvSpPr>
          <p:cNvPr id="5" name="Rectangle 4"/>
          <p:cNvSpPr/>
          <p:nvPr/>
        </p:nvSpPr>
        <p:spPr>
          <a:xfrm>
            <a:off x="3452747" y="2655321"/>
            <a:ext cx="1546622" cy="845098"/>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dirty="0">
                <a:solidFill>
                  <a:schemeClr val="tx1"/>
                </a:solidFill>
              </a:rPr>
              <a:t>Requirement database</a:t>
            </a:r>
          </a:p>
        </p:txBody>
      </p:sp>
      <p:sp>
        <p:nvSpPr>
          <p:cNvPr id="6" name="Rectangle 5"/>
          <p:cNvSpPr/>
          <p:nvPr/>
        </p:nvSpPr>
        <p:spPr>
          <a:xfrm>
            <a:off x="6667436" y="3655446"/>
            <a:ext cx="1482180" cy="845098"/>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rPr>
              <a:t>Conceptual design</a:t>
            </a:r>
          </a:p>
        </p:txBody>
      </p:sp>
      <p:sp>
        <p:nvSpPr>
          <p:cNvPr id="7" name="Rectangle 6"/>
          <p:cNvSpPr/>
          <p:nvPr/>
        </p:nvSpPr>
        <p:spPr>
          <a:xfrm>
            <a:off x="3452747" y="4797434"/>
            <a:ext cx="1482179" cy="774674"/>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dirty="0">
                <a:solidFill>
                  <a:schemeClr val="tx1"/>
                </a:solidFill>
              </a:rPr>
              <a:t>Conceptual model</a:t>
            </a:r>
          </a:p>
        </p:txBody>
      </p:sp>
      <p:sp>
        <p:nvSpPr>
          <p:cNvPr id="8" name="Cloud 7"/>
          <p:cNvSpPr/>
          <p:nvPr/>
        </p:nvSpPr>
        <p:spPr>
          <a:xfrm>
            <a:off x="2023999" y="870398"/>
            <a:ext cx="1353294" cy="915522"/>
          </a:xfrm>
          <a:prstGeom prst="cloud">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rPr>
              <a:t>Real </a:t>
            </a:r>
            <a:r>
              <a:rPr lang="en-US" sz="1600" dirty="0">
                <a:solidFill>
                  <a:schemeClr val="tx1"/>
                </a:solidFill>
              </a:rPr>
              <a:t>world</a:t>
            </a:r>
          </a:p>
        </p:txBody>
      </p:sp>
      <p:cxnSp>
        <p:nvCxnSpPr>
          <p:cNvPr id="10" name="Straight Arrow Connector 9"/>
          <p:cNvCxnSpPr>
            <a:stCxn id="8" idx="0"/>
            <a:endCxn id="4" idx="1"/>
          </p:cNvCxnSpPr>
          <p:nvPr/>
        </p:nvCxnSpPr>
        <p:spPr>
          <a:xfrm>
            <a:off x="3376165" y="1328159"/>
            <a:ext cx="3291270" cy="463836"/>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4" idx="1"/>
            <a:endCxn id="5" idx="3"/>
          </p:cNvCxnSpPr>
          <p:nvPr/>
        </p:nvCxnSpPr>
        <p:spPr>
          <a:xfrm flipH="1">
            <a:off x="4999369" y="1791995"/>
            <a:ext cx="1668066" cy="1285875"/>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8381934" y="1240971"/>
            <a:ext cx="2062163" cy="12246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buFont typeface="Wingdings" pitchFamily="2" charset="2"/>
              <a:buChar char="§"/>
              <a:defRPr/>
            </a:pPr>
            <a:r>
              <a:rPr lang="en-US" sz="1600">
                <a:solidFill>
                  <a:schemeClr val="tx1"/>
                </a:solidFill>
                <a:cs typeface="Arial" charset="0"/>
              </a:rPr>
              <a:t> Survey</a:t>
            </a:r>
          </a:p>
          <a:p>
            <a:pPr>
              <a:buFont typeface="Wingdings" pitchFamily="2" charset="2"/>
              <a:buChar char="§"/>
              <a:defRPr/>
            </a:pPr>
            <a:r>
              <a:rPr lang="en-US" sz="1600">
                <a:solidFill>
                  <a:schemeClr val="tx1"/>
                </a:solidFill>
                <a:cs typeface="Arial" charset="0"/>
              </a:rPr>
              <a:t> Interview</a:t>
            </a:r>
          </a:p>
          <a:p>
            <a:pPr>
              <a:buFont typeface="Wingdings" pitchFamily="2" charset="2"/>
              <a:buChar char="§"/>
              <a:defRPr/>
            </a:pPr>
            <a:r>
              <a:rPr lang="en-US" sz="1600">
                <a:solidFill>
                  <a:schemeClr val="tx1"/>
                </a:solidFill>
                <a:cs typeface="Arial" charset="0"/>
              </a:rPr>
              <a:t> Collect requirement</a:t>
            </a:r>
          </a:p>
          <a:p>
            <a:pPr>
              <a:buFont typeface="Wingdings" pitchFamily="2" charset="2"/>
              <a:buChar char="§"/>
              <a:defRPr/>
            </a:pPr>
            <a:r>
              <a:rPr lang="en-US" sz="1600">
                <a:solidFill>
                  <a:schemeClr val="tx1"/>
                </a:solidFill>
                <a:cs typeface="Arial" charset="0"/>
              </a:rPr>
              <a:t> Analisys</a:t>
            </a:r>
          </a:p>
        </p:txBody>
      </p:sp>
      <p:cxnSp>
        <p:nvCxnSpPr>
          <p:cNvPr id="16" name="Straight Arrow Connector 15"/>
          <p:cNvCxnSpPr>
            <a:stCxn id="5" idx="3"/>
            <a:endCxn id="6" idx="1"/>
          </p:cNvCxnSpPr>
          <p:nvPr/>
        </p:nvCxnSpPr>
        <p:spPr>
          <a:xfrm>
            <a:off x="4999369" y="3077870"/>
            <a:ext cx="1668067" cy="1000125"/>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6" idx="1"/>
            <a:endCxn id="21" idx="1"/>
          </p:cNvCxnSpPr>
          <p:nvPr/>
        </p:nvCxnSpPr>
        <p:spPr>
          <a:xfrm flipH="1">
            <a:off x="5095809" y="4077995"/>
            <a:ext cx="1571627" cy="1108802"/>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 name="Rectangle 18"/>
          <p:cNvSpPr/>
          <p:nvPr/>
        </p:nvSpPr>
        <p:spPr>
          <a:xfrm>
            <a:off x="8310497" y="3596764"/>
            <a:ext cx="2062163" cy="105637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buFont typeface="Wingdings" pitchFamily="2" charset="2"/>
              <a:buChar char="§"/>
              <a:defRPr/>
            </a:pPr>
            <a:r>
              <a:rPr lang="en-US" dirty="0">
                <a:solidFill>
                  <a:schemeClr val="tx1"/>
                </a:solidFill>
                <a:cs typeface="Arial" charset="0"/>
              </a:rPr>
              <a:t> Modelling</a:t>
            </a:r>
          </a:p>
          <a:p>
            <a:pPr>
              <a:buFont typeface="Wingdings" pitchFamily="2" charset="2"/>
              <a:buChar char="§"/>
              <a:defRPr/>
            </a:pPr>
            <a:r>
              <a:rPr lang="en-US" dirty="0">
                <a:solidFill>
                  <a:schemeClr val="tx1"/>
                </a:solidFill>
                <a:cs typeface="Arial" charset="0"/>
              </a:rPr>
              <a:t> Design</a:t>
            </a:r>
          </a:p>
        </p:txBody>
      </p:sp>
      <p:sp>
        <p:nvSpPr>
          <p:cNvPr id="20" name="Rectangle 19"/>
          <p:cNvSpPr/>
          <p:nvPr/>
        </p:nvSpPr>
        <p:spPr>
          <a:xfrm>
            <a:off x="1452531" y="2645470"/>
            <a:ext cx="2000217" cy="10715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buFont typeface="Wingdings" pitchFamily="2" charset="2"/>
              <a:buChar char="§"/>
              <a:defRPr/>
            </a:pPr>
            <a:r>
              <a:rPr lang="en-US" sz="2000">
                <a:solidFill>
                  <a:schemeClr val="tx1"/>
                </a:solidFill>
                <a:cs typeface="Arial" charset="0"/>
              </a:rPr>
              <a:t> Specification</a:t>
            </a:r>
          </a:p>
          <a:p>
            <a:pPr algn="r">
              <a:buFont typeface="Wingdings" pitchFamily="2" charset="2"/>
              <a:buChar char="§"/>
              <a:defRPr/>
            </a:pPr>
            <a:endParaRPr lang="en-US" sz="2000">
              <a:solidFill>
                <a:schemeClr val="tx1"/>
              </a:solidFill>
              <a:cs typeface="Arial" charset="0"/>
            </a:endParaRPr>
          </a:p>
        </p:txBody>
      </p:sp>
      <p:sp>
        <p:nvSpPr>
          <p:cNvPr id="21" name="Rectangle 20"/>
          <p:cNvSpPr/>
          <p:nvPr/>
        </p:nvSpPr>
        <p:spPr>
          <a:xfrm>
            <a:off x="5095809" y="4658610"/>
            <a:ext cx="2062163" cy="105637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1">
              <a:buFont typeface="Wingdings" pitchFamily="2" charset="2"/>
              <a:buChar char="§"/>
              <a:defRPr/>
            </a:pPr>
            <a:r>
              <a:rPr lang="en-US" dirty="0">
                <a:solidFill>
                  <a:schemeClr val="tx1"/>
                </a:solidFill>
                <a:cs typeface="Arial" charset="0"/>
              </a:rPr>
              <a:t> </a:t>
            </a:r>
            <a:r>
              <a:rPr lang="en-US">
                <a:solidFill>
                  <a:schemeClr val="tx1"/>
                </a:solidFill>
                <a:cs typeface="Arial" charset="0"/>
              </a:rPr>
              <a:t>ER Modelling</a:t>
            </a:r>
            <a:endParaRPr lang="en-US" dirty="0">
              <a:solidFill>
                <a:schemeClr val="tx1"/>
              </a:solidFill>
              <a:cs typeface="Arial" charset="0"/>
            </a:endParaRPr>
          </a:p>
        </p:txBody>
      </p:sp>
      <p:cxnSp>
        <p:nvCxnSpPr>
          <p:cNvPr id="38" name="Straight Arrow Connector 37"/>
          <p:cNvCxnSpPr>
            <a:stCxn id="7" idx="3"/>
            <a:endCxn id="30" idx="1"/>
          </p:cNvCxnSpPr>
          <p:nvPr/>
        </p:nvCxnSpPr>
        <p:spPr>
          <a:xfrm>
            <a:off x="4934926" y="5184771"/>
            <a:ext cx="1732510" cy="607724"/>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0" name="Rectangle 29"/>
          <p:cNvSpPr/>
          <p:nvPr/>
        </p:nvSpPr>
        <p:spPr>
          <a:xfrm>
            <a:off x="6667436" y="5369946"/>
            <a:ext cx="1482180" cy="845098"/>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rPr>
              <a:t>……..</a:t>
            </a:r>
          </a:p>
        </p:txBody>
      </p:sp>
      <p:sp>
        <p:nvSpPr>
          <p:cNvPr id="22" name="Slide Number Placeholder 2"/>
          <p:cNvSpPr>
            <a:spLocks noGrp="1"/>
          </p:cNvSpPr>
          <p:nvPr>
            <p:ph type="sldNum" sz="quarter" idx="12"/>
          </p:nvPr>
        </p:nvSpPr>
        <p:spPr>
          <a:xfrm>
            <a:off x="10972800" y="6320400"/>
            <a:ext cx="614337" cy="365125"/>
          </a:xfrm>
        </p:spPr>
        <p:txBody>
          <a:bodyPr/>
          <a:lstStyle/>
          <a:p>
            <a:r>
              <a:rPr lang="en-US" dirty="0"/>
              <a:t>18</a:t>
            </a:r>
          </a:p>
        </p:txBody>
      </p:sp>
      <p:sp>
        <p:nvSpPr>
          <p:cNvPr id="23" name="Footer Placeholder 4"/>
          <p:cNvSpPr>
            <a:spLocks noGrp="1"/>
          </p:cNvSpPr>
          <p:nvPr>
            <p:ph type="ftr" sz="quarter" idx="3"/>
          </p:nvPr>
        </p:nvSpPr>
        <p:spPr>
          <a:xfrm>
            <a:off x="4901329" y="6320400"/>
            <a:ext cx="6071471" cy="365125"/>
          </a:xfrm>
        </p:spPr>
        <p:txBody>
          <a:bodyPr/>
          <a:lstStyle/>
          <a:p>
            <a:r>
              <a:rPr lang="en-US" dirty="0"/>
              <a:t>09e-BM/DT/FSOFT - @FPT SOFTWARE - FPT Software Academy - Internal Use</a:t>
            </a:r>
          </a:p>
        </p:txBody>
      </p:sp>
    </p:spTree>
    <p:extLst>
      <p:ext uri="{BB962C8B-B14F-4D97-AF65-F5344CB8AC3E}">
        <p14:creationId xmlns:p14="http://schemas.microsoft.com/office/powerpoint/2010/main" val="7396180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solidFill>
                  <a:srgbClr val="1450A3"/>
                </a:solidFill>
              </a:rPr>
              <a:t>Basic E-R Notation</a:t>
            </a:r>
          </a:p>
        </p:txBody>
      </p:sp>
      <p:sp>
        <p:nvSpPr>
          <p:cNvPr id="4" name="Slide Number Placeholder 3"/>
          <p:cNvSpPr>
            <a:spLocks noGrp="1"/>
          </p:cNvSpPr>
          <p:nvPr>
            <p:ph type="sldNum" sz="quarter" idx="12"/>
          </p:nvPr>
        </p:nvSpPr>
        <p:spPr/>
        <p:txBody>
          <a:bodyPr/>
          <a:lstStyle/>
          <a:p>
            <a:fld id="{586DAB0F-01A5-4AB0-84E3-BA9DDAF20443}" type="slidenum">
              <a:rPr lang="en-US" smtClean="0"/>
              <a:t>19</a:t>
            </a:fld>
            <a:endParaRPr lang="en-US"/>
          </a:p>
        </p:txBody>
      </p:sp>
      <p:sp>
        <p:nvSpPr>
          <p:cNvPr id="5" name="Footer Placeholder 4"/>
          <p:cNvSpPr>
            <a:spLocks noGrp="1"/>
          </p:cNvSpPr>
          <p:nvPr>
            <p:ph type="ftr" sz="quarter" idx="3"/>
          </p:nvPr>
        </p:nvSpPr>
        <p:spPr/>
        <p:txBody>
          <a:bodyPr/>
          <a:lstStyle/>
          <a:p>
            <a:r>
              <a:rPr lang="en-US"/>
              <a:t>09e-BM/DT/FSOFT - @FPT SOFTWARE - FPT Software Academy - Internal Use</a:t>
            </a:r>
          </a:p>
        </p:txBody>
      </p:sp>
      <p:pic>
        <p:nvPicPr>
          <p:cNvPr id="6" name="Picture 4" descr="part_a"/>
          <p:cNvPicPr>
            <a:picLocks noChangeAspect="1" noChangeArrowheads="1"/>
          </p:cNvPicPr>
          <p:nvPr/>
        </p:nvPicPr>
        <p:blipFill>
          <a:blip r:embed="rId2"/>
          <a:srcRect/>
          <a:stretch>
            <a:fillRect/>
          </a:stretch>
        </p:blipFill>
        <p:spPr bwMode="auto">
          <a:xfrm>
            <a:off x="2975528" y="1303530"/>
            <a:ext cx="6000792" cy="4357718"/>
          </a:xfrm>
          <a:prstGeom prst="rect">
            <a:avLst/>
          </a:prstGeom>
          <a:noFill/>
          <a:ln w="9525">
            <a:noFill/>
            <a:miter lim="800000"/>
            <a:headEnd/>
            <a:tailEnd/>
          </a:ln>
        </p:spPr>
      </p:pic>
      <p:sp>
        <p:nvSpPr>
          <p:cNvPr id="7" name="Text Box 5"/>
          <p:cNvSpPr txBox="1">
            <a:spLocks noChangeArrowheads="1"/>
          </p:cNvSpPr>
          <p:nvPr/>
        </p:nvSpPr>
        <p:spPr bwMode="auto">
          <a:xfrm>
            <a:off x="1524000" y="1785927"/>
            <a:ext cx="1428728" cy="646331"/>
          </a:xfrm>
          <a:prstGeom prst="rect">
            <a:avLst/>
          </a:prstGeom>
          <a:noFill/>
          <a:ln w="12700">
            <a:noFill/>
            <a:miter lim="800000"/>
            <a:headEnd/>
            <a:tailEnd/>
          </a:ln>
        </p:spPr>
        <p:txBody>
          <a:bodyPr wrap="square">
            <a:spAutoFit/>
          </a:bodyPr>
          <a:lstStyle/>
          <a:p>
            <a:pPr algn="ctr"/>
            <a:r>
              <a:rPr lang="en-US"/>
              <a:t>Entity symbols</a:t>
            </a:r>
          </a:p>
        </p:txBody>
      </p:sp>
      <p:sp>
        <p:nvSpPr>
          <p:cNvPr id="8" name="Text Box 10"/>
          <p:cNvSpPr txBox="1">
            <a:spLocks noChangeArrowheads="1"/>
          </p:cNvSpPr>
          <p:nvPr/>
        </p:nvSpPr>
        <p:spPr bwMode="auto">
          <a:xfrm>
            <a:off x="1524000" y="4214819"/>
            <a:ext cx="1500166" cy="646331"/>
          </a:xfrm>
          <a:prstGeom prst="rect">
            <a:avLst/>
          </a:prstGeom>
          <a:noFill/>
          <a:ln w="12700">
            <a:noFill/>
            <a:miter lim="800000"/>
            <a:headEnd/>
            <a:tailEnd/>
          </a:ln>
        </p:spPr>
        <p:txBody>
          <a:bodyPr wrap="square">
            <a:spAutoFit/>
          </a:bodyPr>
          <a:lstStyle/>
          <a:p>
            <a:pPr algn="ctr"/>
            <a:r>
              <a:rPr lang="en-US"/>
              <a:t>Relationship symbols</a:t>
            </a:r>
          </a:p>
        </p:txBody>
      </p:sp>
      <p:sp>
        <p:nvSpPr>
          <p:cNvPr id="9" name="Text Box 11"/>
          <p:cNvSpPr txBox="1">
            <a:spLocks noChangeArrowheads="1"/>
          </p:cNvSpPr>
          <p:nvPr/>
        </p:nvSpPr>
        <p:spPr bwMode="auto">
          <a:xfrm>
            <a:off x="8882082" y="4149736"/>
            <a:ext cx="1752600" cy="708025"/>
          </a:xfrm>
          <a:prstGeom prst="rect">
            <a:avLst/>
          </a:prstGeom>
          <a:noFill/>
          <a:ln w="12700">
            <a:noFill/>
            <a:miter lim="800000"/>
            <a:headEnd/>
            <a:tailEnd/>
          </a:ln>
        </p:spPr>
        <p:txBody>
          <a:bodyPr wrap="square">
            <a:spAutoFit/>
          </a:bodyPr>
          <a:lstStyle/>
          <a:p>
            <a:pPr algn="ctr"/>
            <a:r>
              <a:rPr lang="en-US" sz="2000"/>
              <a:t>Attribute symbols</a:t>
            </a:r>
          </a:p>
        </p:txBody>
      </p:sp>
      <p:sp>
        <p:nvSpPr>
          <p:cNvPr id="10" name="Text Box 12"/>
          <p:cNvSpPr txBox="1">
            <a:spLocks noChangeArrowheads="1"/>
          </p:cNvSpPr>
          <p:nvPr/>
        </p:nvSpPr>
        <p:spPr bwMode="auto">
          <a:xfrm>
            <a:off x="8839200" y="1641476"/>
            <a:ext cx="1828800" cy="1323975"/>
          </a:xfrm>
          <a:prstGeom prst="rect">
            <a:avLst/>
          </a:prstGeom>
          <a:noFill/>
          <a:ln w="12700">
            <a:noFill/>
            <a:miter lim="800000"/>
            <a:headEnd/>
            <a:tailEnd/>
          </a:ln>
        </p:spPr>
        <p:txBody>
          <a:bodyPr>
            <a:spAutoFit/>
          </a:bodyPr>
          <a:lstStyle/>
          <a:p>
            <a:pPr algn="ctr"/>
            <a:r>
              <a:rPr lang="en-US" sz="2000" dirty="0"/>
              <a:t>A special entity that is also a relationship</a:t>
            </a:r>
          </a:p>
        </p:txBody>
      </p:sp>
    </p:spTree>
    <p:extLst>
      <p:ext uri="{BB962C8B-B14F-4D97-AF65-F5344CB8AC3E}">
        <p14:creationId xmlns:p14="http://schemas.microsoft.com/office/powerpoint/2010/main" val="40905939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1026"/>
          <p:cNvSpPr>
            <a:spLocks noChangeArrowheads="1"/>
          </p:cNvSpPr>
          <p:nvPr/>
        </p:nvSpPr>
        <p:spPr bwMode="auto">
          <a:xfrm>
            <a:off x="925148" y="248584"/>
            <a:ext cx="8929718" cy="599172"/>
          </a:xfrm>
          <a:prstGeom prst="rect">
            <a:avLst/>
          </a:prstGeom>
          <a:noFill/>
          <a:ln w="12700">
            <a:noFill/>
            <a:miter lim="800000"/>
            <a:headEnd/>
            <a:tailEnd/>
          </a:ln>
        </p:spPr>
        <p:txBody>
          <a:bodyPr wrap="square" lIns="90488" tIns="44450" rIns="90488" bIns="44450" anchor="ctr">
            <a:noAutofit/>
          </a:bodyPr>
          <a:lstStyle/>
          <a:p>
            <a:pPr eaLnBrk="0" hangingPunct="0"/>
            <a:r>
              <a:rPr lang="en-US" sz="3600" b="1" dirty="0">
                <a:solidFill>
                  <a:srgbClr val="1450A3"/>
                </a:solidFill>
                <a:latin typeface="Arial" panose="020B0604020202020204" pitchFamily="34" charset="0"/>
                <a:cs typeface="Arial" panose="020B0604020202020204" pitchFamily="34" charset="0"/>
              </a:rPr>
              <a:t>ER Model Overview</a:t>
            </a:r>
          </a:p>
        </p:txBody>
      </p:sp>
      <p:pic>
        <p:nvPicPr>
          <p:cNvPr id="29700" name="Picture 1027"/>
          <p:cNvPicPr>
            <a:picLocks noChangeArrowheads="1"/>
          </p:cNvPicPr>
          <p:nvPr/>
        </p:nvPicPr>
        <p:blipFill>
          <a:blip r:embed="rId3"/>
          <a:srcRect/>
          <a:stretch>
            <a:fillRect/>
          </a:stretch>
        </p:blipFill>
        <p:spPr bwMode="auto">
          <a:xfrm>
            <a:off x="2044281" y="880602"/>
            <a:ext cx="7981461" cy="5356912"/>
          </a:xfrm>
          <a:prstGeom prst="rect">
            <a:avLst/>
          </a:prstGeom>
          <a:noFill/>
          <a:ln w="12700">
            <a:noFill/>
            <a:miter lim="800000"/>
            <a:headEnd/>
            <a:tailEnd/>
          </a:ln>
        </p:spPr>
      </p:pic>
      <p:sp>
        <p:nvSpPr>
          <p:cNvPr id="5" name="TextBox 4"/>
          <p:cNvSpPr txBox="1"/>
          <p:nvPr/>
        </p:nvSpPr>
        <p:spPr>
          <a:xfrm>
            <a:off x="7392144" y="880602"/>
            <a:ext cx="2459290" cy="369332"/>
          </a:xfrm>
          <a:prstGeom prst="rect">
            <a:avLst/>
          </a:prstGeom>
          <a:noFill/>
        </p:spPr>
        <p:txBody>
          <a:bodyPr wrap="square" rtlCol="0">
            <a:spAutoFit/>
          </a:bodyPr>
          <a:lstStyle/>
          <a:p>
            <a:r>
              <a:rPr lang="en-US" b="1" dirty="0">
                <a:solidFill>
                  <a:schemeClr val="accent6">
                    <a:lumMod val="75000"/>
                  </a:schemeClr>
                </a:solidFill>
              </a:rPr>
              <a:t>Sample E-R Diagram</a:t>
            </a:r>
          </a:p>
        </p:txBody>
      </p:sp>
      <p:sp>
        <p:nvSpPr>
          <p:cNvPr id="7" name="Slide Number Placeholder 3"/>
          <p:cNvSpPr>
            <a:spLocks noGrp="1"/>
          </p:cNvSpPr>
          <p:nvPr>
            <p:ph type="sldNum" sz="quarter" idx="12"/>
          </p:nvPr>
        </p:nvSpPr>
        <p:spPr>
          <a:xfrm>
            <a:off x="10972800" y="6320400"/>
            <a:ext cx="614337" cy="365125"/>
          </a:xfrm>
        </p:spPr>
        <p:txBody>
          <a:bodyPr/>
          <a:lstStyle/>
          <a:p>
            <a:r>
              <a:rPr lang="en-US" dirty="0"/>
              <a:t>20</a:t>
            </a:r>
          </a:p>
        </p:txBody>
      </p:sp>
      <p:sp>
        <p:nvSpPr>
          <p:cNvPr id="6" name="Footer Placeholder 4"/>
          <p:cNvSpPr>
            <a:spLocks noGrp="1"/>
          </p:cNvSpPr>
          <p:nvPr>
            <p:ph type="ftr" sz="quarter" idx="3"/>
          </p:nvPr>
        </p:nvSpPr>
        <p:spPr>
          <a:xfrm>
            <a:off x="4901329" y="6320400"/>
            <a:ext cx="6071471" cy="365125"/>
          </a:xfrm>
        </p:spPr>
        <p:txBody>
          <a:bodyPr/>
          <a:lstStyle/>
          <a:p>
            <a:r>
              <a:rPr lang="en-US" dirty="0"/>
              <a:t>09e-BM/DT/FSOFT - @FPT SOFTWARE - FPT Software Academy - Internal Use</a:t>
            </a:r>
          </a:p>
        </p:txBody>
      </p:sp>
    </p:spTree>
    <p:extLst>
      <p:ext uri="{BB962C8B-B14F-4D97-AF65-F5344CB8AC3E}">
        <p14:creationId xmlns:p14="http://schemas.microsoft.com/office/powerpoint/2010/main" val="2374855309"/>
      </p:ext>
    </p:extLst>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79714" y="908720"/>
            <a:ext cx="9474004" cy="5377800"/>
          </a:xfrm>
        </p:spPr>
        <p:txBody>
          <a:bodyPr/>
          <a:lstStyle/>
          <a:p>
            <a:pPr>
              <a:buFont typeface="Wingdings" panose="05000000000000000000" pitchFamily="2" charset="2"/>
              <a:buChar char="Ø"/>
            </a:pPr>
            <a:r>
              <a:rPr lang="en-US" b="1" dirty="0"/>
              <a:t>One – to – one:</a:t>
            </a:r>
          </a:p>
          <a:p>
            <a:endParaRPr lang="en-US" b="1" dirty="0"/>
          </a:p>
          <a:p>
            <a:endParaRPr lang="en-US" b="1" dirty="0"/>
          </a:p>
          <a:p>
            <a:endParaRPr lang="en-US" b="1" dirty="0"/>
          </a:p>
          <a:p>
            <a:endParaRPr lang="en-US" b="1" dirty="0"/>
          </a:p>
          <a:p>
            <a:endParaRPr lang="en-US" sz="1400" b="1" dirty="0"/>
          </a:p>
          <a:p>
            <a:pPr>
              <a:buFont typeface="Wingdings" panose="05000000000000000000" pitchFamily="2" charset="2"/>
              <a:buChar char="Ø"/>
            </a:pPr>
            <a:r>
              <a:rPr lang="en-US" b="1" dirty="0"/>
              <a:t>One – to – many:</a:t>
            </a:r>
          </a:p>
        </p:txBody>
      </p:sp>
      <p:sp>
        <p:nvSpPr>
          <p:cNvPr id="36869" name="Rectangle 2"/>
          <p:cNvSpPr txBox="1">
            <a:spLocks noChangeArrowheads="1"/>
          </p:cNvSpPr>
          <p:nvPr/>
        </p:nvSpPr>
        <p:spPr bwMode="auto">
          <a:xfrm>
            <a:off x="847304" y="208979"/>
            <a:ext cx="7380312" cy="719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3600" b="1" dirty="0">
                <a:solidFill>
                  <a:srgbClr val="1450A3"/>
                </a:solidFill>
              </a:rPr>
              <a:t>Cardinality</a:t>
            </a:r>
            <a:r>
              <a:rPr lang="en-US" altLang="en-US" sz="3600" b="1" dirty="0">
                <a:solidFill>
                  <a:srgbClr val="1450A3"/>
                </a:solidFill>
                <a:latin typeface="Candara" panose="020E0502030303020204" pitchFamily="34" charset="0"/>
              </a:rPr>
              <a:t> of Relationships </a:t>
            </a:r>
            <a:r>
              <a:rPr lang="en-US" altLang="en-US" sz="2000" b="1" dirty="0">
                <a:solidFill>
                  <a:srgbClr val="1450A3"/>
                </a:solidFill>
              </a:rPr>
              <a:t>(1/2)</a:t>
            </a:r>
          </a:p>
        </p:txBody>
      </p:sp>
      <p:grpSp>
        <p:nvGrpSpPr>
          <p:cNvPr id="9" name="Group 8"/>
          <p:cNvGrpSpPr/>
          <p:nvPr/>
        </p:nvGrpSpPr>
        <p:grpSpPr>
          <a:xfrm>
            <a:off x="2899024" y="2780928"/>
            <a:ext cx="6192688" cy="432048"/>
            <a:chOff x="1475656" y="4077072"/>
            <a:chExt cx="6192688" cy="432048"/>
          </a:xfrm>
        </p:grpSpPr>
        <p:sp>
          <p:nvSpPr>
            <p:cNvPr id="4" name="Rectangle 3"/>
            <p:cNvSpPr/>
            <p:nvPr/>
          </p:nvSpPr>
          <p:spPr>
            <a:xfrm>
              <a:off x="1475656" y="4077072"/>
              <a:ext cx="1728192" cy="432048"/>
            </a:xfrm>
            <a:prstGeom prst="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solidFill>
                    <a:schemeClr val="tx1"/>
                  </a:solidFill>
                </a:rPr>
                <a:t>EMPLOYEE</a:t>
              </a:r>
            </a:p>
          </p:txBody>
        </p:sp>
        <p:sp>
          <p:nvSpPr>
            <p:cNvPr id="12" name="Rectangle 11"/>
            <p:cNvSpPr/>
            <p:nvPr/>
          </p:nvSpPr>
          <p:spPr>
            <a:xfrm>
              <a:off x="5940152" y="4077072"/>
              <a:ext cx="1728192" cy="432048"/>
            </a:xfrm>
            <a:prstGeom prst="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solidFill>
                    <a:schemeClr val="tx1"/>
                  </a:solidFill>
                </a:rPr>
                <a:t>DEPARTMENT</a:t>
              </a:r>
            </a:p>
          </p:txBody>
        </p:sp>
        <p:cxnSp>
          <p:nvCxnSpPr>
            <p:cNvPr id="6" name="Straight Connector 5"/>
            <p:cNvCxnSpPr>
              <a:stCxn id="4" idx="3"/>
              <a:endCxn id="12" idx="1"/>
            </p:cNvCxnSpPr>
            <p:nvPr/>
          </p:nvCxnSpPr>
          <p:spPr>
            <a:xfrm>
              <a:off x="3203848" y="4293096"/>
              <a:ext cx="273630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3347864" y="4174075"/>
              <a:ext cx="0" cy="23804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3491880" y="4174074"/>
              <a:ext cx="0" cy="23804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5652120" y="4174075"/>
              <a:ext cx="0" cy="23804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796136" y="4174075"/>
              <a:ext cx="0" cy="23804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1030"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10671" y="1484785"/>
            <a:ext cx="5864130" cy="91860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31"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78481" y="3846520"/>
            <a:ext cx="5518381" cy="8474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32" name="Group 31"/>
          <p:cNvGrpSpPr/>
          <p:nvPr/>
        </p:nvGrpSpPr>
        <p:grpSpPr>
          <a:xfrm>
            <a:off x="2899024" y="5111469"/>
            <a:ext cx="6077296" cy="432048"/>
            <a:chOff x="1375024" y="4985880"/>
            <a:chExt cx="6077296" cy="432048"/>
          </a:xfrm>
        </p:grpSpPr>
        <p:sp>
          <p:nvSpPr>
            <p:cNvPr id="24" name="Rectangle 23"/>
            <p:cNvSpPr/>
            <p:nvPr/>
          </p:nvSpPr>
          <p:spPr>
            <a:xfrm>
              <a:off x="1375024" y="4985880"/>
              <a:ext cx="1728192" cy="432048"/>
            </a:xfrm>
            <a:prstGeom prst="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solidFill>
                    <a:schemeClr val="tx1"/>
                  </a:solidFill>
                </a:rPr>
                <a:t>DEPARTMENT</a:t>
              </a:r>
            </a:p>
          </p:txBody>
        </p:sp>
        <p:sp>
          <p:nvSpPr>
            <p:cNvPr id="25" name="Rectangle 24"/>
            <p:cNvSpPr/>
            <p:nvPr/>
          </p:nvSpPr>
          <p:spPr>
            <a:xfrm>
              <a:off x="5724128" y="4985880"/>
              <a:ext cx="1728192" cy="432048"/>
            </a:xfrm>
            <a:prstGeom prst="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solidFill>
                    <a:schemeClr val="tx1"/>
                  </a:solidFill>
                </a:rPr>
                <a:t>EMPLOYEE</a:t>
              </a:r>
            </a:p>
          </p:txBody>
        </p:sp>
        <p:cxnSp>
          <p:nvCxnSpPr>
            <p:cNvPr id="11" name="Straight Connector 10"/>
            <p:cNvCxnSpPr>
              <a:stCxn id="24" idx="3"/>
              <a:endCxn id="25" idx="1"/>
            </p:cNvCxnSpPr>
            <p:nvPr/>
          </p:nvCxnSpPr>
          <p:spPr>
            <a:xfrm>
              <a:off x="3103216" y="5201904"/>
              <a:ext cx="26209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3247232" y="5045952"/>
              <a:ext cx="0" cy="32460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Oval 25"/>
            <p:cNvSpPr/>
            <p:nvPr/>
          </p:nvSpPr>
          <p:spPr>
            <a:xfrm>
              <a:off x="3294906" y="5104919"/>
              <a:ext cx="222407" cy="193968"/>
            </a:xfrm>
            <a:prstGeom prst="ellipse">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cxnSp>
          <p:nvCxnSpPr>
            <p:cNvPr id="39" name="Straight Connector 38"/>
            <p:cNvCxnSpPr/>
            <p:nvPr/>
          </p:nvCxnSpPr>
          <p:spPr>
            <a:xfrm>
              <a:off x="5364088" y="5045952"/>
              <a:ext cx="0" cy="32460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V="1">
              <a:off x="5436096" y="5104919"/>
              <a:ext cx="288032" cy="9698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5436096" y="5208254"/>
              <a:ext cx="288032" cy="9063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7" name="Slide Number Placeholder 3"/>
          <p:cNvSpPr>
            <a:spLocks noGrp="1"/>
          </p:cNvSpPr>
          <p:nvPr>
            <p:ph type="sldNum" sz="quarter" idx="12"/>
          </p:nvPr>
        </p:nvSpPr>
        <p:spPr>
          <a:xfrm>
            <a:off x="10972800" y="6320400"/>
            <a:ext cx="614337" cy="365125"/>
          </a:xfrm>
        </p:spPr>
        <p:txBody>
          <a:bodyPr/>
          <a:lstStyle/>
          <a:p>
            <a:r>
              <a:rPr lang="vi-VN" dirty="0"/>
              <a:t>21</a:t>
            </a:r>
            <a:endParaRPr lang="en-US" dirty="0"/>
          </a:p>
        </p:txBody>
      </p:sp>
      <p:sp>
        <p:nvSpPr>
          <p:cNvPr id="29" name="Footer Placeholder 4"/>
          <p:cNvSpPr>
            <a:spLocks noGrp="1"/>
          </p:cNvSpPr>
          <p:nvPr>
            <p:ph type="ftr" sz="quarter" idx="3"/>
          </p:nvPr>
        </p:nvSpPr>
        <p:spPr>
          <a:xfrm>
            <a:off x="4901329" y="6320400"/>
            <a:ext cx="6071471" cy="365125"/>
          </a:xfrm>
        </p:spPr>
        <p:txBody>
          <a:bodyPr/>
          <a:lstStyle/>
          <a:p>
            <a:r>
              <a:rPr lang="en-US" dirty="0"/>
              <a:t>09e-BM/DT/FSOFT - @FPT SOFTWARE - FPT Software Academy - Internal Use</a:t>
            </a:r>
          </a:p>
        </p:txBody>
      </p:sp>
    </p:spTree>
    <p:extLst>
      <p:ext uri="{BB962C8B-B14F-4D97-AF65-F5344CB8AC3E}">
        <p14:creationId xmlns:p14="http://schemas.microsoft.com/office/powerpoint/2010/main" val="2159482121"/>
      </p:ext>
    </p:extLst>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59329" y="846612"/>
            <a:ext cx="9305912" cy="5534717"/>
          </a:xfrm>
        </p:spPr>
        <p:txBody>
          <a:bodyPr/>
          <a:lstStyle/>
          <a:p>
            <a:pPr>
              <a:buFont typeface="Wingdings" panose="05000000000000000000" pitchFamily="2" charset="2"/>
              <a:buChar char="Ø"/>
            </a:pPr>
            <a:r>
              <a:rPr lang="en-US" b="1" dirty="0"/>
              <a:t>Many – to – many:</a:t>
            </a:r>
          </a:p>
          <a:p>
            <a:endParaRPr lang="en-US" b="1" dirty="0"/>
          </a:p>
          <a:p>
            <a:endParaRPr lang="en-US" b="1" dirty="0"/>
          </a:p>
          <a:p>
            <a:endParaRPr lang="en-US" b="1" dirty="0"/>
          </a:p>
          <a:p>
            <a:endParaRPr lang="en-US" sz="2000" b="1" dirty="0"/>
          </a:p>
          <a:p>
            <a:pPr>
              <a:buFont typeface="Wingdings" panose="05000000000000000000" pitchFamily="2" charset="2"/>
              <a:buChar char="v"/>
            </a:pPr>
            <a:r>
              <a:rPr lang="en-US" b="1" dirty="0"/>
              <a:t>In which:</a:t>
            </a:r>
          </a:p>
          <a:p>
            <a:pPr marL="0" indent="0">
              <a:buNone/>
            </a:pPr>
            <a:endParaRPr lang="en-US" sz="1400" b="1" dirty="0"/>
          </a:p>
        </p:txBody>
      </p:sp>
      <p:sp>
        <p:nvSpPr>
          <p:cNvPr id="36869" name="Rectangle 2"/>
          <p:cNvSpPr txBox="1">
            <a:spLocks noChangeArrowheads="1"/>
          </p:cNvSpPr>
          <p:nvPr/>
        </p:nvSpPr>
        <p:spPr bwMode="auto">
          <a:xfrm>
            <a:off x="847304" y="192202"/>
            <a:ext cx="7380312" cy="743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3600" b="1" dirty="0">
                <a:solidFill>
                  <a:srgbClr val="1450A3"/>
                </a:solidFill>
              </a:rPr>
              <a:t>Cardinality of Relationships </a:t>
            </a:r>
            <a:r>
              <a:rPr lang="en-US" altLang="en-US" b="1" dirty="0">
                <a:solidFill>
                  <a:srgbClr val="1450A3"/>
                </a:solidFill>
              </a:rPr>
              <a:t>(2/2)</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9024" y="1311178"/>
            <a:ext cx="6037594" cy="8640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0" name="Group 19"/>
          <p:cNvGrpSpPr/>
          <p:nvPr/>
        </p:nvGrpSpPr>
        <p:grpSpPr>
          <a:xfrm>
            <a:off x="2899024" y="2463306"/>
            <a:ext cx="6192688" cy="432048"/>
            <a:chOff x="1375024" y="2780928"/>
            <a:chExt cx="6192688" cy="432048"/>
          </a:xfrm>
        </p:grpSpPr>
        <p:grpSp>
          <p:nvGrpSpPr>
            <p:cNvPr id="9" name="Group 8"/>
            <p:cNvGrpSpPr/>
            <p:nvPr/>
          </p:nvGrpSpPr>
          <p:grpSpPr>
            <a:xfrm>
              <a:off x="1375024" y="2780928"/>
              <a:ext cx="6192688" cy="432048"/>
              <a:chOff x="1475656" y="4077072"/>
              <a:chExt cx="6192688" cy="432048"/>
            </a:xfrm>
          </p:grpSpPr>
          <p:sp>
            <p:nvSpPr>
              <p:cNvPr id="4" name="Rectangle 3"/>
              <p:cNvSpPr/>
              <p:nvPr/>
            </p:nvSpPr>
            <p:spPr>
              <a:xfrm>
                <a:off x="1475656" y="4077072"/>
                <a:ext cx="1728192" cy="432048"/>
              </a:xfrm>
              <a:prstGeom prst="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solidFill>
                      <a:schemeClr val="tx1"/>
                    </a:solidFill>
                  </a:rPr>
                  <a:t>EMPLOYEE</a:t>
                </a:r>
              </a:p>
            </p:txBody>
          </p:sp>
          <p:sp>
            <p:nvSpPr>
              <p:cNvPr id="12" name="Rectangle 11"/>
              <p:cNvSpPr/>
              <p:nvPr/>
            </p:nvSpPr>
            <p:spPr>
              <a:xfrm>
                <a:off x="5940152" y="4077072"/>
                <a:ext cx="1728192" cy="432048"/>
              </a:xfrm>
              <a:prstGeom prst="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solidFill>
                      <a:schemeClr val="tx1"/>
                    </a:solidFill>
                  </a:rPr>
                  <a:t>PROJECT</a:t>
                </a:r>
              </a:p>
            </p:txBody>
          </p:sp>
          <p:cxnSp>
            <p:nvCxnSpPr>
              <p:cNvPr id="6" name="Straight Connector 5"/>
              <p:cNvCxnSpPr>
                <a:stCxn id="4" idx="3"/>
                <a:endCxn id="12" idx="1"/>
              </p:cNvCxnSpPr>
              <p:nvPr/>
            </p:nvCxnSpPr>
            <p:spPr>
              <a:xfrm>
                <a:off x="3203848" y="4293096"/>
                <a:ext cx="273630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5652120" y="4174075"/>
                <a:ext cx="0" cy="23804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7" name="Oval 26"/>
            <p:cNvSpPr/>
            <p:nvPr/>
          </p:nvSpPr>
          <p:spPr>
            <a:xfrm>
              <a:off x="3361609" y="2893880"/>
              <a:ext cx="222407" cy="213366"/>
            </a:xfrm>
            <a:prstGeom prst="ellipse">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cxnSp>
          <p:nvCxnSpPr>
            <p:cNvPr id="5" name="Straight Connector 4"/>
            <p:cNvCxnSpPr/>
            <p:nvPr/>
          </p:nvCxnSpPr>
          <p:spPr>
            <a:xfrm flipH="1" flipV="1">
              <a:off x="3103216" y="2886260"/>
              <a:ext cx="191690" cy="10307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H="1">
              <a:off x="3103216" y="3000563"/>
              <a:ext cx="191690" cy="11541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V="1">
              <a:off x="5580112" y="2877931"/>
              <a:ext cx="259408" cy="11140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5580112" y="3000563"/>
              <a:ext cx="259408" cy="11541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34" name="Picture 1028" descr="part_c"/>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20786" y="3399410"/>
            <a:ext cx="5915832" cy="2834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Slide Number Placeholder 3"/>
          <p:cNvSpPr>
            <a:spLocks noGrp="1"/>
          </p:cNvSpPr>
          <p:nvPr>
            <p:ph type="sldNum" sz="quarter" idx="12"/>
          </p:nvPr>
        </p:nvSpPr>
        <p:spPr>
          <a:xfrm>
            <a:off x="10972800" y="6320400"/>
            <a:ext cx="614337" cy="365125"/>
          </a:xfrm>
        </p:spPr>
        <p:txBody>
          <a:bodyPr/>
          <a:lstStyle/>
          <a:p>
            <a:r>
              <a:rPr lang="vi-VN" dirty="0"/>
              <a:t>22</a:t>
            </a:r>
            <a:endParaRPr lang="en-US" dirty="0"/>
          </a:p>
        </p:txBody>
      </p:sp>
      <p:sp>
        <p:nvSpPr>
          <p:cNvPr id="21" name="Footer Placeholder 4"/>
          <p:cNvSpPr>
            <a:spLocks noGrp="1"/>
          </p:cNvSpPr>
          <p:nvPr>
            <p:ph type="ftr" sz="quarter" idx="3"/>
          </p:nvPr>
        </p:nvSpPr>
        <p:spPr>
          <a:xfrm>
            <a:off x="4901329" y="6320400"/>
            <a:ext cx="6071471" cy="365125"/>
          </a:xfrm>
        </p:spPr>
        <p:txBody>
          <a:bodyPr/>
          <a:lstStyle/>
          <a:p>
            <a:r>
              <a:rPr lang="en-US" dirty="0"/>
              <a:t>09e-BM/DT/FSOFT - @FPT SOFTWARE - FPT Software Academy - Internal Use</a:t>
            </a:r>
          </a:p>
        </p:txBody>
      </p:sp>
    </p:spTree>
    <p:extLst>
      <p:ext uri="{BB962C8B-B14F-4D97-AF65-F5344CB8AC3E}">
        <p14:creationId xmlns:p14="http://schemas.microsoft.com/office/powerpoint/2010/main" val="2105871270"/>
      </p:ext>
    </p:extLst>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F5F307C-9352-4927-8B5B-FF0D08D6E6E7}" type="slidenum">
              <a:rPr lang="en-US" altLang="en-US"/>
              <a:pPr eaLnBrk="1" hangingPunct="1"/>
              <a:t>23</a:t>
            </a:fld>
            <a:endParaRPr lang="en-US" altLang="en-US"/>
          </a:p>
        </p:txBody>
      </p:sp>
      <p:sp>
        <p:nvSpPr>
          <p:cNvPr id="37891" name="Rectangle 2"/>
          <p:cNvSpPr>
            <a:spLocks noChangeArrowheads="1"/>
          </p:cNvSpPr>
          <p:nvPr/>
        </p:nvSpPr>
        <p:spPr bwMode="auto">
          <a:xfrm>
            <a:off x="832936" y="152230"/>
            <a:ext cx="7369249" cy="7530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ctr" anchorCtr="0">
            <a:no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3600" b="1" dirty="0">
                <a:solidFill>
                  <a:srgbClr val="1450A3"/>
                </a:solidFill>
              </a:rPr>
              <a:t>Binary relationships</a:t>
            </a:r>
          </a:p>
        </p:txBody>
      </p:sp>
      <p:pic>
        <p:nvPicPr>
          <p:cNvPr id="37892" name="Picture 4" descr="mcf_3"/>
          <p:cNvPicPr>
            <a:picLocks noChangeAspect="1" noChangeArrowheads="1"/>
          </p:cNvPicPr>
          <p:nvPr/>
        </p:nvPicPr>
        <p:blipFill>
          <a:blip r:embed="rId3">
            <a:extLst>
              <a:ext uri="{28A0092B-C50C-407E-A947-70E740481C1C}">
                <a14:useLocalDpi xmlns:a14="http://schemas.microsoft.com/office/drawing/2010/main" val="0"/>
              </a:ext>
            </a:extLst>
          </a:blip>
          <a:srcRect l="7826" r="8696"/>
          <a:stretch>
            <a:fillRect/>
          </a:stretch>
        </p:blipFill>
        <p:spPr bwMode="auto">
          <a:xfrm>
            <a:off x="1991544" y="1144933"/>
            <a:ext cx="8208912" cy="4976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p:cNvSpPr>
            <a:spLocks noGrp="1"/>
          </p:cNvSpPr>
          <p:nvPr>
            <p:ph type="ftr" sz="quarter" idx="3"/>
          </p:nvPr>
        </p:nvSpPr>
        <p:spPr>
          <a:xfrm>
            <a:off x="4901329" y="6320400"/>
            <a:ext cx="6071471" cy="365125"/>
          </a:xfrm>
        </p:spPr>
        <p:txBody>
          <a:bodyPr/>
          <a:lstStyle/>
          <a:p>
            <a:r>
              <a:rPr lang="en-US" dirty="0"/>
              <a:t>09e-BM/DT/FSOFT - @FPT SOFTWARE - FPT Software Academy - Internal Use</a:t>
            </a:r>
          </a:p>
        </p:txBody>
      </p:sp>
    </p:spTree>
    <p:extLst>
      <p:ext uri="{BB962C8B-B14F-4D97-AF65-F5344CB8AC3E}">
        <p14:creationId xmlns:p14="http://schemas.microsoft.com/office/powerpoint/2010/main" val="2677224777"/>
      </p:ext>
    </p:extLst>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Converting ER Model to relational schema</a:t>
            </a:r>
          </a:p>
        </p:txBody>
      </p:sp>
      <p:sp>
        <p:nvSpPr>
          <p:cNvPr id="3" name="Content Placeholder 2"/>
          <p:cNvSpPr>
            <a:spLocks noGrp="1"/>
          </p:cNvSpPr>
          <p:nvPr>
            <p:ph idx="1"/>
          </p:nvPr>
        </p:nvSpPr>
        <p:spPr/>
        <p:txBody>
          <a:bodyPr/>
          <a:lstStyle/>
          <a:p>
            <a:pPr marL="0" indent="0">
              <a:buNone/>
            </a:pPr>
            <a:r>
              <a:rPr lang="en-US" b="1" dirty="0">
                <a:solidFill>
                  <a:schemeClr val="tx1"/>
                </a:solidFill>
              </a:rPr>
              <a:t>Rule 1 - Convert entity type with simple attributes</a:t>
            </a:r>
            <a:endParaRPr lang="en-US" b="1" dirty="0"/>
          </a:p>
        </p:txBody>
      </p:sp>
      <p:sp>
        <p:nvSpPr>
          <p:cNvPr id="4" name="Slide Number Placeholder 3"/>
          <p:cNvSpPr>
            <a:spLocks noGrp="1"/>
          </p:cNvSpPr>
          <p:nvPr>
            <p:ph type="sldNum" sz="quarter" idx="12"/>
          </p:nvPr>
        </p:nvSpPr>
        <p:spPr/>
        <p:txBody>
          <a:bodyPr/>
          <a:lstStyle/>
          <a:p>
            <a:fld id="{586DAB0F-01A5-4AB0-84E3-BA9DDAF20443}" type="slidenum">
              <a:rPr lang="en-US" smtClean="0"/>
              <a:t>24</a:t>
            </a:fld>
            <a:endParaRPr lang="en-US"/>
          </a:p>
        </p:txBody>
      </p:sp>
      <p:sp>
        <p:nvSpPr>
          <p:cNvPr id="5" name="Footer Placeholder 4"/>
          <p:cNvSpPr>
            <a:spLocks noGrp="1"/>
          </p:cNvSpPr>
          <p:nvPr>
            <p:ph type="ftr" sz="quarter" idx="3"/>
          </p:nvPr>
        </p:nvSpPr>
        <p:spPr/>
        <p:txBody>
          <a:bodyPr/>
          <a:lstStyle/>
          <a:p>
            <a:r>
              <a:rPr lang="en-US"/>
              <a:t>09e-BM/DT/FSOFT - @FPT SOFTWARE - FPT Software Academy - Internal Use</a:t>
            </a:r>
          </a:p>
        </p:txBody>
      </p:sp>
      <p:pic>
        <p:nvPicPr>
          <p:cNvPr id="7" name="Picture 7" descr="FIG5-8A"/>
          <p:cNvPicPr>
            <a:picLocks noChangeAspect="1" noChangeArrowheads="1"/>
          </p:cNvPicPr>
          <p:nvPr/>
        </p:nvPicPr>
        <p:blipFill>
          <a:blip r:embed="rId2"/>
          <a:srcRect/>
          <a:stretch>
            <a:fillRect/>
          </a:stretch>
        </p:blipFill>
        <p:spPr bwMode="auto">
          <a:xfrm>
            <a:off x="2783632" y="1598546"/>
            <a:ext cx="5609254" cy="2017418"/>
          </a:xfrm>
          <a:prstGeom prst="rect">
            <a:avLst/>
          </a:prstGeom>
          <a:noFill/>
          <a:ln w="9525">
            <a:noFill/>
            <a:miter lim="800000"/>
            <a:headEnd/>
            <a:tailEnd/>
          </a:ln>
        </p:spPr>
      </p:pic>
      <p:pic>
        <p:nvPicPr>
          <p:cNvPr id="8" name="Picture 8" descr="FIG5-8B"/>
          <p:cNvPicPr>
            <a:picLocks noChangeAspect="1" noChangeArrowheads="1"/>
          </p:cNvPicPr>
          <p:nvPr/>
        </p:nvPicPr>
        <p:blipFill rotWithShape="1">
          <a:blip r:embed="rId3"/>
          <a:srcRect l="8423" r="8000"/>
          <a:stretch/>
        </p:blipFill>
        <p:spPr bwMode="auto">
          <a:xfrm>
            <a:off x="2783632" y="4687696"/>
            <a:ext cx="5609254" cy="1269531"/>
          </a:xfrm>
          <a:prstGeom prst="rect">
            <a:avLst/>
          </a:prstGeom>
          <a:noFill/>
          <a:ln w="9525">
            <a:noFill/>
            <a:miter lim="800000"/>
            <a:headEnd/>
            <a:tailEnd/>
          </a:ln>
        </p:spPr>
      </p:pic>
      <p:sp>
        <p:nvSpPr>
          <p:cNvPr id="9" name="Text Box 9"/>
          <p:cNvSpPr txBox="1">
            <a:spLocks noChangeArrowheads="1"/>
          </p:cNvSpPr>
          <p:nvPr/>
        </p:nvSpPr>
        <p:spPr bwMode="auto">
          <a:xfrm>
            <a:off x="4767814" y="5965856"/>
            <a:ext cx="1905706" cy="307777"/>
          </a:xfrm>
          <a:prstGeom prst="rect">
            <a:avLst/>
          </a:prstGeom>
          <a:noFill/>
          <a:ln w="9525">
            <a:noFill/>
            <a:miter lim="800000"/>
            <a:headEnd/>
            <a:tailEnd/>
          </a:ln>
        </p:spPr>
        <p:txBody>
          <a:bodyPr wrap="square">
            <a:spAutoFit/>
          </a:bodyPr>
          <a:lstStyle/>
          <a:p>
            <a:pPr eaLnBrk="0" hangingPunct="0"/>
            <a:r>
              <a:rPr lang="en-US" sz="1400">
                <a:solidFill>
                  <a:srgbClr val="FF0000"/>
                </a:solidFill>
              </a:rPr>
              <a:t>CUSTOMER relation</a:t>
            </a:r>
          </a:p>
        </p:txBody>
      </p:sp>
      <p:sp>
        <p:nvSpPr>
          <p:cNvPr id="10" name="Text Box 10"/>
          <p:cNvSpPr txBox="1">
            <a:spLocks noChangeArrowheads="1"/>
          </p:cNvSpPr>
          <p:nvPr/>
        </p:nvSpPr>
        <p:spPr bwMode="auto">
          <a:xfrm>
            <a:off x="4148216" y="3823862"/>
            <a:ext cx="3773009" cy="307777"/>
          </a:xfrm>
          <a:prstGeom prst="rect">
            <a:avLst/>
          </a:prstGeom>
          <a:noFill/>
          <a:ln w="9525">
            <a:noFill/>
            <a:miter lim="800000"/>
            <a:headEnd/>
            <a:tailEnd/>
          </a:ln>
        </p:spPr>
        <p:txBody>
          <a:bodyPr wrap="square">
            <a:spAutoFit/>
          </a:bodyPr>
          <a:lstStyle/>
          <a:p>
            <a:pPr eaLnBrk="0" hangingPunct="0"/>
            <a:r>
              <a:rPr lang="en-US" sz="1400">
                <a:solidFill>
                  <a:srgbClr val="FF0000"/>
                </a:solidFill>
              </a:rPr>
              <a:t>CUSTOMER entity type with simple attributes</a:t>
            </a:r>
          </a:p>
        </p:txBody>
      </p:sp>
      <p:sp>
        <p:nvSpPr>
          <p:cNvPr id="11" name="Down Arrow 10"/>
          <p:cNvSpPr/>
          <p:nvPr/>
        </p:nvSpPr>
        <p:spPr>
          <a:xfrm>
            <a:off x="5744634" y="4276041"/>
            <a:ext cx="378152" cy="200998"/>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13054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strVal val="#ppt_w+.3"/>
                                          </p:val>
                                        </p:tav>
                                        <p:tav tm="100000">
                                          <p:val>
                                            <p:strVal val="#ppt_w"/>
                                          </p:val>
                                        </p:tav>
                                      </p:tavLst>
                                    </p:anim>
                                    <p:anim calcmode="lin" valueType="num">
                                      <p:cBhvr>
                                        <p:cTn id="8" dur="1000" fill="hold"/>
                                        <p:tgtEl>
                                          <p:spTgt spid="7"/>
                                        </p:tgtEl>
                                        <p:attrNameLst>
                                          <p:attrName>ppt_h</p:attrName>
                                        </p:attrNameLst>
                                      </p:cBhvr>
                                      <p:tavLst>
                                        <p:tav tm="0">
                                          <p:val>
                                            <p:strVal val="#ppt_h"/>
                                          </p:val>
                                        </p:tav>
                                        <p:tav tm="100000">
                                          <p:val>
                                            <p:strVal val="#ppt_h"/>
                                          </p:val>
                                        </p:tav>
                                      </p:tavLst>
                                    </p:anim>
                                    <p:animEffect transition="in" filter="fade">
                                      <p:cBhvr>
                                        <p:cTn id="9" dur="1000"/>
                                        <p:tgtEl>
                                          <p:spTgt spid="7"/>
                                        </p:tgtEl>
                                      </p:cBhvr>
                                    </p:animEffect>
                                  </p:childTnLst>
                                </p:cTn>
                              </p:par>
                              <p:par>
                                <p:cTn id="10" presetID="50" presetClass="entr" presetSubtype="0" decel="100000"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p:cTn id="12" dur="1000" fill="hold"/>
                                        <p:tgtEl>
                                          <p:spTgt spid="10"/>
                                        </p:tgtEl>
                                        <p:attrNameLst>
                                          <p:attrName>ppt_w</p:attrName>
                                        </p:attrNameLst>
                                      </p:cBhvr>
                                      <p:tavLst>
                                        <p:tav tm="0">
                                          <p:val>
                                            <p:strVal val="#ppt_w+.3"/>
                                          </p:val>
                                        </p:tav>
                                        <p:tav tm="100000">
                                          <p:val>
                                            <p:strVal val="#ppt_w"/>
                                          </p:val>
                                        </p:tav>
                                      </p:tavLst>
                                    </p:anim>
                                    <p:anim calcmode="lin" valueType="num">
                                      <p:cBhvr>
                                        <p:cTn id="13" dur="1000" fill="hold"/>
                                        <p:tgtEl>
                                          <p:spTgt spid="10"/>
                                        </p:tgtEl>
                                        <p:attrNameLst>
                                          <p:attrName>ppt_h</p:attrName>
                                        </p:attrNameLst>
                                      </p:cBhvr>
                                      <p:tavLst>
                                        <p:tav tm="0">
                                          <p:val>
                                            <p:strVal val="#ppt_h"/>
                                          </p:val>
                                        </p:tav>
                                        <p:tav tm="100000">
                                          <p:val>
                                            <p:strVal val="#ppt_h"/>
                                          </p:val>
                                        </p:tav>
                                      </p:tavLst>
                                    </p:anim>
                                    <p:animEffect transition="in" filter="fade">
                                      <p:cBhvr>
                                        <p:cTn id="14" dur="100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50" presetClass="entr" presetSubtype="0" decel="10000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p:cTn id="19" dur="1000" fill="hold"/>
                                        <p:tgtEl>
                                          <p:spTgt spid="11"/>
                                        </p:tgtEl>
                                        <p:attrNameLst>
                                          <p:attrName>ppt_w</p:attrName>
                                        </p:attrNameLst>
                                      </p:cBhvr>
                                      <p:tavLst>
                                        <p:tav tm="0">
                                          <p:val>
                                            <p:strVal val="#ppt_w+.3"/>
                                          </p:val>
                                        </p:tav>
                                        <p:tav tm="100000">
                                          <p:val>
                                            <p:strVal val="#ppt_w"/>
                                          </p:val>
                                        </p:tav>
                                      </p:tavLst>
                                    </p:anim>
                                    <p:anim calcmode="lin" valueType="num">
                                      <p:cBhvr>
                                        <p:cTn id="20" dur="1000" fill="hold"/>
                                        <p:tgtEl>
                                          <p:spTgt spid="11"/>
                                        </p:tgtEl>
                                        <p:attrNameLst>
                                          <p:attrName>ppt_h</p:attrName>
                                        </p:attrNameLst>
                                      </p:cBhvr>
                                      <p:tavLst>
                                        <p:tav tm="0">
                                          <p:val>
                                            <p:strVal val="#ppt_h"/>
                                          </p:val>
                                        </p:tav>
                                        <p:tav tm="100000">
                                          <p:val>
                                            <p:strVal val="#ppt_h"/>
                                          </p:val>
                                        </p:tav>
                                      </p:tavLst>
                                    </p:anim>
                                    <p:animEffect transition="in" filter="fade">
                                      <p:cBhvr>
                                        <p:cTn id="21" dur="1000"/>
                                        <p:tgtEl>
                                          <p:spTgt spid="11"/>
                                        </p:tgtEl>
                                      </p:cBhvr>
                                    </p:animEffect>
                                  </p:childTnLst>
                                </p:cTn>
                              </p:par>
                              <p:par>
                                <p:cTn id="22" presetID="50" presetClass="entr" presetSubtype="0" decel="10000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 calcmode="lin" valueType="num">
                                      <p:cBhvr>
                                        <p:cTn id="24" dur="1000" fill="hold"/>
                                        <p:tgtEl>
                                          <p:spTgt spid="9"/>
                                        </p:tgtEl>
                                        <p:attrNameLst>
                                          <p:attrName>ppt_w</p:attrName>
                                        </p:attrNameLst>
                                      </p:cBhvr>
                                      <p:tavLst>
                                        <p:tav tm="0">
                                          <p:val>
                                            <p:strVal val="#ppt_w+.3"/>
                                          </p:val>
                                        </p:tav>
                                        <p:tav tm="100000">
                                          <p:val>
                                            <p:strVal val="#ppt_w"/>
                                          </p:val>
                                        </p:tav>
                                      </p:tavLst>
                                    </p:anim>
                                    <p:anim calcmode="lin" valueType="num">
                                      <p:cBhvr>
                                        <p:cTn id="25" dur="1000" fill="hold"/>
                                        <p:tgtEl>
                                          <p:spTgt spid="9"/>
                                        </p:tgtEl>
                                        <p:attrNameLst>
                                          <p:attrName>ppt_h</p:attrName>
                                        </p:attrNameLst>
                                      </p:cBhvr>
                                      <p:tavLst>
                                        <p:tav tm="0">
                                          <p:val>
                                            <p:strVal val="#ppt_h"/>
                                          </p:val>
                                        </p:tav>
                                        <p:tav tm="100000">
                                          <p:val>
                                            <p:strVal val="#ppt_h"/>
                                          </p:val>
                                        </p:tav>
                                      </p:tavLst>
                                    </p:anim>
                                    <p:animEffect transition="in" filter="fade">
                                      <p:cBhvr>
                                        <p:cTn id="26" dur="1000"/>
                                        <p:tgtEl>
                                          <p:spTgt spid="9"/>
                                        </p:tgtEl>
                                      </p:cBhvr>
                                    </p:animEffect>
                                  </p:childTnLst>
                                </p:cTn>
                              </p:par>
                              <p:par>
                                <p:cTn id="27" presetID="50" presetClass="entr" presetSubtype="0" decel="100000" fill="hold" nodeType="withEffect">
                                  <p:stCondLst>
                                    <p:cond delay="0"/>
                                  </p:stCondLst>
                                  <p:childTnLst>
                                    <p:set>
                                      <p:cBhvr>
                                        <p:cTn id="28" dur="1" fill="hold">
                                          <p:stCondLst>
                                            <p:cond delay="0"/>
                                          </p:stCondLst>
                                        </p:cTn>
                                        <p:tgtEl>
                                          <p:spTgt spid="8"/>
                                        </p:tgtEl>
                                        <p:attrNameLst>
                                          <p:attrName>style.visibility</p:attrName>
                                        </p:attrNameLst>
                                      </p:cBhvr>
                                      <p:to>
                                        <p:strVal val="visible"/>
                                      </p:to>
                                    </p:set>
                                    <p:anim calcmode="lin" valueType="num">
                                      <p:cBhvr>
                                        <p:cTn id="29" dur="1000" fill="hold"/>
                                        <p:tgtEl>
                                          <p:spTgt spid="8"/>
                                        </p:tgtEl>
                                        <p:attrNameLst>
                                          <p:attrName>ppt_w</p:attrName>
                                        </p:attrNameLst>
                                      </p:cBhvr>
                                      <p:tavLst>
                                        <p:tav tm="0">
                                          <p:val>
                                            <p:strVal val="#ppt_w+.3"/>
                                          </p:val>
                                        </p:tav>
                                        <p:tav tm="100000">
                                          <p:val>
                                            <p:strVal val="#ppt_w"/>
                                          </p:val>
                                        </p:tav>
                                      </p:tavLst>
                                    </p:anim>
                                    <p:anim calcmode="lin" valueType="num">
                                      <p:cBhvr>
                                        <p:cTn id="30" dur="1000" fill="hold"/>
                                        <p:tgtEl>
                                          <p:spTgt spid="8"/>
                                        </p:tgtEl>
                                        <p:attrNameLst>
                                          <p:attrName>ppt_h</p:attrName>
                                        </p:attrNameLst>
                                      </p:cBhvr>
                                      <p:tavLst>
                                        <p:tav tm="0">
                                          <p:val>
                                            <p:strVal val="#ppt_h"/>
                                          </p:val>
                                        </p:tav>
                                        <p:tav tm="100000">
                                          <p:val>
                                            <p:strVal val="#ppt_h"/>
                                          </p:val>
                                        </p:tav>
                                      </p:tavLst>
                                    </p:anim>
                                    <p:animEffect transition="in" filter="fade">
                                      <p:cBhvr>
                                        <p:cTn id="31"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Converting ER Model to relational schema</a:t>
            </a:r>
          </a:p>
        </p:txBody>
      </p:sp>
      <p:sp>
        <p:nvSpPr>
          <p:cNvPr id="3" name="Content Placeholder 2"/>
          <p:cNvSpPr>
            <a:spLocks noGrp="1"/>
          </p:cNvSpPr>
          <p:nvPr>
            <p:ph idx="1"/>
          </p:nvPr>
        </p:nvSpPr>
        <p:spPr/>
        <p:txBody>
          <a:bodyPr/>
          <a:lstStyle/>
          <a:p>
            <a:pPr marL="0" indent="0">
              <a:buNone/>
            </a:pPr>
            <a:r>
              <a:rPr lang="en-US" b="1" dirty="0">
                <a:solidFill>
                  <a:schemeClr val="tx1"/>
                </a:solidFill>
              </a:rPr>
              <a:t>Rule 2 - Convert </a:t>
            </a:r>
            <a:r>
              <a:rPr lang="en-US" b="1" dirty="0" err="1">
                <a:solidFill>
                  <a:schemeClr val="tx1"/>
                </a:solidFill>
              </a:rPr>
              <a:t>Multivalue</a:t>
            </a:r>
            <a:r>
              <a:rPr lang="en-US" b="1" dirty="0">
                <a:solidFill>
                  <a:schemeClr val="tx1"/>
                </a:solidFill>
              </a:rPr>
              <a:t> attribute</a:t>
            </a:r>
            <a:endParaRPr lang="en-US" b="1" dirty="0"/>
          </a:p>
        </p:txBody>
      </p:sp>
      <p:sp>
        <p:nvSpPr>
          <p:cNvPr id="4" name="Slide Number Placeholder 3"/>
          <p:cNvSpPr>
            <a:spLocks noGrp="1"/>
          </p:cNvSpPr>
          <p:nvPr>
            <p:ph type="sldNum" sz="quarter" idx="12"/>
          </p:nvPr>
        </p:nvSpPr>
        <p:spPr/>
        <p:txBody>
          <a:bodyPr/>
          <a:lstStyle/>
          <a:p>
            <a:fld id="{586DAB0F-01A5-4AB0-84E3-BA9DDAF20443}" type="slidenum">
              <a:rPr lang="en-US" smtClean="0"/>
              <a:t>25</a:t>
            </a:fld>
            <a:endParaRPr lang="en-US"/>
          </a:p>
        </p:txBody>
      </p:sp>
      <p:sp>
        <p:nvSpPr>
          <p:cNvPr id="5" name="Footer Placeholder 4"/>
          <p:cNvSpPr>
            <a:spLocks noGrp="1"/>
          </p:cNvSpPr>
          <p:nvPr>
            <p:ph type="ftr" sz="quarter" idx="3"/>
          </p:nvPr>
        </p:nvSpPr>
        <p:spPr/>
        <p:txBody>
          <a:bodyPr/>
          <a:lstStyle/>
          <a:p>
            <a:r>
              <a:rPr lang="en-US"/>
              <a:t>09e-BM/DT/FSOFT - @FPT SOFTWARE - FPT Software Academy - Internal Use</a:t>
            </a:r>
          </a:p>
        </p:txBody>
      </p:sp>
      <p:pic>
        <p:nvPicPr>
          <p:cNvPr id="12" name="Picture 6" descr="FIG5-10A"/>
          <p:cNvPicPr>
            <a:picLocks noChangeAspect="1" noChangeArrowheads="1"/>
          </p:cNvPicPr>
          <p:nvPr/>
        </p:nvPicPr>
        <p:blipFill rotWithShape="1">
          <a:blip r:embed="rId2"/>
          <a:srcRect t="1" b="-4125"/>
          <a:stretch/>
        </p:blipFill>
        <p:spPr bwMode="auto">
          <a:xfrm>
            <a:off x="3499729" y="1736819"/>
            <a:ext cx="4903373" cy="1716165"/>
          </a:xfrm>
          <a:prstGeom prst="rect">
            <a:avLst/>
          </a:prstGeom>
          <a:noFill/>
          <a:ln w="9525">
            <a:noFill/>
            <a:miter lim="800000"/>
            <a:headEnd/>
            <a:tailEnd/>
          </a:ln>
        </p:spPr>
      </p:pic>
      <p:pic>
        <p:nvPicPr>
          <p:cNvPr id="13" name="Picture 7" descr="FIG5-10B"/>
          <p:cNvPicPr>
            <a:picLocks noChangeAspect="1" noChangeArrowheads="1"/>
          </p:cNvPicPr>
          <p:nvPr/>
        </p:nvPicPr>
        <p:blipFill rotWithShape="1">
          <a:blip r:embed="rId3"/>
          <a:srcRect r="8735"/>
          <a:stretch/>
        </p:blipFill>
        <p:spPr bwMode="auto">
          <a:xfrm>
            <a:off x="3499730" y="4248706"/>
            <a:ext cx="4903372" cy="1440645"/>
          </a:xfrm>
          <a:prstGeom prst="rect">
            <a:avLst/>
          </a:prstGeom>
          <a:noFill/>
          <a:ln w="9525">
            <a:noFill/>
            <a:miter lim="800000"/>
            <a:headEnd/>
            <a:tailEnd/>
          </a:ln>
        </p:spPr>
      </p:pic>
      <p:sp>
        <p:nvSpPr>
          <p:cNvPr id="14" name="Text Box 8"/>
          <p:cNvSpPr txBox="1">
            <a:spLocks noChangeArrowheads="1"/>
          </p:cNvSpPr>
          <p:nvPr/>
        </p:nvSpPr>
        <p:spPr bwMode="auto">
          <a:xfrm>
            <a:off x="3252667" y="3466376"/>
            <a:ext cx="5397496" cy="307777"/>
          </a:xfrm>
          <a:prstGeom prst="rect">
            <a:avLst/>
          </a:prstGeom>
          <a:noFill/>
          <a:ln w="28575">
            <a:noFill/>
            <a:miter lim="800000"/>
            <a:headEnd/>
            <a:tailEnd/>
          </a:ln>
        </p:spPr>
        <p:txBody>
          <a:bodyPr wrap="square">
            <a:spAutoFit/>
          </a:bodyPr>
          <a:lstStyle/>
          <a:p>
            <a:r>
              <a:rPr lang="en-US" sz="1400" dirty="0">
                <a:solidFill>
                  <a:srgbClr val="FF0000"/>
                </a:solidFill>
              </a:rPr>
              <a:t>Multivalued attribute becomes a separate relation with foreign key</a:t>
            </a:r>
          </a:p>
        </p:txBody>
      </p:sp>
      <p:sp>
        <p:nvSpPr>
          <p:cNvPr id="15" name="Down Arrow 14"/>
          <p:cNvSpPr/>
          <p:nvPr/>
        </p:nvSpPr>
        <p:spPr>
          <a:xfrm>
            <a:off x="5810368" y="3811267"/>
            <a:ext cx="282094" cy="109421"/>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Box 9"/>
          <p:cNvSpPr txBox="1">
            <a:spLocks noChangeArrowheads="1"/>
          </p:cNvSpPr>
          <p:nvPr/>
        </p:nvSpPr>
        <p:spPr bwMode="auto">
          <a:xfrm>
            <a:off x="3341786" y="5892539"/>
            <a:ext cx="5219257" cy="308479"/>
          </a:xfrm>
          <a:prstGeom prst="rect">
            <a:avLst/>
          </a:prstGeom>
          <a:noFill/>
          <a:ln w="28575">
            <a:noFill/>
            <a:miter lim="800000"/>
            <a:headEnd/>
            <a:tailEnd/>
          </a:ln>
        </p:spPr>
        <p:txBody>
          <a:bodyPr wrap="square">
            <a:spAutoFit/>
          </a:bodyPr>
          <a:lstStyle/>
          <a:p>
            <a:r>
              <a:rPr lang="en-US" sz="1400" dirty="0">
                <a:solidFill>
                  <a:srgbClr val="FF0000"/>
                </a:solidFill>
              </a:rPr>
              <a:t>1–to–many relationship between original entity and new relation</a:t>
            </a:r>
          </a:p>
        </p:txBody>
      </p:sp>
    </p:spTree>
    <p:extLst>
      <p:ext uri="{BB962C8B-B14F-4D97-AF65-F5344CB8AC3E}">
        <p14:creationId xmlns:p14="http://schemas.microsoft.com/office/powerpoint/2010/main" val="3039779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1000" fill="hold"/>
                                        <p:tgtEl>
                                          <p:spTgt spid="12"/>
                                        </p:tgtEl>
                                        <p:attrNameLst>
                                          <p:attrName>ppt_w</p:attrName>
                                        </p:attrNameLst>
                                      </p:cBhvr>
                                      <p:tavLst>
                                        <p:tav tm="0">
                                          <p:val>
                                            <p:strVal val="#ppt_w+.3"/>
                                          </p:val>
                                        </p:tav>
                                        <p:tav tm="100000">
                                          <p:val>
                                            <p:strVal val="#ppt_w"/>
                                          </p:val>
                                        </p:tav>
                                      </p:tavLst>
                                    </p:anim>
                                    <p:anim calcmode="lin" valueType="num">
                                      <p:cBhvr>
                                        <p:cTn id="8" dur="1000" fill="hold"/>
                                        <p:tgtEl>
                                          <p:spTgt spid="12"/>
                                        </p:tgtEl>
                                        <p:attrNameLst>
                                          <p:attrName>ppt_h</p:attrName>
                                        </p:attrNameLst>
                                      </p:cBhvr>
                                      <p:tavLst>
                                        <p:tav tm="0">
                                          <p:val>
                                            <p:strVal val="#ppt_h"/>
                                          </p:val>
                                        </p:tav>
                                        <p:tav tm="100000">
                                          <p:val>
                                            <p:strVal val="#ppt_h"/>
                                          </p:val>
                                        </p:tav>
                                      </p:tavLst>
                                    </p:anim>
                                    <p:animEffect transition="in" filter="fade">
                                      <p:cBhvr>
                                        <p:cTn id="9" dur="1000"/>
                                        <p:tgtEl>
                                          <p:spTgt spid="12"/>
                                        </p:tgtEl>
                                      </p:cBhvr>
                                    </p:animEffect>
                                  </p:childTnLst>
                                </p:cTn>
                              </p:par>
                              <p:par>
                                <p:cTn id="10" presetID="50" presetClass="entr" presetSubtype="0" decel="100000" fill="hold" grpId="0" nodeType="withEffect">
                                  <p:stCondLst>
                                    <p:cond delay="0"/>
                                  </p:stCondLst>
                                  <p:childTnLst>
                                    <p:set>
                                      <p:cBhvr>
                                        <p:cTn id="11" dur="1" fill="hold">
                                          <p:stCondLst>
                                            <p:cond delay="0"/>
                                          </p:stCondLst>
                                        </p:cTn>
                                        <p:tgtEl>
                                          <p:spTgt spid="14"/>
                                        </p:tgtEl>
                                        <p:attrNameLst>
                                          <p:attrName>style.visibility</p:attrName>
                                        </p:attrNameLst>
                                      </p:cBhvr>
                                      <p:to>
                                        <p:strVal val="visible"/>
                                      </p:to>
                                    </p:set>
                                    <p:anim calcmode="lin" valueType="num">
                                      <p:cBhvr>
                                        <p:cTn id="12" dur="1000" fill="hold"/>
                                        <p:tgtEl>
                                          <p:spTgt spid="14"/>
                                        </p:tgtEl>
                                        <p:attrNameLst>
                                          <p:attrName>ppt_w</p:attrName>
                                        </p:attrNameLst>
                                      </p:cBhvr>
                                      <p:tavLst>
                                        <p:tav tm="0">
                                          <p:val>
                                            <p:strVal val="#ppt_w+.3"/>
                                          </p:val>
                                        </p:tav>
                                        <p:tav tm="100000">
                                          <p:val>
                                            <p:strVal val="#ppt_w"/>
                                          </p:val>
                                        </p:tav>
                                      </p:tavLst>
                                    </p:anim>
                                    <p:anim calcmode="lin" valueType="num">
                                      <p:cBhvr>
                                        <p:cTn id="13" dur="1000" fill="hold"/>
                                        <p:tgtEl>
                                          <p:spTgt spid="14"/>
                                        </p:tgtEl>
                                        <p:attrNameLst>
                                          <p:attrName>ppt_h</p:attrName>
                                        </p:attrNameLst>
                                      </p:cBhvr>
                                      <p:tavLst>
                                        <p:tav tm="0">
                                          <p:val>
                                            <p:strVal val="#ppt_h"/>
                                          </p:val>
                                        </p:tav>
                                        <p:tav tm="100000">
                                          <p:val>
                                            <p:strVal val="#ppt_h"/>
                                          </p:val>
                                        </p:tav>
                                      </p:tavLst>
                                    </p:anim>
                                    <p:animEffect transition="in" filter="fade">
                                      <p:cBhvr>
                                        <p:cTn id="14" dur="1000"/>
                                        <p:tgtEl>
                                          <p:spTgt spid="14"/>
                                        </p:tgtEl>
                                      </p:cBhvr>
                                    </p:animEffect>
                                  </p:childTnLst>
                                </p:cTn>
                              </p:par>
                            </p:childTnLst>
                          </p:cTn>
                        </p:par>
                      </p:childTnLst>
                    </p:cTn>
                  </p:par>
                  <p:par>
                    <p:cTn id="15" fill="hold">
                      <p:stCondLst>
                        <p:cond delay="indefinite"/>
                      </p:stCondLst>
                      <p:childTnLst>
                        <p:par>
                          <p:cTn id="16" fill="hold">
                            <p:stCondLst>
                              <p:cond delay="0"/>
                            </p:stCondLst>
                            <p:childTnLst>
                              <p:par>
                                <p:cTn id="17" presetID="50" presetClass="entr" presetSubtype="0" decel="10000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p:cTn id="19" dur="1000" fill="hold"/>
                                        <p:tgtEl>
                                          <p:spTgt spid="15"/>
                                        </p:tgtEl>
                                        <p:attrNameLst>
                                          <p:attrName>ppt_w</p:attrName>
                                        </p:attrNameLst>
                                      </p:cBhvr>
                                      <p:tavLst>
                                        <p:tav tm="0">
                                          <p:val>
                                            <p:strVal val="#ppt_w+.3"/>
                                          </p:val>
                                        </p:tav>
                                        <p:tav tm="100000">
                                          <p:val>
                                            <p:strVal val="#ppt_w"/>
                                          </p:val>
                                        </p:tav>
                                      </p:tavLst>
                                    </p:anim>
                                    <p:anim calcmode="lin" valueType="num">
                                      <p:cBhvr>
                                        <p:cTn id="20" dur="1000" fill="hold"/>
                                        <p:tgtEl>
                                          <p:spTgt spid="15"/>
                                        </p:tgtEl>
                                        <p:attrNameLst>
                                          <p:attrName>ppt_h</p:attrName>
                                        </p:attrNameLst>
                                      </p:cBhvr>
                                      <p:tavLst>
                                        <p:tav tm="0">
                                          <p:val>
                                            <p:strVal val="#ppt_h"/>
                                          </p:val>
                                        </p:tav>
                                        <p:tav tm="100000">
                                          <p:val>
                                            <p:strVal val="#ppt_h"/>
                                          </p:val>
                                        </p:tav>
                                      </p:tavLst>
                                    </p:anim>
                                    <p:animEffect transition="in" filter="fade">
                                      <p:cBhvr>
                                        <p:cTn id="21" dur="1000"/>
                                        <p:tgtEl>
                                          <p:spTgt spid="15"/>
                                        </p:tgtEl>
                                      </p:cBhvr>
                                    </p:animEffect>
                                  </p:childTnLst>
                                </p:cTn>
                              </p:par>
                              <p:par>
                                <p:cTn id="22" presetID="50" presetClass="entr" presetSubtype="0" decel="10000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 calcmode="lin" valueType="num">
                                      <p:cBhvr>
                                        <p:cTn id="24" dur="1000" fill="hold"/>
                                        <p:tgtEl>
                                          <p:spTgt spid="13"/>
                                        </p:tgtEl>
                                        <p:attrNameLst>
                                          <p:attrName>ppt_w</p:attrName>
                                        </p:attrNameLst>
                                      </p:cBhvr>
                                      <p:tavLst>
                                        <p:tav tm="0">
                                          <p:val>
                                            <p:strVal val="#ppt_w+.3"/>
                                          </p:val>
                                        </p:tav>
                                        <p:tav tm="100000">
                                          <p:val>
                                            <p:strVal val="#ppt_w"/>
                                          </p:val>
                                        </p:tav>
                                      </p:tavLst>
                                    </p:anim>
                                    <p:anim calcmode="lin" valueType="num">
                                      <p:cBhvr>
                                        <p:cTn id="25" dur="1000" fill="hold"/>
                                        <p:tgtEl>
                                          <p:spTgt spid="13"/>
                                        </p:tgtEl>
                                        <p:attrNameLst>
                                          <p:attrName>ppt_h</p:attrName>
                                        </p:attrNameLst>
                                      </p:cBhvr>
                                      <p:tavLst>
                                        <p:tav tm="0">
                                          <p:val>
                                            <p:strVal val="#ppt_h"/>
                                          </p:val>
                                        </p:tav>
                                        <p:tav tm="100000">
                                          <p:val>
                                            <p:strVal val="#ppt_h"/>
                                          </p:val>
                                        </p:tav>
                                      </p:tavLst>
                                    </p:anim>
                                    <p:animEffect transition="in" filter="fade">
                                      <p:cBhvr>
                                        <p:cTn id="26" dur="1000"/>
                                        <p:tgtEl>
                                          <p:spTgt spid="13"/>
                                        </p:tgtEl>
                                      </p:cBhvr>
                                    </p:animEffect>
                                  </p:childTnLst>
                                </p:cTn>
                              </p:par>
                              <p:par>
                                <p:cTn id="27" presetID="50" presetClass="entr" presetSubtype="0" decel="10000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anim calcmode="lin" valueType="num">
                                      <p:cBhvr>
                                        <p:cTn id="29" dur="1000" fill="hold"/>
                                        <p:tgtEl>
                                          <p:spTgt spid="16"/>
                                        </p:tgtEl>
                                        <p:attrNameLst>
                                          <p:attrName>ppt_w</p:attrName>
                                        </p:attrNameLst>
                                      </p:cBhvr>
                                      <p:tavLst>
                                        <p:tav tm="0">
                                          <p:val>
                                            <p:strVal val="#ppt_w+.3"/>
                                          </p:val>
                                        </p:tav>
                                        <p:tav tm="100000">
                                          <p:val>
                                            <p:strVal val="#ppt_w"/>
                                          </p:val>
                                        </p:tav>
                                      </p:tavLst>
                                    </p:anim>
                                    <p:anim calcmode="lin" valueType="num">
                                      <p:cBhvr>
                                        <p:cTn id="30" dur="1000" fill="hold"/>
                                        <p:tgtEl>
                                          <p:spTgt spid="16"/>
                                        </p:tgtEl>
                                        <p:attrNameLst>
                                          <p:attrName>ppt_h</p:attrName>
                                        </p:attrNameLst>
                                      </p:cBhvr>
                                      <p:tavLst>
                                        <p:tav tm="0">
                                          <p:val>
                                            <p:strVal val="#ppt_h"/>
                                          </p:val>
                                        </p:tav>
                                        <p:tav tm="100000">
                                          <p:val>
                                            <p:strVal val="#ppt_h"/>
                                          </p:val>
                                        </p:tav>
                                      </p:tavLst>
                                    </p:anim>
                                    <p:animEffect transition="in" filter="fade">
                                      <p:cBhvr>
                                        <p:cTn id="31"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animBg="1"/>
      <p:bldP spid="1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Converting ER Model to relational schema</a:t>
            </a:r>
          </a:p>
        </p:txBody>
      </p:sp>
      <p:sp>
        <p:nvSpPr>
          <p:cNvPr id="3" name="Content Placeholder 2"/>
          <p:cNvSpPr>
            <a:spLocks noGrp="1"/>
          </p:cNvSpPr>
          <p:nvPr>
            <p:ph idx="1"/>
          </p:nvPr>
        </p:nvSpPr>
        <p:spPr/>
        <p:txBody>
          <a:bodyPr/>
          <a:lstStyle/>
          <a:p>
            <a:r>
              <a:rPr lang="en-US" b="1" dirty="0">
                <a:solidFill>
                  <a:schemeClr val="tx1"/>
                </a:solidFill>
              </a:rPr>
              <a:t>Rule 3 - Convert Unary relationship one to one</a:t>
            </a:r>
            <a:endParaRPr lang="en-US" b="1" dirty="0"/>
          </a:p>
        </p:txBody>
      </p:sp>
      <p:sp>
        <p:nvSpPr>
          <p:cNvPr id="4" name="Slide Number Placeholder 3"/>
          <p:cNvSpPr>
            <a:spLocks noGrp="1"/>
          </p:cNvSpPr>
          <p:nvPr>
            <p:ph type="sldNum" sz="quarter" idx="12"/>
          </p:nvPr>
        </p:nvSpPr>
        <p:spPr/>
        <p:txBody>
          <a:bodyPr/>
          <a:lstStyle/>
          <a:p>
            <a:fld id="{586DAB0F-01A5-4AB0-84E3-BA9DDAF20443}" type="slidenum">
              <a:rPr lang="en-US" smtClean="0"/>
              <a:t>26</a:t>
            </a:fld>
            <a:endParaRPr lang="en-US"/>
          </a:p>
        </p:txBody>
      </p:sp>
      <p:sp>
        <p:nvSpPr>
          <p:cNvPr id="5" name="Footer Placeholder 4"/>
          <p:cNvSpPr>
            <a:spLocks noGrp="1"/>
          </p:cNvSpPr>
          <p:nvPr>
            <p:ph type="ftr" sz="quarter" idx="3"/>
          </p:nvPr>
        </p:nvSpPr>
        <p:spPr/>
        <p:txBody>
          <a:bodyPr/>
          <a:lstStyle/>
          <a:p>
            <a:r>
              <a:rPr lang="en-US"/>
              <a:t>09e-BM/DT/FSOFT - @FPT SOFTWARE - FPT Software Academy - Internal Use</a:t>
            </a:r>
          </a:p>
        </p:txBody>
      </p:sp>
      <p:grpSp>
        <p:nvGrpSpPr>
          <p:cNvPr id="15" name="Group 1030"/>
          <p:cNvGrpSpPr>
            <a:grpSpLocks/>
          </p:cNvGrpSpPr>
          <p:nvPr/>
        </p:nvGrpSpPr>
        <p:grpSpPr bwMode="auto">
          <a:xfrm>
            <a:off x="3460541" y="1672967"/>
            <a:ext cx="5168213" cy="2509324"/>
            <a:chOff x="1085" y="995"/>
            <a:chExt cx="3330" cy="2365"/>
          </a:xfrm>
        </p:grpSpPr>
        <p:pic>
          <p:nvPicPr>
            <p:cNvPr id="16" name="Picture 1031" descr="FIG5-17A"/>
            <p:cNvPicPr>
              <a:picLocks noChangeAspect="1" noChangeArrowheads="1"/>
            </p:cNvPicPr>
            <p:nvPr/>
          </p:nvPicPr>
          <p:blipFill rotWithShape="1">
            <a:blip r:embed="rId2"/>
            <a:srcRect l="2193" r="2758"/>
            <a:stretch/>
          </p:blipFill>
          <p:spPr bwMode="auto">
            <a:xfrm>
              <a:off x="1085" y="995"/>
              <a:ext cx="3330" cy="2365"/>
            </a:xfrm>
            <a:prstGeom prst="rect">
              <a:avLst/>
            </a:prstGeom>
            <a:noFill/>
            <a:ln w="9525">
              <a:noFill/>
              <a:miter lim="800000"/>
              <a:headEnd/>
              <a:tailEnd/>
            </a:ln>
          </p:spPr>
        </p:pic>
        <p:pic>
          <p:nvPicPr>
            <p:cNvPr id="17" name="Picture 1032" descr="FIG5-17A"/>
            <p:cNvPicPr>
              <a:picLocks noChangeAspect="1" noChangeArrowheads="1"/>
            </p:cNvPicPr>
            <p:nvPr/>
          </p:nvPicPr>
          <p:blipFill>
            <a:blip r:embed="rId2"/>
            <a:srcRect t="61441" r="60959"/>
            <a:stretch>
              <a:fillRect/>
            </a:stretch>
          </p:blipFill>
          <p:spPr bwMode="auto">
            <a:xfrm>
              <a:off x="3096" y="2076"/>
              <a:ext cx="144" cy="96"/>
            </a:xfrm>
            <a:prstGeom prst="rect">
              <a:avLst/>
            </a:prstGeom>
            <a:noFill/>
            <a:ln w="9525">
              <a:noFill/>
              <a:miter lim="800000"/>
              <a:headEnd/>
              <a:tailEnd/>
            </a:ln>
          </p:spPr>
        </p:pic>
        <p:pic>
          <p:nvPicPr>
            <p:cNvPr id="18" name="Picture 1033" descr="FIG5-17A"/>
            <p:cNvPicPr>
              <a:picLocks noChangeAspect="1" noChangeArrowheads="1"/>
            </p:cNvPicPr>
            <p:nvPr/>
          </p:nvPicPr>
          <p:blipFill>
            <a:blip r:embed="rId2"/>
            <a:srcRect t="61441" r="60959"/>
            <a:stretch>
              <a:fillRect/>
            </a:stretch>
          </p:blipFill>
          <p:spPr bwMode="auto">
            <a:xfrm>
              <a:off x="3096" y="2184"/>
              <a:ext cx="144" cy="96"/>
            </a:xfrm>
            <a:prstGeom prst="rect">
              <a:avLst/>
            </a:prstGeom>
            <a:noFill/>
            <a:ln w="9525">
              <a:noFill/>
              <a:miter lim="800000"/>
              <a:headEnd/>
              <a:tailEnd/>
            </a:ln>
          </p:spPr>
        </p:pic>
        <p:pic>
          <p:nvPicPr>
            <p:cNvPr id="19" name="Picture 1034" descr="FIG5-13A"/>
            <p:cNvPicPr>
              <a:picLocks noChangeAspect="1" noChangeArrowheads="1"/>
            </p:cNvPicPr>
            <p:nvPr/>
          </p:nvPicPr>
          <p:blipFill>
            <a:blip r:embed="rId3"/>
            <a:srcRect l="64473" t="75621" r="31580" b="11948"/>
            <a:stretch>
              <a:fillRect/>
            </a:stretch>
          </p:blipFill>
          <p:spPr bwMode="auto">
            <a:xfrm>
              <a:off x="3096" y="2100"/>
              <a:ext cx="135" cy="180"/>
            </a:xfrm>
            <a:prstGeom prst="rect">
              <a:avLst/>
            </a:prstGeom>
            <a:noFill/>
            <a:ln w="9525">
              <a:noFill/>
              <a:miter lim="800000"/>
              <a:headEnd/>
              <a:tailEnd/>
            </a:ln>
          </p:spPr>
        </p:pic>
      </p:grpSp>
      <p:sp>
        <p:nvSpPr>
          <p:cNvPr id="20" name="Text Box 1037"/>
          <p:cNvSpPr txBox="1">
            <a:spLocks noChangeArrowheads="1"/>
          </p:cNvSpPr>
          <p:nvPr/>
        </p:nvSpPr>
        <p:spPr bwMode="auto">
          <a:xfrm>
            <a:off x="3270379" y="4331134"/>
            <a:ext cx="5548538" cy="307777"/>
          </a:xfrm>
          <a:prstGeom prst="rect">
            <a:avLst/>
          </a:prstGeom>
          <a:noFill/>
          <a:ln w="28575">
            <a:noFill/>
            <a:miter lim="800000"/>
            <a:headEnd/>
            <a:tailEnd/>
          </a:ln>
        </p:spPr>
        <p:txBody>
          <a:bodyPr wrap="square">
            <a:spAutoFit/>
          </a:bodyPr>
          <a:lstStyle/>
          <a:p>
            <a:pPr algn="ctr"/>
            <a:r>
              <a:rPr lang="en-US" sz="1400" dirty="0">
                <a:solidFill>
                  <a:srgbClr val="FF0000"/>
                </a:solidFill>
              </a:rPr>
              <a:t>EMPLOYEE entity with Manages relationship</a:t>
            </a:r>
          </a:p>
        </p:txBody>
      </p:sp>
      <p:sp>
        <p:nvSpPr>
          <p:cNvPr id="21" name="Down Arrow 20"/>
          <p:cNvSpPr/>
          <p:nvPr/>
        </p:nvSpPr>
        <p:spPr>
          <a:xfrm>
            <a:off x="5864627" y="4652107"/>
            <a:ext cx="340230" cy="344436"/>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1035" descr="FIG5-17B"/>
          <p:cNvPicPr>
            <a:picLocks noChangeAspect="1" noChangeArrowheads="1"/>
          </p:cNvPicPr>
          <p:nvPr/>
        </p:nvPicPr>
        <p:blipFill rotWithShape="1">
          <a:blip r:embed="rId4"/>
          <a:srcRect l="17059" r="19427"/>
          <a:stretch/>
        </p:blipFill>
        <p:spPr bwMode="auto">
          <a:xfrm>
            <a:off x="3314883" y="5009739"/>
            <a:ext cx="5459527" cy="989565"/>
          </a:xfrm>
          <a:prstGeom prst="rect">
            <a:avLst/>
          </a:prstGeom>
          <a:noFill/>
          <a:ln w="9525">
            <a:noFill/>
            <a:miter lim="800000"/>
            <a:headEnd/>
            <a:tailEnd/>
          </a:ln>
        </p:spPr>
      </p:pic>
      <p:sp>
        <p:nvSpPr>
          <p:cNvPr id="23" name="Text Box 1036"/>
          <p:cNvSpPr txBox="1">
            <a:spLocks noChangeArrowheads="1"/>
          </p:cNvSpPr>
          <p:nvPr/>
        </p:nvSpPr>
        <p:spPr bwMode="auto">
          <a:xfrm>
            <a:off x="2629682" y="5999304"/>
            <a:ext cx="6469889" cy="307777"/>
          </a:xfrm>
          <a:prstGeom prst="rect">
            <a:avLst/>
          </a:prstGeom>
          <a:noFill/>
          <a:ln w="28575">
            <a:noFill/>
            <a:miter lim="800000"/>
            <a:headEnd/>
            <a:tailEnd/>
          </a:ln>
        </p:spPr>
        <p:txBody>
          <a:bodyPr wrap="square">
            <a:spAutoFit/>
          </a:bodyPr>
          <a:lstStyle/>
          <a:p>
            <a:pPr algn="ctr"/>
            <a:r>
              <a:rPr lang="en-US" sz="1400" dirty="0">
                <a:solidFill>
                  <a:srgbClr val="FF0000"/>
                </a:solidFill>
              </a:rPr>
              <a:t>EMPLOYEE relation with recursive foreign key</a:t>
            </a:r>
          </a:p>
        </p:txBody>
      </p:sp>
    </p:spTree>
    <p:extLst>
      <p:ext uri="{BB962C8B-B14F-4D97-AF65-F5344CB8AC3E}">
        <p14:creationId xmlns:p14="http://schemas.microsoft.com/office/powerpoint/2010/main" val="3604072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1000" fill="hold"/>
                                        <p:tgtEl>
                                          <p:spTgt spid="15"/>
                                        </p:tgtEl>
                                        <p:attrNameLst>
                                          <p:attrName>ppt_w</p:attrName>
                                        </p:attrNameLst>
                                      </p:cBhvr>
                                      <p:tavLst>
                                        <p:tav tm="0">
                                          <p:val>
                                            <p:strVal val="#ppt_w+.3"/>
                                          </p:val>
                                        </p:tav>
                                        <p:tav tm="100000">
                                          <p:val>
                                            <p:strVal val="#ppt_w"/>
                                          </p:val>
                                        </p:tav>
                                      </p:tavLst>
                                    </p:anim>
                                    <p:anim calcmode="lin" valueType="num">
                                      <p:cBhvr>
                                        <p:cTn id="8" dur="1000" fill="hold"/>
                                        <p:tgtEl>
                                          <p:spTgt spid="15"/>
                                        </p:tgtEl>
                                        <p:attrNameLst>
                                          <p:attrName>ppt_h</p:attrName>
                                        </p:attrNameLst>
                                      </p:cBhvr>
                                      <p:tavLst>
                                        <p:tav tm="0">
                                          <p:val>
                                            <p:strVal val="#ppt_h"/>
                                          </p:val>
                                        </p:tav>
                                        <p:tav tm="100000">
                                          <p:val>
                                            <p:strVal val="#ppt_h"/>
                                          </p:val>
                                        </p:tav>
                                      </p:tavLst>
                                    </p:anim>
                                    <p:animEffect transition="in" filter="fade">
                                      <p:cBhvr>
                                        <p:cTn id="9" dur="1000"/>
                                        <p:tgtEl>
                                          <p:spTgt spid="15"/>
                                        </p:tgtEl>
                                      </p:cBhvr>
                                    </p:animEffect>
                                  </p:childTnLst>
                                </p:cTn>
                              </p:par>
                              <p:par>
                                <p:cTn id="10" presetID="50" presetClass="entr" presetSubtype="0" decel="100000" fill="hold" grpId="0" nodeType="withEffect">
                                  <p:stCondLst>
                                    <p:cond delay="0"/>
                                  </p:stCondLst>
                                  <p:childTnLst>
                                    <p:set>
                                      <p:cBhvr>
                                        <p:cTn id="11" dur="1" fill="hold">
                                          <p:stCondLst>
                                            <p:cond delay="0"/>
                                          </p:stCondLst>
                                        </p:cTn>
                                        <p:tgtEl>
                                          <p:spTgt spid="20"/>
                                        </p:tgtEl>
                                        <p:attrNameLst>
                                          <p:attrName>style.visibility</p:attrName>
                                        </p:attrNameLst>
                                      </p:cBhvr>
                                      <p:to>
                                        <p:strVal val="visible"/>
                                      </p:to>
                                    </p:set>
                                    <p:anim calcmode="lin" valueType="num">
                                      <p:cBhvr>
                                        <p:cTn id="12" dur="1000" fill="hold"/>
                                        <p:tgtEl>
                                          <p:spTgt spid="20"/>
                                        </p:tgtEl>
                                        <p:attrNameLst>
                                          <p:attrName>ppt_w</p:attrName>
                                        </p:attrNameLst>
                                      </p:cBhvr>
                                      <p:tavLst>
                                        <p:tav tm="0">
                                          <p:val>
                                            <p:strVal val="#ppt_w+.3"/>
                                          </p:val>
                                        </p:tav>
                                        <p:tav tm="100000">
                                          <p:val>
                                            <p:strVal val="#ppt_w"/>
                                          </p:val>
                                        </p:tav>
                                      </p:tavLst>
                                    </p:anim>
                                    <p:anim calcmode="lin" valueType="num">
                                      <p:cBhvr>
                                        <p:cTn id="13" dur="1000" fill="hold"/>
                                        <p:tgtEl>
                                          <p:spTgt spid="20"/>
                                        </p:tgtEl>
                                        <p:attrNameLst>
                                          <p:attrName>ppt_h</p:attrName>
                                        </p:attrNameLst>
                                      </p:cBhvr>
                                      <p:tavLst>
                                        <p:tav tm="0">
                                          <p:val>
                                            <p:strVal val="#ppt_h"/>
                                          </p:val>
                                        </p:tav>
                                        <p:tav tm="100000">
                                          <p:val>
                                            <p:strVal val="#ppt_h"/>
                                          </p:val>
                                        </p:tav>
                                      </p:tavLst>
                                    </p:anim>
                                    <p:animEffect transition="in" filter="fade">
                                      <p:cBhvr>
                                        <p:cTn id="14" dur="1000"/>
                                        <p:tgtEl>
                                          <p:spTgt spid="20"/>
                                        </p:tgtEl>
                                      </p:cBhvr>
                                    </p:animEffect>
                                  </p:childTnLst>
                                </p:cTn>
                              </p:par>
                            </p:childTnLst>
                          </p:cTn>
                        </p:par>
                      </p:childTnLst>
                    </p:cTn>
                  </p:par>
                  <p:par>
                    <p:cTn id="15" fill="hold">
                      <p:stCondLst>
                        <p:cond delay="indefinite"/>
                      </p:stCondLst>
                      <p:childTnLst>
                        <p:par>
                          <p:cTn id="16" fill="hold">
                            <p:stCondLst>
                              <p:cond delay="0"/>
                            </p:stCondLst>
                            <p:childTnLst>
                              <p:par>
                                <p:cTn id="17" presetID="50" presetClass="entr" presetSubtype="0" decel="10000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anim calcmode="lin" valueType="num">
                                      <p:cBhvr>
                                        <p:cTn id="19" dur="1000" fill="hold"/>
                                        <p:tgtEl>
                                          <p:spTgt spid="21"/>
                                        </p:tgtEl>
                                        <p:attrNameLst>
                                          <p:attrName>ppt_w</p:attrName>
                                        </p:attrNameLst>
                                      </p:cBhvr>
                                      <p:tavLst>
                                        <p:tav tm="0">
                                          <p:val>
                                            <p:strVal val="#ppt_w+.3"/>
                                          </p:val>
                                        </p:tav>
                                        <p:tav tm="100000">
                                          <p:val>
                                            <p:strVal val="#ppt_w"/>
                                          </p:val>
                                        </p:tav>
                                      </p:tavLst>
                                    </p:anim>
                                    <p:anim calcmode="lin" valueType="num">
                                      <p:cBhvr>
                                        <p:cTn id="20" dur="1000" fill="hold"/>
                                        <p:tgtEl>
                                          <p:spTgt spid="21"/>
                                        </p:tgtEl>
                                        <p:attrNameLst>
                                          <p:attrName>ppt_h</p:attrName>
                                        </p:attrNameLst>
                                      </p:cBhvr>
                                      <p:tavLst>
                                        <p:tav tm="0">
                                          <p:val>
                                            <p:strVal val="#ppt_h"/>
                                          </p:val>
                                        </p:tav>
                                        <p:tav tm="100000">
                                          <p:val>
                                            <p:strVal val="#ppt_h"/>
                                          </p:val>
                                        </p:tav>
                                      </p:tavLst>
                                    </p:anim>
                                    <p:animEffect transition="in" filter="fade">
                                      <p:cBhvr>
                                        <p:cTn id="21" dur="1000"/>
                                        <p:tgtEl>
                                          <p:spTgt spid="21"/>
                                        </p:tgtEl>
                                      </p:cBhvr>
                                    </p:animEffect>
                                  </p:childTnLst>
                                </p:cTn>
                              </p:par>
                              <p:par>
                                <p:cTn id="22" presetID="50" presetClass="entr" presetSubtype="0" decel="100000" fill="hold" nodeType="withEffect">
                                  <p:stCondLst>
                                    <p:cond delay="0"/>
                                  </p:stCondLst>
                                  <p:childTnLst>
                                    <p:set>
                                      <p:cBhvr>
                                        <p:cTn id="23" dur="1" fill="hold">
                                          <p:stCondLst>
                                            <p:cond delay="0"/>
                                          </p:stCondLst>
                                        </p:cTn>
                                        <p:tgtEl>
                                          <p:spTgt spid="22"/>
                                        </p:tgtEl>
                                        <p:attrNameLst>
                                          <p:attrName>style.visibility</p:attrName>
                                        </p:attrNameLst>
                                      </p:cBhvr>
                                      <p:to>
                                        <p:strVal val="visible"/>
                                      </p:to>
                                    </p:set>
                                    <p:anim calcmode="lin" valueType="num">
                                      <p:cBhvr>
                                        <p:cTn id="24" dur="1000" fill="hold"/>
                                        <p:tgtEl>
                                          <p:spTgt spid="22"/>
                                        </p:tgtEl>
                                        <p:attrNameLst>
                                          <p:attrName>ppt_w</p:attrName>
                                        </p:attrNameLst>
                                      </p:cBhvr>
                                      <p:tavLst>
                                        <p:tav tm="0">
                                          <p:val>
                                            <p:strVal val="#ppt_w+.3"/>
                                          </p:val>
                                        </p:tav>
                                        <p:tav tm="100000">
                                          <p:val>
                                            <p:strVal val="#ppt_w"/>
                                          </p:val>
                                        </p:tav>
                                      </p:tavLst>
                                    </p:anim>
                                    <p:anim calcmode="lin" valueType="num">
                                      <p:cBhvr>
                                        <p:cTn id="25" dur="1000" fill="hold"/>
                                        <p:tgtEl>
                                          <p:spTgt spid="22"/>
                                        </p:tgtEl>
                                        <p:attrNameLst>
                                          <p:attrName>ppt_h</p:attrName>
                                        </p:attrNameLst>
                                      </p:cBhvr>
                                      <p:tavLst>
                                        <p:tav tm="0">
                                          <p:val>
                                            <p:strVal val="#ppt_h"/>
                                          </p:val>
                                        </p:tav>
                                        <p:tav tm="100000">
                                          <p:val>
                                            <p:strVal val="#ppt_h"/>
                                          </p:val>
                                        </p:tav>
                                      </p:tavLst>
                                    </p:anim>
                                    <p:animEffect transition="in" filter="fade">
                                      <p:cBhvr>
                                        <p:cTn id="26" dur="1000"/>
                                        <p:tgtEl>
                                          <p:spTgt spid="22"/>
                                        </p:tgtEl>
                                      </p:cBhvr>
                                    </p:animEffect>
                                  </p:childTnLst>
                                </p:cTn>
                              </p:par>
                              <p:par>
                                <p:cTn id="27" presetID="50" presetClass="entr" presetSubtype="0" decel="100000" fill="hold" grpId="0" nodeType="withEffect">
                                  <p:stCondLst>
                                    <p:cond delay="0"/>
                                  </p:stCondLst>
                                  <p:childTnLst>
                                    <p:set>
                                      <p:cBhvr>
                                        <p:cTn id="28" dur="1" fill="hold">
                                          <p:stCondLst>
                                            <p:cond delay="0"/>
                                          </p:stCondLst>
                                        </p:cTn>
                                        <p:tgtEl>
                                          <p:spTgt spid="23"/>
                                        </p:tgtEl>
                                        <p:attrNameLst>
                                          <p:attrName>style.visibility</p:attrName>
                                        </p:attrNameLst>
                                      </p:cBhvr>
                                      <p:to>
                                        <p:strVal val="visible"/>
                                      </p:to>
                                    </p:set>
                                    <p:anim calcmode="lin" valueType="num">
                                      <p:cBhvr>
                                        <p:cTn id="29" dur="1000" fill="hold"/>
                                        <p:tgtEl>
                                          <p:spTgt spid="23"/>
                                        </p:tgtEl>
                                        <p:attrNameLst>
                                          <p:attrName>ppt_w</p:attrName>
                                        </p:attrNameLst>
                                      </p:cBhvr>
                                      <p:tavLst>
                                        <p:tav tm="0">
                                          <p:val>
                                            <p:strVal val="#ppt_w+.3"/>
                                          </p:val>
                                        </p:tav>
                                        <p:tav tm="100000">
                                          <p:val>
                                            <p:strVal val="#ppt_w"/>
                                          </p:val>
                                        </p:tav>
                                      </p:tavLst>
                                    </p:anim>
                                    <p:anim calcmode="lin" valueType="num">
                                      <p:cBhvr>
                                        <p:cTn id="30" dur="1000" fill="hold"/>
                                        <p:tgtEl>
                                          <p:spTgt spid="23"/>
                                        </p:tgtEl>
                                        <p:attrNameLst>
                                          <p:attrName>ppt_h</p:attrName>
                                        </p:attrNameLst>
                                      </p:cBhvr>
                                      <p:tavLst>
                                        <p:tav tm="0">
                                          <p:val>
                                            <p:strVal val="#ppt_h"/>
                                          </p:val>
                                        </p:tav>
                                        <p:tav tm="100000">
                                          <p:val>
                                            <p:strVal val="#ppt_h"/>
                                          </p:val>
                                        </p:tav>
                                      </p:tavLst>
                                    </p:anim>
                                    <p:animEffect transition="in" filter="fade">
                                      <p:cBhvr>
                                        <p:cTn id="31" dur="10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animBg="1"/>
      <p:bldP spid="2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Converting ER Model to relational schema</a:t>
            </a:r>
          </a:p>
        </p:txBody>
      </p:sp>
      <p:sp>
        <p:nvSpPr>
          <p:cNvPr id="3" name="Content Placeholder 2"/>
          <p:cNvSpPr>
            <a:spLocks noGrp="1"/>
          </p:cNvSpPr>
          <p:nvPr>
            <p:ph idx="1"/>
          </p:nvPr>
        </p:nvSpPr>
        <p:spPr/>
        <p:txBody>
          <a:bodyPr/>
          <a:lstStyle/>
          <a:p>
            <a:r>
              <a:rPr lang="en-US" b="1" dirty="0">
                <a:solidFill>
                  <a:schemeClr val="tx1"/>
                </a:solidFill>
              </a:rPr>
              <a:t>Rule 4 – Convert binary relationship one to one</a:t>
            </a:r>
            <a:endParaRPr lang="en-US" b="1" dirty="0"/>
          </a:p>
        </p:txBody>
      </p:sp>
      <p:sp>
        <p:nvSpPr>
          <p:cNvPr id="4" name="Slide Number Placeholder 3"/>
          <p:cNvSpPr>
            <a:spLocks noGrp="1"/>
          </p:cNvSpPr>
          <p:nvPr>
            <p:ph type="sldNum" sz="quarter" idx="12"/>
          </p:nvPr>
        </p:nvSpPr>
        <p:spPr/>
        <p:txBody>
          <a:bodyPr/>
          <a:lstStyle/>
          <a:p>
            <a:fld id="{586DAB0F-01A5-4AB0-84E3-BA9DDAF20443}" type="slidenum">
              <a:rPr lang="en-US" smtClean="0"/>
              <a:t>27</a:t>
            </a:fld>
            <a:endParaRPr lang="en-US"/>
          </a:p>
        </p:txBody>
      </p:sp>
      <p:sp>
        <p:nvSpPr>
          <p:cNvPr id="5" name="Footer Placeholder 4"/>
          <p:cNvSpPr>
            <a:spLocks noGrp="1"/>
          </p:cNvSpPr>
          <p:nvPr>
            <p:ph type="ftr" sz="quarter" idx="3"/>
          </p:nvPr>
        </p:nvSpPr>
        <p:spPr/>
        <p:txBody>
          <a:bodyPr/>
          <a:lstStyle/>
          <a:p>
            <a:r>
              <a:rPr lang="en-US"/>
              <a:t>09e-BM/DT/FSOFT - @FPT SOFTWARE - FPT Software Academy - Internal Use</a:t>
            </a:r>
          </a:p>
        </p:txBody>
      </p:sp>
      <p:pic>
        <p:nvPicPr>
          <p:cNvPr id="6" name="Picture 5" descr="FIG5-14A"/>
          <p:cNvPicPr>
            <a:picLocks noChangeAspect="1" noChangeArrowheads="1"/>
          </p:cNvPicPr>
          <p:nvPr/>
        </p:nvPicPr>
        <p:blipFill>
          <a:blip r:embed="rId2"/>
          <a:srcRect/>
          <a:stretch>
            <a:fillRect/>
          </a:stretch>
        </p:blipFill>
        <p:spPr bwMode="auto">
          <a:xfrm>
            <a:off x="3892420" y="1650329"/>
            <a:ext cx="4893270" cy="2676741"/>
          </a:xfrm>
          <a:prstGeom prst="rect">
            <a:avLst/>
          </a:prstGeom>
          <a:noFill/>
          <a:ln w="9525">
            <a:noFill/>
            <a:miter lim="800000"/>
            <a:headEnd/>
            <a:tailEnd/>
          </a:ln>
        </p:spPr>
      </p:pic>
      <p:sp>
        <p:nvSpPr>
          <p:cNvPr id="7" name="Down Arrow 6"/>
          <p:cNvSpPr/>
          <p:nvPr/>
        </p:nvSpPr>
        <p:spPr>
          <a:xfrm>
            <a:off x="6159035" y="4395132"/>
            <a:ext cx="360040" cy="553642"/>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6" descr="06_14b"/>
          <p:cNvPicPr>
            <a:picLocks noChangeAspect="1" noChangeArrowheads="1"/>
          </p:cNvPicPr>
          <p:nvPr/>
        </p:nvPicPr>
        <p:blipFill>
          <a:blip r:embed="rId3"/>
          <a:srcRect/>
          <a:stretch>
            <a:fillRect/>
          </a:stretch>
        </p:blipFill>
        <p:spPr bwMode="auto">
          <a:xfrm>
            <a:off x="3639573" y="4948774"/>
            <a:ext cx="5398963" cy="1318001"/>
          </a:xfrm>
          <a:prstGeom prst="rect">
            <a:avLst/>
          </a:prstGeom>
          <a:noFill/>
          <a:ln w="9525">
            <a:noFill/>
            <a:miter lim="800000"/>
            <a:headEnd/>
            <a:tailEnd/>
          </a:ln>
        </p:spPr>
      </p:pic>
    </p:spTree>
    <p:extLst>
      <p:ext uri="{BB962C8B-B14F-4D97-AF65-F5344CB8AC3E}">
        <p14:creationId xmlns:p14="http://schemas.microsoft.com/office/powerpoint/2010/main" val="3960411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strVal val="#ppt_w+.3"/>
                                          </p:val>
                                        </p:tav>
                                        <p:tav tm="100000">
                                          <p:val>
                                            <p:strVal val="#ppt_w"/>
                                          </p:val>
                                        </p:tav>
                                      </p:tavLst>
                                    </p:anim>
                                    <p:anim calcmode="lin" valueType="num">
                                      <p:cBhvr>
                                        <p:cTn id="8" dur="1000" fill="hold"/>
                                        <p:tgtEl>
                                          <p:spTgt spid="6"/>
                                        </p:tgtEl>
                                        <p:attrNameLst>
                                          <p:attrName>ppt_h</p:attrName>
                                        </p:attrNameLst>
                                      </p:cBhvr>
                                      <p:tavLst>
                                        <p:tav tm="0">
                                          <p:val>
                                            <p:strVal val="#ppt_h"/>
                                          </p:val>
                                        </p:tav>
                                        <p:tav tm="100000">
                                          <p:val>
                                            <p:strVal val="#ppt_h"/>
                                          </p:val>
                                        </p:tav>
                                      </p:tavLst>
                                    </p:anim>
                                    <p:animEffect transition="in" filter="fade">
                                      <p:cBhvr>
                                        <p:cTn id="9" dur="1000"/>
                                        <p:tgtEl>
                                          <p:spTgt spid="6"/>
                                        </p:tgtEl>
                                      </p:cBhvr>
                                    </p:animEffect>
                                  </p:childTnLst>
                                </p:cTn>
                              </p:par>
                            </p:childTnLst>
                          </p:cTn>
                        </p:par>
                      </p:childTnLst>
                    </p:cTn>
                  </p:par>
                  <p:par>
                    <p:cTn id="10" fill="hold">
                      <p:stCondLst>
                        <p:cond delay="indefinite"/>
                      </p:stCondLst>
                      <p:childTnLst>
                        <p:par>
                          <p:cTn id="11" fill="hold">
                            <p:stCondLst>
                              <p:cond delay="0"/>
                            </p:stCondLst>
                            <p:childTnLst>
                              <p:par>
                                <p:cTn id="12" presetID="50" presetClass="entr" presetSubtype="0" decel="10000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p:cTn id="14" dur="1000" fill="hold"/>
                                        <p:tgtEl>
                                          <p:spTgt spid="7"/>
                                        </p:tgtEl>
                                        <p:attrNameLst>
                                          <p:attrName>ppt_w</p:attrName>
                                        </p:attrNameLst>
                                      </p:cBhvr>
                                      <p:tavLst>
                                        <p:tav tm="0">
                                          <p:val>
                                            <p:strVal val="#ppt_w+.3"/>
                                          </p:val>
                                        </p:tav>
                                        <p:tav tm="100000">
                                          <p:val>
                                            <p:strVal val="#ppt_w"/>
                                          </p:val>
                                        </p:tav>
                                      </p:tavLst>
                                    </p:anim>
                                    <p:anim calcmode="lin" valueType="num">
                                      <p:cBhvr>
                                        <p:cTn id="15" dur="1000" fill="hold"/>
                                        <p:tgtEl>
                                          <p:spTgt spid="7"/>
                                        </p:tgtEl>
                                        <p:attrNameLst>
                                          <p:attrName>ppt_h</p:attrName>
                                        </p:attrNameLst>
                                      </p:cBhvr>
                                      <p:tavLst>
                                        <p:tav tm="0">
                                          <p:val>
                                            <p:strVal val="#ppt_h"/>
                                          </p:val>
                                        </p:tav>
                                        <p:tav tm="100000">
                                          <p:val>
                                            <p:strVal val="#ppt_h"/>
                                          </p:val>
                                        </p:tav>
                                      </p:tavLst>
                                    </p:anim>
                                    <p:animEffect transition="in" filter="fade">
                                      <p:cBhvr>
                                        <p:cTn id="16" dur="1000"/>
                                        <p:tgtEl>
                                          <p:spTgt spid="7"/>
                                        </p:tgtEl>
                                      </p:cBhvr>
                                    </p:animEffect>
                                  </p:childTnLst>
                                </p:cTn>
                              </p:par>
                              <p:par>
                                <p:cTn id="17" presetID="50" presetClass="entr" presetSubtype="0" decel="10000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p:cTn id="19" dur="1000" fill="hold"/>
                                        <p:tgtEl>
                                          <p:spTgt spid="8"/>
                                        </p:tgtEl>
                                        <p:attrNameLst>
                                          <p:attrName>ppt_w</p:attrName>
                                        </p:attrNameLst>
                                      </p:cBhvr>
                                      <p:tavLst>
                                        <p:tav tm="0">
                                          <p:val>
                                            <p:strVal val="#ppt_w+.3"/>
                                          </p:val>
                                        </p:tav>
                                        <p:tav tm="100000">
                                          <p:val>
                                            <p:strVal val="#ppt_w"/>
                                          </p:val>
                                        </p:tav>
                                      </p:tavLst>
                                    </p:anim>
                                    <p:anim calcmode="lin" valueType="num">
                                      <p:cBhvr>
                                        <p:cTn id="20" dur="1000" fill="hold"/>
                                        <p:tgtEl>
                                          <p:spTgt spid="8"/>
                                        </p:tgtEl>
                                        <p:attrNameLst>
                                          <p:attrName>ppt_h</p:attrName>
                                        </p:attrNameLst>
                                      </p:cBhvr>
                                      <p:tavLst>
                                        <p:tav tm="0">
                                          <p:val>
                                            <p:strVal val="#ppt_h"/>
                                          </p:val>
                                        </p:tav>
                                        <p:tav tm="100000">
                                          <p:val>
                                            <p:strVal val="#ppt_h"/>
                                          </p:val>
                                        </p:tav>
                                      </p:tavLst>
                                    </p:anim>
                                    <p:animEffect transition="in" filter="fade">
                                      <p:cBhvr>
                                        <p:cTn id="21"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Converting ER Model to relational schema</a:t>
            </a:r>
          </a:p>
        </p:txBody>
      </p:sp>
      <p:sp>
        <p:nvSpPr>
          <p:cNvPr id="3" name="Content Placeholder 2"/>
          <p:cNvSpPr>
            <a:spLocks noGrp="1"/>
          </p:cNvSpPr>
          <p:nvPr>
            <p:ph idx="1"/>
          </p:nvPr>
        </p:nvSpPr>
        <p:spPr/>
        <p:txBody>
          <a:bodyPr/>
          <a:lstStyle/>
          <a:p>
            <a:r>
              <a:rPr lang="en-US" b="1" dirty="0">
                <a:solidFill>
                  <a:schemeClr val="tx1"/>
                </a:solidFill>
              </a:rPr>
              <a:t>Rule 5 – Convert Unary relationship one to many</a:t>
            </a:r>
            <a:endParaRPr lang="en-US" b="1" dirty="0"/>
          </a:p>
        </p:txBody>
      </p:sp>
      <p:sp>
        <p:nvSpPr>
          <p:cNvPr id="4" name="Slide Number Placeholder 3"/>
          <p:cNvSpPr>
            <a:spLocks noGrp="1"/>
          </p:cNvSpPr>
          <p:nvPr>
            <p:ph type="sldNum" sz="quarter" idx="12"/>
          </p:nvPr>
        </p:nvSpPr>
        <p:spPr/>
        <p:txBody>
          <a:bodyPr/>
          <a:lstStyle/>
          <a:p>
            <a:fld id="{586DAB0F-01A5-4AB0-84E3-BA9DDAF20443}" type="slidenum">
              <a:rPr lang="en-US" smtClean="0"/>
              <a:t>28</a:t>
            </a:fld>
            <a:endParaRPr lang="en-US"/>
          </a:p>
        </p:txBody>
      </p:sp>
      <p:sp>
        <p:nvSpPr>
          <p:cNvPr id="5" name="Footer Placeholder 4"/>
          <p:cNvSpPr>
            <a:spLocks noGrp="1"/>
          </p:cNvSpPr>
          <p:nvPr>
            <p:ph type="ftr" sz="quarter" idx="3"/>
          </p:nvPr>
        </p:nvSpPr>
        <p:spPr/>
        <p:txBody>
          <a:bodyPr/>
          <a:lstStyle/>
          <a:p>
            <a:r>
              <a:rPr lang="en-US"/>
              <a:t>09e-BM/DT/FSOFT - @FPT SOFTWARE - FPT Software Academy - Internal Use</a:t>
            </a:r>
          </a:p>
        </p:txBody>
      </p:sp>
      <p:pic>
        <p:nvPicPr>
          <p:cNvPr id="6" name="Picture 5" descr="FIG5-17A"/>
          <p:cNvPicPr>
            <a:picLocks noChangeAspect="1" noChangeArrowheads="1"/>
          </p:cNvPicPr>
          <p:nvPr/>
        </p:nvPicPr>
        <p:blipFill>
          <a:blip r:embed="rId2"/>
          <a:srcRect/>
          <a:stretch>
            <a:fillRect/>
          </a:stretch>
        </p:blipFill>
        <p:spPr bwMode="auto">
          <a:xfrm>
            <a:off x="3804722" y="1658876"/>
            <a:ext cx="4479851" cy="2717181"/>
          </a:xfrm>
          <a:prstGeom prst="rect">
            <a:avLst/>
          </a:prstGeom>
          <a:noFill/>
          <a:ln w="9525">
            <a:noFill/>
            <a:miter lim="800000"/>
            <a:headEnd/>
            <a:tailEnd/>
          </a:ln>
        </p:spPr>
      </p:pic>
      <p:sp>
        <p:nvSpPr>
          <p:cNvPr id="7" name="Text Box 8"/>
          <p:cNvSpPr txBox="1">
            <a:spLocks noChangeArrowheads="1"/>
          </p:cNvSpPr>
          <p:nvPr/>
        </p:nvSpPr>
        <p:spPr bwMode="auto">
          <a:xfrm>
            <a:off x="4028026" y="4477747"/>
            <a:ext cx="4033242" cy="307777"/>
          </a:xfrm>
          <a:prstGeom prst="rect">
            <a:avLst/>
          </a:prstGeom>
          <a:noFill/>
          <a:ln w="28575">
            <a:noFill/>
            <a:miter lim="800000"/>
            <a:headEnd/>
            <a:tailEnd/>
          </a:ln>
        </p:spPr>
        <p:txBody>
          <a:bodyPr wrap="square">
            <a:spAutoFit/>
          </a:bodyPr>
          <a:lstStyle/>
          <a:p>
            <a:pPr algn="ctr"/>
            <a:r>
              <a:rPr lang="en-US" sz="1400" dirty="0">
                <a:solidFill>
                  <a:srgbClr val="FF0000"/>
                </a:solidFill>
              </a:rPr>
              <a:t>EMPLOYEE entity with Manages relationship</a:t>
            </a:r>
          </a:p>
        </p:txBody>
      </p:sp>
      <p:sp>
        <p:nvSpPr>
          <p:cNvPr id="8" name="Down Arrow 7"/>
          <p:cNvSpPr/>
          <p:nvPr/>
        </p:nvSpPr>
        <p:spPr>
          <a:xfrm>
            <a:off x="5883064" y="4785524"/>
            <a:ext cx="323165" cy="537791"/>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6" descr="FIG5-17B"/>
          <p:cNvPicPr>
            <a:picLocks noChangeAspect="1" noChangeArrowheads="1"/>
          </p:cNvPicPr>
          <p:nvPr/>
        </p:nvPicPr>
        <p:blipFill rotWithShape="1">
          <a:blip r:embed="rId3"/>
          <a:srcRect l="8888" t="13152" r="9445" b="9968"/>
          <a:stretch/>
        </p:blipFill>
        <p:spPr bwMode="auto">
          <a:xfrm>
            <a:off x="3804722" y="5323315"/>
            <a:ext cx="4665170" cy="747956"/>
          </a:xfrm>
          <a:prstGeom prst="rect">
            <a:avLst/>
          </a:prstGeom>
          <a:noFill/>
          <a:ln w="9525">
            <a:noFill/>
            <a:miter lim="800000"/>
            <a:headEnd/>
            <a:tailEnd/>
          </a:ln>
        </p:spPr>
      </p:pic>
      <p:sp>
        <p:nvSpPr>
          <p:cNvPr id="10" name="Text Box 7"/>
          <p:cNvSpPr txBox="1">
            <a:spLocks noChangeArrowheads="1"/>
          </p:cNvSpPr>
          <p:nvPr/>
        </p:nvSpPr>
        <p:spPr bwMode="auto">
          <a:xfrm>
            <a:off x="3897788" y="6046585"/>
            <a:ext cx="4293716" cy="307777"/>
          </a:xfrm>
          <a:prstGeom prst="rect">
            <a:avLst/>
          </a:prstGeom>
          <a:noFill/>
          <a:ln w="28575">
            <a:noFill/>
            <a:miter lim="800000"/>
            <a:headEnd/>
            <a:tailEnd/>
          </a:ln>
        </p:spPr>
        <p:txBody>
          <a:bodyPr wrap="square">
            <a:spAutoFit/>
          </a:bodyPr>
          <a:lstStyle/>
          <a:p>
            <a:pPr algn="ctr"/>
            <a:r>
              <a:rPr lang="en-US" sz="1400" dirty="0">
                <a:solidFill>
                  <a:srgbClr val="FF0000"/>
                </a:solidFill>
              </a:rPr>
              <a:t>EMPLOYEE relation with recursive foreign key</a:t>
            </a:r>
          </a:p>
        </p:txBody>
      </p:sp>
    </p:spTree>
    <p:extLst>
      <p:ext uri="{BB962C8B-B14F-4D97-AF65-F5344CB8AC3E}">
        <p14:creationId xmlns:p14="http://schemas.microsoft.com/office/powerpoint/2010/main" val="6880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strVal val="#ppt_w+.3"/>
                                          </p:val>
                                        </p:tav>
                                        <p:tav tm="100000">
                                          <p:val>
                                            <p:strVal val="#ppt_w"/>
                                          </p:val>
                                        </p:tav>
                                      </p:tavLst>
                                    </p:anim>
                                    <p:anim calcmode="lin" valueType="num">
                                      <p:cBhvr>
                                        <p:cTn id="8" dur="1000" fill="hold"/>
                                        <p:tgtEl>
                                          <p:spTgt spid="6"/>
                                        </p:tgtEl>
                                        <p:attrNameLst>
                                          <p:attrName>ppt_h</p:attrName>
                                        </p:attrNameLst>
                                      </p:cBhvr>
                                      <p:tavLst>
                                        <p:tav tm="0">
                                          <p:val>
                                            <p:strVal val="#ppt_h"/>
                                          </p:val>
                                        </p:tav>
                                        <p:tav tm="100000">
                                          <p:val>
                                            <p:strVal val="#ppt_h"/>
                                          </p:val>
                                        </p:tav>
                                      </p:tavLst>
                                    </p:anim>
                                    <p:animEffect transition="in" filter="fade">
                                      <p:cBhvr>
                                        <p:cTn id="9" dur="1000"/>
                                        <p:tgtEl>
                                          <p:spTgt spid="6"/>
                                        </p:tgtEl>
                                      </p:cBhvr>
                                    </p:animEffect>
                                  </p:childTnLst>
                                </p:cTn>
                              </p:par>
                              <p:par>
                                <p:cTn id="10" presetID="50" presetClass="entr" presetSubtype="0" decel="10000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1000" fill="hold"/>
                                        <p:tgtEl>
                                          <p:spTgt spid="7"/>
                                        </p:tgtEl>
                                        <p:attrNameLst>
                                          <p:attrName>ppt_w</p:attrName>
                                        </p:attrNameLst>
                                      </p:cBhvr>
                                      <p:tavLst>
                                        <p:tav tm="0">
                                          <p:val>
                                            <p:strVal val="#ppt_w+.3"/>
                                          </p:val>
                                        </p:tav>
                                        <p:tav tm="100000">
                                          <p:val>
                                            <p:strVal val="#ppt_w"/>
                                          </p:val>
                                        </p:tav>
                                      </p:tavLst>
                                    </p:anim>
                                    <p:anim calcmode="lin" valueType="num">
                                      <p:cBhvr>
                                        <p:cTn id="13" dur="1000" fill="hold"/>
                                        <p:tgtEl>
                                          <p:spTgt spid="7"/>
                                        </p:tgtEl>
                                        <p:attrNameLst>
                                          <p:attrName>ppt_h</p:attrName>
                                        </p:attrNameLst>
                                      </p:cBhvr>
                                      <p:tavLst>
                                        <p:tav tm="0">
                                          <p:val>
                                            <p:strVal val="#ppt_h"/>
                                          </p:val>
                                        </p:tav>
                                        <p:tav tm="100000">
                                          <p:val>
                                            <p:strVal val="#ppt_h"/>
                                          </p:val>
                                        </p:tav>
                                      </p:tavLst>
                                    </p:anim>
                                    <p:animEffect transition="in" filter="fade">
                                      <p:cBhvr>
                                        <p:cTn id="14" dur="1000"/>
                                        <p:tgtEl>
                                          <p:spTgt spid="7"/>
                                        </p:tgtEl>
                                      </p:cBhvr>
                                    </p:animEffect>
                                  </p:childTnLst>
                                </p:cTn>
                              </p:par>
                            </p:childTnLst>
                          </p:cTn>
                        </p:par>
                      </p:childTnLst>
                    </p:cTn>
                  </p:par>
                  <p:par>
                    <p:cTn id="15" fill="hold">
                      <p:stCondLst>
                        <p:cond delay="indefinite"/>
                      </p:stCondLst>
                      <p:childTnLst>
                        <p:par>
                          <p:cTn id="16" fill="hold">
                            <p:stCondLst>
                              <p:cond delay="0"/>
                            </p:stCondLst>
                            <p:childTnLst>
                              <p:par>
                                <p:cTn id="17" presetID="50" presetClass="entr" presetSubtype="0" decel="10000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p:cTn id="19" dur="1000" fill="hold"/>
                                        <p:tgtEl>
                                          <p:spTgt spid="8"/>
                                        </p:tgtEl>
                                        <p:attrNameLst>
                                          <p:attrName>ppt_w</p:attrName>
                                        </p:attrNameLst>
                                      </p:cBhvr>
                                      <p:tavLst>
                                        <p:tav tm="0">
                                          <p:val>
                                            <p:strVal val="#ppt_w+.3"/>
                                          </p:val>
                                        </p:tav>
                                        <p:tav tm="100000">
                                          <p:val>
                                            <p:strVal val="#ppt_w"/>
                                          </p:val>
                                        </p:tav>
                                      </p:tavLst>
                                    </p:anim>
                                    <p:anim calcmode="lin" valueType="num">
                                      <p:cBhvr>
                                        <p:cTn id="20" dur="1000" fill="hold"/>
                                        <p:tgtEl>
                                          <p:spTgt spid="8"/>
                                        </p:tgtEl>
                                        <p:attrNameLst>
                                          <p:attrName>ppt_h</p:attrName>
                                        </p:attrNameLst>
                                      </p:cBhvr>
                                      <p:tavLst>
                                        <p:tav tm="0">
                                          <p:val>
                                            <p:strVal val="#ppt_h"/>
                                          </p:val>
                                        </p:tav>
                                        <p:tav tm="100000">
                                          <p:val>
                                            <p:strVal val="#ppt_h"/>
                                          </p:val>
                                        </p:tav>
                                      </p:tavLst>
                                    </p:anim>
                                    <p:animEffect transition="in" filter="fade">
                                      <p:cBhvr>
                                        <p:cTn id="21" dur="1000"/>
                                        <p:tgtEl>
                                          <p:spTgt spid="8"/>
                                        </p:tgtEl>
                                      </p:cBhvr>
                                    </p:animEffect>
                                  </p:childTnLst>
                                </p:cTn>
                              </p:par>
                              <p:par>
                                <p:cTn id="22" presetID="50" presetClass="entr" presetSubtype="0" decel="100000" fill="hold" nodeType="withEffect">
                                  <p:stCondLst>
                                    <p:cond delay="0"/>
                                  </p:stCondLst>
                                  <p:childTnLst>
                                    <p:set>
                                      <p:cBhvr>
                                        <p:cTn id="23" dur="1" fill="hold">
                                          <p:stCondLst>
                                            <p:cond delay="0"/>
                                          </p:stCondLst>
                                        </p:cTn>
                                        <p:tgtEl>
                                          <p:spTgt spid="9"/>
                                        </p:tgtEl>
                                        <p:attrNameLst>
                                          <p:attrName>style.visibility</p:attrName>
                                        </p:attrNameLst>
                                      </p:cBhvr>
                                      <p:to>
                                        <p:strVal val="visible"/>
                                      </p:to>
                                    </p:set>
                                    <p:anim calcmode="lin" valueType="num">
                                      <p:cBhvr>
                                        <p:cTn id="24" dur="1000" fill="hold"/>
                                        <p:tgtEl>
                                          <p:spTgt spid="9"/>
                                        </p:tgtEl>
                                        <p:attrNameLst>
                                          <p:attrName>ppt_w</p:attrName>
                                        </p:attrNameLst>
                                      </p:cBhvr>
                                      <p:tavLst>
                                        <p:tav tm="0">
                                          <p:val>
                                            <p:strVal val="#ppt_w+.3"/>
                                          </p:val>
                                        </p:tav>
                                        <p:tav tm="100000">
                                          <p:val>
                                            <p:strVal val="#ppt_w"/>
                                          </p:val>
                                        </p:tav>
                                      </p:tavLst>
                                    </p:anim>
                                    <p:anim calcmode="lin" valueType="num">
                                      <p:cBhvr>
                                        <p:cTn id="25" dur="1000" fill="hold"/>
                                        <p:tgtEl>
                                          <p:spTgt spid="9"/>
                                        </p:tgtEl>
                                        <p:attrNameLst>
                                          <p:attrName>ppt_h</p:attrName>
                                        </p:attrNameLst>
                                      </p:cBhvr>
                                      <p:tavLst>
                                        <p:tav tm="0">
                                          <p:val>
                                            <p:strVal val="#ppt_h"/>
                                          </p:val>
                                        </p:tav>
                                        <p:tav tm="100000">
                                          <p:val>
                                            <p:strVal val="#ppt_h"/>
                                          </p:val>
                                        </p:tav>
                                      </p:tavLst>
                                    </p:anim>
                                    <p:animEffect transition="in" filter="fade">
                                      <p:cBhvr>
                                        <p:cTn id="26" dur="1000"/>
                                        <p:tgtEl>
                                          <p:spTgt spid="9"/>
                                        </p:tgtEl>
                                      </p:cBhvr>
                                    </p:animEffect>
                                  </p:childTnLst>
                                </p:cTn>
                              </p:par>
                              <p:par>
                                <p:cTn id="27" presetID="50" presetClass="entr" presetSubtype="0" decel="10000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anim calcmode="lin" valueType="num">
                                      <p:cBhvr>
                                        <p:cTn id="29" dur="1000" fill="hold"/>
                                        <p:tgtEl>
                                          <p:spTgt spid="10"/>
                                        </p:tgtEl>
                                        <p:attrNameLst>
                                          <p:attrName>ppt_w</p:attrName>
                                        </p:attrNameLst>
                                      </p:cBhvr>
                                      <p:tavLst>
                                        <p:tav tm="0">
                                          <p:val>
                                            <p:strVal val="#ppt_w+.3"/>
                                          </p:val>
                                        </p:tav>
                                        <p:tav tm="100000">
                                          <p:val>
                                            <p:strVal val="#ppt_w"/>
                                          </p:val>
                                        </p:tav>
                                      </p:tavLst>
                                    </p:anim>
                                    <p:anim calcmode="lin" valueType="num">
                                      <p:cBhvr>
                                        <p:cTn id="30" dur="1000" fill="hold"/>
                                        <p:tgtEl>
                                          <p:spTgt spid="10"/>
                                        </p:tgtEl>
                                        <p:attrNameLst>
                                          <p:attrName>ppt_h</p:attrName>
                                        </p:attrNameLst>
                                      </p:cBhvr>
                                      <p:tavLst>
                                        <p:tav tm="0">
                                          <p:val>
                                            <p:strVal val="#ppt_h"/>
                                          </p:val>
                                        </p:tav>
                                        <p:tav tm="100000">
                                          <p:val>
                                            <p:strVal val="#ppt_h"/>
                                          </p:val>
                                        </p:tav>
                                      </p:tavLst>
                                    </p:anim>
                                    <p:animEffect transition="in" filter="fade">
                                      <p:cBhvr>
                                        <p:cTn id="31"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10"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Converting ER Model to relational schema</a:t>
            </a:r>
          </a:p>
        </p:txBody>
      </p:sp>
      <p:sp>
        <p:nvSpPr>
          <p:cNvPr id="3" name="Content Placeholder 2"/>
          <p:cNvSpPr>
            <a:spLocks noGrp="1"/>
          </p:cNvSpPr>
          <p:nvPr>
            <p:ph idx="1"/>
          </p:nvPr>
        </p:nvSpPr>
        <p:spPr/>
        <p:txBody>
          <a:bodyPr/>
          <a:lstStyle/>
          <a:p>
            <a:r>
              <a:rPr lang="en-US" b="1" dirty="0">
                <a:solidFill>
                  <a:schemeClr val="tx1"/>
                </a:solidFill>
              </a:rPr>
              <a:t>Rule 6 – Convert Binary relationship one to many</a:t>
            </a:r>
            <a:endParaRPr lang="en-US" b="1" dirty="0"/>
          </a:p>
        </p:txBody>
      </p:sp>
      <p:sp>
        <p:nvSpPr>
          <p:cNvPr id="4" name="Slide Number Placeholder 3"/>
          <p:cNvSpPr>
            <a:spLocks noGrp="1"/>
          </p:cNvSpPr>
          <p:nvPr>
            <p:ph type="sldNum" sz="quarter" idx="12"/>
          </p:nvPr>
        </p:nvSpPr>
        <p:spPr/>
        <p:txBody>
          <a:bodyPr/>
          <a:lstStyle/>
          <a:p>
            <a:fld id="{586DAB0F-01A5-4AB0-84E3-BA9DDAF20443}" type="slidenum">
              <a:rPr lang="en-US" smtClean="0"/>
              <a:t>29</a:t>
            </a:fld>
            <a:endParaRPr lang="en-US"/>
          </a:p>
        </p:txBody>
      </p:sp>
      <p:sp>
        <p:nvSpPr>
          <p:cNvPr id="5" name="Footer Placeholder 4"/>
          <p:cNvSpPr>
            <a:spLocks noGrp="1"/>
          </p:cNvSpPr>
          <p:nvPr>
            <p:ph type="ftr" sz="quarter" idx="3"/>
          </p:nvPr>
        </p:nvSpPr>
        <p:spPr/>
        <p:txBody>
          <a:bodyPr/>
          <a:lstStyle/>
          <a:p>
            <a:r>
              <a:rPr lang="en-US"/>
              <a:t>09e-BM/DT/FSOFT - @FPT SOFTWARE - FPT Software Academy - Internal Use</a:t>
            </a:r>
          </a:p>
        </p:txBody>
      </p:sp>
      <p:pic>
        <p:nvPicPr>
          <p:cNvPr id="6" name="Picture 5" descr="06_12a"/>
          <p:cNvPicPr>
            <a:picLocks noChangeAspect="1" noChangeArrowheads="1"/>
          </p:cNvPicPr>
          <p:nvPr/>
        </p:nvPicPr>
        <p:blipFill>
          <a:blip r:embed="rId2"/>
          <a:srcRect/>
          <a:stretch>
            <a:fillRect/>
          </a:stretch>
        </p:blipFill>
        <p:spPr bwMode="auto">
          <a:xfrm>
            <a:off x="3915130" y="1665957"/>
            <a:ext cx="4259036" cy="2227588"/>
          </a:xfrm>
          <a:prstGeom prst="rect">
            <a:avLst/>
          </a:prstGeom>
          <a:noFill/>
          <a:ln w="9525">
            <a:noFill/>
            <a:miter lim="800000"/>
            <a:headEnd/>
            <a:tailEnd/>
          </a:ln>
        </p:spPr>
      </p:pic>
      <p:sp>
        <p:nvSpPr>
          <p:cNvPr id="7" name="Text Box 7"/>
          <p:cNvSpPr txBox="1">
            <a:spLocks noChangeArrowheads="1"/>
          </p:cNvSpPr>
          <p:nvPr/>
        </p:nvSpPr>
        <p:spPr bwMode="auto">
          <a:xfrm>
            <a:off x="5089139" y="3897641"/>
            <a:ext cx="2324100" cy="304800"/>
          </a:xfrm>
          <a:prstGeom prst="rect">
            <a:avLst/>
          </a:prstGeom>
          <a:noFill/>
          <a:ln w="9525">
            <a:noFill/>
            <a:miter lim="800000"/>
            <a:headEnd/>
            <a:tailEnd/>
          </a:ln>
        </p:spPr>
        <p:txBody>
          <a:bodyPr>
            <a:spAutoFit/>
          </a:bodyPr>
          <a:lstStyle/>
          <a:p>
            <a:pPr eaLnBrk="0" hangingPunct="0"/>
            <a:r>
              <a:rPr lang="en-US" sz="1400" dirty="0">
                <a:solidFill>
                  <a:srgbClr val="FF0000"/>
                </a:solidFill>
              </a:rPr>
              <a:t>Note the mandatory one</a:t>
            </a:r>
          </a:p>
        </p:txBody>
      </p:sp>
      <p:pic>
        <p:nvPicPr>
          <p:cNvPr id="8" name="Picture 6" descr="06_12b"/>
          <p:cNvPicPr>
            <a:picLocks noChangeAspect="1" noChangeArrowheads="1"/>
          </p:cNvPicPr>
          <p:nvPr/>
        </p:nvPicPr>
        <p:blipFill>
          <a:blip r:embed="rId3"/>
          <a:srcRect/>
          <a:stretch>
            <a:fillRect/>
          </a:stretch>
        </p:blipFill>
        <p:spPr bwMode="auto">
          <a:xfrm>
            <a:off x="3532089" y="4509575"/>
            <a:ext cx="5025118" cy="1347194"/>
          </a:xfrm>
          <a:prstGeom prst="rect">
            <a:avLst/>
          </a:prstGeom>
          <a:noFill/>
          <a:ln w="9525">
            <a:noFill/>
            <a:miter lim="800000"/>
            <a:headEnd/>
            <a:tailEnd/>
          </a:ln>
        </p:spPr>
      </p:pic>
      <p:sp>
        <p:nvSpPr>
          <p:cNvPr id="9" name="Down Arrow 8"/>
          <p:cNvSpPr/>
          <p:nvPr/>
        </p:nvSpPr>
        <p:spPr>
          <a:xfrm>
            <a:off x="5929290" y="4226226"/>
            <a:ext cx="230716" cy="233383"/>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 Box 9"/>
          <p:cNvSpPr txBox="1">
            <a:spLocks noChangeArrowheads="1"/>
          </p:cNvSpPr>
          <p:nvPr/>
        </p:nvSpPr>
        <p:spPr bwMode="auto">
          <a:xfrm>
            <a:off x="1984741" y="5934375"/>
            <a:ext cx="8119814" cy="307777"/>
          </a:xfrm>
          <a:prstGeom prst="rect">
            <a:avLst/>
          </a:prstGeom>
          <a:noFill/>
          <a:ln w="9525">
            <a:noFill/>
            <a:miter lim="800000"/>
            <a:headEnd/>
            <a:tailEnd/>
          </a:ln>
        </p:spPr>
        <p:txBody>
          <a:bodyPr wrap="square">
            <a:spAutoFit/>
          </a:bodyPr>
          <a:lstStyle/>
          <a:p>
            <a:pPr algn="ctr" eaLnBrk="0" hangingPunct="0"/>
            <a:r>
              <a:rPr lang="en-US" sz="1400" dirty="0">
                <a:solidFill>
                  <a:srgbClr val="FF0000"/>
                </a:solidFill>
              </a:rPr>
              <a:t>Again, no null value in the foreign key…this is because of the mandatory minimum cardinality</a:t>
            </a:r>
          </a:p>
        </p:txBody>
      </p:sp>
    </p:spTree>
    <p:extLst>
      <p:ext uri="{BB962C8B-B14F-4D97-AF65-F5344CB8AC3E}">
        <p14:creationId xmlns:p14="http://schemas.microsoft.com/office/powerpoint/2010/main" val="1280652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strVal val="#ppt_w+.3"/>
                                          </p:val>
                                        </p:tav>
                                        <p:tav tm="100000">
                                          <p:val>
                                            <p:strVal val="#ppt_w"/>
                                          </p:val>
                                        </p:tav>
                                      </p:tavLst>
                                    </p:anim>
                                    <p:anim calcmode="lin" valueType="num">
                                      <p:cBhvr>
                                        <p:cTn id="8" dur="1000" fill="hold"/>
                                        <p:tgtEl>
                                          <p:spTgt spid="6"/>
                                        </p:tgtEl>
                                        <p:attrNameLst>
                                          <p:attrName>ppt_h</p:attrName>
                                        </p:attrNameLst>
                                      </p:cBhvr>
                                      <p:tavLst>
                                        <p:tav tm="0">
                                          <p:val>
                                            <p:strVal val="#ppt_h"/>
                                          </p:val>
                                        </p:tav>
                                        <p:tav tm="100000">
                                          <p:val>
                                            <p:strVal val="#ppt_h"/>
                                          </p:val>
                                        </p:tav>
                                      </p:tavLst>
                                    </p:anim>
                                    <p:animEffect transition="in" filter="fade">
                                      <p:cBhvr>
                                        <p:cTn id="9" dur="1000"/>
                                        <p:tgtEl>
                                          <p:spTgt spid="6"/>
                                        </p:tgtEl>
                                      </p:cBhvr>
                                    </p:animEffect>
                                  </p:childTnLst>
                                </p:cTn>
                              </p:par>
                              <p:par>
                                <p:cTn id="10" presetID="50" presetClass="entr" presetSubtype="0" decel="10000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1000" fill="hold"/>
                                        <p:tgtEl>
                                          <p:spTgt spid="7"/>
                                        </p:tgtEl>
                                        <p:attrNameLst>
                                          <p:attrName>ppt_w</p:attrName>
                                        </p:attrNameLst>
                                      </p:cBhvr>
                                      <p:tavLst>
                                        <p:tav tm="0">
                                          <p:val>
                                            <p:strVal val="#ppt_w+.3"/>
                                          </p:val>
                                        </p:tav>
                                        <p:tav tm="100000">
                                          <p:val>
                                            <p:strVal val="#ppt_w"/>
                                          </p:val>
                                        </p:tav>
                                      </p:tavLst>
                                    </p:anim>
                                    <p:anim calcmode="lin" valueType="num">
                                      <p:cBhvr>
                                        <p:cTn id="13" dur="1000" fill="hold"/>
                                        <p:tgtEl>
                                          <p:spTgt spid="7"/>
                                        </p:tgtEl>
                                        <p:attrNameLst>
                                          <p:attrName>ppt_h</p:attrName>
                                        </p:attrNameLst>
                                      </p:cBhvr>
                                      <p:tavLst>
                                        <p:tav tm="0">
                                          <p:val>
                                            <p:strVal val="#ppt_h"/>
                                          </p:val>
                                        </p:tav>
                                        <p:tav tm="100000">
                                          <p:val>
                                            <p:strVal val="#ppt_h"/>
                                          </p:val>
                                        </p:tav>
                                      </p:tavLst>
                                    </p:anim>
                                    <p:animEffect transition="in" filter="fade">
                                      <p:cBhvr>
                                        <p:cTn id="14" dur="1000"/>
                                        <p:tgtEl>
                                          <p:spTgt spid="7"/>
                                        </p:tgtEl>
                                      </p:cBhvr>
                                    </p:animEffect>
                                  </p:childTnLst>
                                </p:cTn>
                              </p:par>
                            </p:childTnLst>
                          </p:cTn>
                        </p:par>
                      </p:childTnLst>
                    </p:cTn>
                  </p:par>
                  <p:par>
                    <p:cTn id="15" fill="hold">
                      <p:stCondLst>
                        <p:cond delay="indefinite"/>
                      </p:stCondLst>
                      <p:childTnLst>
                        <p:par>
                          <p:cTn id="16" fill="hold">
                            <p:stCondLst>
                              <p:cond delay="0"/>
                            </p:stCondLst>
                            <p:childTnLst>
                              <p:par>
                                <p:cTn id="17" presetID="50" presetClass="entr" presetSubtype="0" decel="10000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p:cTn id="19" dur="1000" fill="hold"/>
                                        <p:tgtEl>
                                          <p:spTgt spid="8"/>
                                        </p:tgtEl>
                                        <p:attrNameLst>
                                          <p:attrName>ppt_w</p:attrName>
                                        </p:attrNameLst>
                                      </p:cBhvr>
                                      <p:tavLst>
                                        <p:tav tm="0">
                                          <p:val>
                                            <p:strVal val="#ppt_w+.3"/>
                                          </p:val>
                                        </p:tav>
                                        <p:tav tm="100000">
                                          <p:val>
                                            <p:strVal val="#ppt_w"/>
                                          </p:val>
                                        </p:tav>
                                      </p:tavLst>
                                    </p:anim>
                                    <p:anim calcmode="lin" valueType="num">
                                      <p:cBhvr>
                                        <p:cTn id="20" dur="1000" fill="hold"/>
                                        <p:tgtEl>
                                          <p:spTgt spid="8"/>
                                        </p:tgtEl>
                                        <p:attrNameLst>
                                          <p:attrName>ppt_h</p:attrName>
                                        </p:attrNameLst>
                                      </p:cBhvr>
                                      <p:tavLst>
                                        <p:tav tm="0">
                                          <p:val>
                                            <p:strVal val="#ppt_h"/>
                                          </p:val>
                                        </p:tav>
                                        <p:tav tm="100000">
                                          <p:val>
                                            <p:strVal val="#ppt_h"/>
                                          </p:val>
                                        </p:tav>
                                      </p:tavLst>
                                    </p:anim>
                                    <p:animEffect transition="in" filter="fade">
                                      <p:cBhvr>
                                        <p:cTn id="21" dur="1000"/>
                                        <p:tgtEl>
                                          <p:spTgt spid="8"/>
                                        </p:tgtEl>
                                      </p:cBhvr>
                                    </p:animEffect>
                                  </p:childTnLst>
                                </p:cTn>
                              </p:par>
                              <p:par>
                                <p:cTn id="22" presetID="50" presetClass="entr" presetSubtype="0" decel="10000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 calcmode="lin" valueType="num">
                                      <p:cBhvr>
                                        <p:cTn id="24" dur="1000" fill="hold"/>
                                        <p:tgtEl>
                                          <p:spTgt spid="9"/>
                                        </p:tgtEl>
                                        <p:attrNameLst>
                                          <p:attrName>ppt_w</p:attrName>
                                        </p:attrNameLst>
                                      </p:cBhvr>
                                      <p:tavLst>
                                        <p:tav tm="0">
                                          <p:val>
                                            <p:strVal val="#ppt_w+.3"/>
                                          </p:val>
                                        </p:tav>
                                        <p:tav tm="100000">
                                          <p:val>
                                            <p:strVal val="#ppt_w"/>
                                          </p:val>
                                        </p:tav>
                                      </p:tavLst>
                                    </p:anim>
                                    <p:anim calcmode="lin" valueType="num">
                                      <p:cBhvr>
                                        <p:cTn id="25" dur="1000" fill="hold"/>
                                        <p:tgtEl>
                                          <p:spTgt spid="9"/>
                                        </p:tgtEl>
                                        <p:attrNameLst>
                                          <p:attrName>ppt_h</p:attrName>
                                        </p:attrNameLst>
                                      </p:cBhvr>
                                      <p:tavLst>
                                        <p:tav tm="0">
                                          <p:val>
                                            <p:strVal val="#ppt_h"/>
                                          </p:val>
                                        </p:tav>
                                        <p:tav tm="100000">
                                          <p:val>
                                            <p:strVal val="#ppt_h"/>
                                          </p:val>
                                        </p:tav>
                                      </p:tavLst>
                                    </p:anim>
                                    <p:animEffect transition="in" filter="fade">
                                      <p:cBhvr>
                                        <p:cTn id="26" dur="1000"/>
                                        <p:tgtEl>
                                          <p:spTgt spid="9"/>
                                        </p:tgtEl>
                                      </p:cBhvr>
                                    </p:animEffect>
                                  </p:childTnLst>
                                </p:cTn>
                              </p:par>
                              <p:par>
                                <p:cTn id="27" presetID="50" presetClass="entr" presetSubtype="0" decel="10000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anim calcmode="lin" valueType="num">
                                      <p:cBhvr>
                                        <p:cTn id="29" dur="1000" fill="hold"/>
                                        <p:tgtEl>
                                          <p:spTgt spid="10"/>
                                        </p:tgtEl>
                                        <p:attrNameLst>
                                          <p:attrName>ppt_w</p:attrName>
                                        </p:attrNameLst>
                                      </p:cBhvr>
                                      <p:tavLst>
                                        <p:tav tm="0">
                                          <p:val>
                                            <p:strVal val="#ppt_w+.3"/>
                                          </p:val>
                                        </p:tav>
                                        <p:tav tm="100000">
                                          <p:val>
                                            <p:strVal val="#ppt_w"/>
                                          </p:val>
                                        </p:tav>
                                      </p:tavLst>
                                    </p:anim>
                                    <p:anim calcmode="lin" valueType="num">
                                      <p:cBhvr>
                                        <p:cTn id="30" dur="1000" fill="hold"/>
                                        <p:tgtEl>
                                          <p:spTgt spid="10"/>
                                        </p:tgtEl>
                                        <p:attrNameLst>
                                          <p:attrName>ppt_h</p:attrName>
                                        </p:attrNameLst>
                                      </p:cBhvr>
                                      <p:tavLst>
                                        <p:tav tm="0">
                                          <p:val>
                                            <p:strVal val="#ppt_h"/>
                                          </p:val>
                                        </p:tav>
                                        <p:tav tm="100000">
                                          <p:val>
                                            <p:strVal val="#ppt_h"/>
                                          </p:val>
                                        </p:tav>
                                      </p:tavLst>
                                    </p:anim>
                                    <p:animEffect transition="in" filter="fade">
                                      <p:cBhvr>
                                        <p:cTn id="31"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animBg="1"/>
      <p:bldP spid="10"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Converting ER Model to relational schema</a:t>
            </a:r>
          </a:p>
        </p:txBody>
      </p:sp>
      <p:sp>
        <p:nvSpPr>
          <p:cNvPr id="3" name="Content Placeholder 2"/>
          <p:cNvSpPr>
            <a:spLocks noGrp="1"/>
          </p:cNvSpPr>
          <p:nvPr>
            <p:ph idx="1"/>
          </p:nvPr>
        </p:nvSpPr>
        <p:spPr/>
        <p:txBody>
          <a:bodyPr/>
          <a:lstStyle/>
          <a:p>
            <a:r>
              <a:rPr lang="en-US" b="1" dirty="0">
                <a:solidFill>
                  <a:schemeClr val="tx1"/>
                </a:solidFill>
              </a:rPr>
              <a:t>Rule 7 –  Convert Unary relationship many to many</a:t>
            </a:r>
            <a:endParaRPr lang="en-US" b="1" dirty="0"/>
          </a:p>
        </p:txBody>
      </p:sp>
      <p:sp>
        <p:nvSpPr>
          <p:cNvPr id="4" name="Slide Number Placeholder 3"/>
          <p:cNvSpPr>
            <a:spLocks noGrp="1"/>
          </p:cNvSpPr>
          <p:nvPr>
            <p:ph type="sldNum" sz="quarter" idx="12"/>
          </p:nvPr>
        </p:nvSpPr>
        <p:spPr/>
        <p:txBody>
          <a:bodyPr/>
          <a:lstStyle/>
          <a:p>
            <a:fld id="{586DAB0F-01A5-4AB0-84E3-BA9DDAF20443}" type="slidenum">
              <a:rPr lang="en-US" smtClean="0"/>
              <a:t>30</a:t>
            </a:fld>
            <a:endParaRPr lang="en-US"/>
          </a:p>
        </p:txBody>
      </p:sp>
      <p:sp>
        <p:nvSpPr>
          <p:cNvPr id="5" name="Footer Placeholder 4"/>
          <p:cNvSpPr>
            <a:spLocks noGrp="1"/>
          </p:cNvSpPr>
          <p:nvPr>
            <p:ph type="ftr" sz="quarter" idx="3"/>
          </p:nvPr>
        </p:nvSpPr>
        <p:spPr/>
        <p:txBody>
          <a:bodyPr/>
          <a:lstStyle/>
          <a:p>
            <a:r>
              <a:rPr lang="en-US"/>
              <a:t>09e-BM/DT/FSOFT - @FPT SOFTWARE - FPT Software Academy - Internal Use</a:t>
            </a:r>
          </a:p>
        </p:txBody>
      </p:sp>
      <p:pic>
        <p:nvPicPr>
          <p:cNvPr id="6" name="Picture 6" descr="FIG5-18A"/>
          <p:cNvPicPr>
            <a:picLocks noChangeAspect="1" noChangeArrowheads="1"/>
          </p:cNvPicPr>
          <p:nvPr/>
        </p:nvPicPr>
        <p:blipFill>
          <a:blip r:embed="rId2"/>
          <a:srcRect/>
          <a:stretch>
            <a:fillRect/>
          </a:stretch>
        </p:blipFill>
        <p:spPr bwMode="auto">
          <a:xfrm>
            <a:off x="4175789" y="1656436"/>
            <a:ext cx="3988435" cy="2332302"/>
          </a:xfrm>
          <a:prstGeom prst="rect">
            <a:avLst/>
          </a:prstGeom>
          <a:noFill/>
          <a:ln w="9525">
            <a:noFill/>
            <a:miter lim="800000"/>
            <a:headEnd/>
            <a:tailEnd/>
          </a:ln>
        </p:spPr>
      </p:pic>
      <p:sp>
        <p:nvSpPr>
          <p:cNvPr id="7" name="Text Box 8"/>
          <p:cNvSpPr txBox="1">
            <a:spLocks noChangeArrowheads="1"/>
          </p:cNvSpPr>
          <p:nvPr/>
        </p:nvSpPr>
        <p:spPr bwMode="auto">
          <a:xfrm>
            <a:off x="3855431" y="4021989"/>
            <a:ext cx="4629150" cy="307777"/>
          </a:xfrm>
          <a:prstGeom prst="rect">
            <a:avLst/>
          </a:prstGeom>
          <a:noFill/>
          <a:ln w="28575">
            <a:noFill/>
            <a:miter lim="800000"/>
            <a:headEnd/>
            <a:tailEnd/>
          </a:ln>
        </p:spPr>
        <p:txBody>
          <a:bodyPr wrap="square">
            <a:spAutoFit/>
          </a:bodyPr>
          <a:lstStyle/>
          <a:p>
            <a:pPr algn="ctr"/>
            <a:r>
              <a:rPr lang="en-US" sz="1400" dirty="0">
                <a:solidFill>
                  <a:srgbClr val="FF0000"/>
                </a:solidFill>
              </a:rPr>
              <a:t>Bill-of-materials relationships (M:N)</a:t>
            </a:r>
          </a:p>
        </p:txBody>
      </p:sp>
      <p:sp>
        <p:nvSpPr>
          <p:cNvPr id="8" name="Down Arrow 7"/>
          <p:cNvSpPr/>
          <p:nvPr/>
        </p:nvSpPr>
        <p:spPr>
          <a:xfrm>
            <a:off x="5971548" y="4315905"/>
            <a:ext cx="396915" cy="426073"/>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7" descr="FIG5-18B"/>
          <p:cNvPicPr>
            <a:picLocks noChangeAspect="1" noChangeArrowheads="1"/>
          </p:cNvPicPr>
          <p:nvPr/>
        </p:nvPicPr>
        <p:blipFill>
          <a:blip r:embed="rId3"/>
          <a:srcRect/>
          <a:stretch>
            <a:fillRect/>
          </a:stretch>
        </p:blipFill>
        <p:spPr bwMode="auto">
          <a:xfrm>
            <a:off x="4417307" y="4754437"/>
            <a:ext cx="3505396" cy="1437612"/>
          </a:xfrm>
          <a:prstGeom prst="rect">
            <a:avLst/>
          </a:prstGeom>
          <a:noFill/>
          <a:ln w="9525">
            <a:noFill/>
            <a:miter lim="800000"/>
            <a:headEnd/>
            <a:tailEnd/>
          </a:ln>
        </p:spPr>
      </p:pic>
      <p:sp>
        <p:nvSpPr>
          <p:cNvPr id="10" name="Text Box 9"/>
          <p:cNvSpPr txBox="1">
            <a:spLocks noChangeArrowheads="1"/>
          </p:cNvSpPr>
          <p:nvPr/>
        </p:nvSpPr>
        <p:spPr bwMode="auto">
          <a:xfrm>
            <a:off x="3834199" y="6073842"/>
            <a:ext cx="4420897" cy="307777"/>
          </a:xfrm>
          <a:prstGeom prst="rect">
            <a:avLst/>
          </a:prstGeom>
          <a:noFill/>
          <a:ln w="28575">
            <a:noFill/>
            <a:miter lim="800000"/>
            <a:headEnd/>
            <a:tailEnd/>
          </a:ln>
        </p:spPr>
        <p:txBody>
          <a:bodyPr wrap="square">
            <a:spAutoFit/>
          </a:bodyPr>
          <a:lstStyle/>
          <a:p>
            <a:pPr algn="ctr"/>
            <a:r>
              <a:rPr lang="en-US" sz="1400" dirty="0">
                <a:solidFill>
                  <a:srgbClr val="FF0000"/>
                </a:solidFill>
              </a:rPr>
              <a:t>ITEM and COMPONENT relations</a:t>
            </a:r>
          </a:p>
        </p:txBody>
      </p:sp>
    </p:spTree>
    <p:extLst>
      <p:ext uri="{BB962C8B-B14F-4D97-AF65-F5344CB8AC3E}">
        <p14:creationId xmlns:p14="http://schemas.microsoft.com/office/powerpoint/2010/main" val="1019661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strVal val="#ppt_w+.3"/>
                                          </p:val>
                                        </p:tav>
                                        <p:tav tm="100000">
                                          <p:val>
                                            <p:strVal val="#ppt_w"/>
                                          </p:val>
                                        </p:tav>
                                      </p:tavLst>
                                    </p:anim>
                                    <p:anim calcmode="lin" valueType="num">
                                      <p:cBhvr>
                                        <p:cTn id="8" dur="1000" fill="hold"/>
                                        <p:tgtEl>
                                          <p:spTgt spid="6"/>
                                        </p:tgtEl>
                                        <p:attrNameLst>
                                          <p:attrName>ppt_h</p:attrName>
                                        </p:attrNameLst>
                                      </p:cBhvr>
                                      <p:tavLst>
                                        <p:tav tm="0">
                                          <p:val>
                                            <p:strVal val="#ppt_h"/>
                                          </p:val>
                                        </p:tav>
                                        <p:tav tm="100000">
                                          <p:val>
                                            <p:strVal val="#ppt_h"/>
                                          </p:val>
                                        </p:tav>
                                      </p:tavLst>
                                    </p:anim>
                                    <p:animEffect transition="in" filter="fade">
                                      <p:cBhvr>
                                        <p:cTn id="9" dur="1000"/>
                                        <p:tgtEl>
                                          <p:spTgt spid="6"/>
                                        </p:tgtEl>
                                      </p:cBhvr>
                                    </p:animEffect>
                                  </p:childTnLst>
                                </p:cTn>
                              </p:par>
                              <p:par>
                                <p:cTn id="10" presetID="50" presetClass="entr" presetSubtype="0" decel="10000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1000" fill="hold"/>
                                        <p:tgtEl>
                                          <p:spTgt spid="7"/>
                                        </p:tgtEl>
                                        <p:attrNameLst>
                                          <p:attrName>ppt_w</p:attrName>
                                        </p:attrNameLst>
                                      </p:cBhvr>
                                      <p:tavLst>
                                        <p:tav tm="0">
                                          <p:val>
                                            <p:strVal val="#ppt_w+.3"/>
                                          </p:val>
                                        </p:tav>
                                        <p:tav tm="100000">
                                          <p:val>
                                            <p:strVal val="#ppt_w"/>
                                          </p:val>
                                        </p:tav>
                                      </p:tavLst>
                                    </p:anim>
                                    <p:anim calcmode="lin" valueType="num">
                                      <p:cBhvr>
                                        <p:cTn id="13" dur="1000" fill="hold"/>
                                        <p:tgtEl>
                                          <p:spTgt spid="7"/>
                                        </p:tgtEl>
                                        <p:attrNameLst>
                                          <p:attrName>ppt_h</p:attrName>
                                        </p:attrNameLst>
                                      </p:cBhvr>
                                      <p:tavLst>
                                        <p:tav tm="0">
                                          <p:val>
                                            <p:strVal val="#ppt_h"/>
                                          </p:val>
                                        </p:tav>
                                        <p:tav tm="100000">
                                          <p:val>
                                            <p:strVal val="#ppt_h"/>
                                          </p:val>
                                        </p:tav>
                                      </p:tavLst>
                                    </p:anim>
                                    <p:animEffect transition="in" filter="fade">
                                      <p:cBhvr>
                                        <p:cTn id="14" dur="1000"/>
                                        <p:tgtEl>
                                          <p:spTgt spid="7"/>
                                        </p:tgtEl>
                                      </p:cBhvr>
                                    </p:animEffect>
                                  </p:childTnLst>
                                </p:cTn>
                              </p:par>
                            </p:childTnLst>
                          </p:cTn>
                        </p:par>
                      </p:childTnLst>
                    </p:cTn>
                  </p:par>
                  <p:par>
                    <p:cTn id="15" fill="hold">
                      <p:stCondLst>
                        <p:cond delay="indefinite"/>
                      </p:stCondLst>
                      <p:childTnLst>
                        <p:par>
                          <p:cTn id="16" fill="hold">
                            <p:stCondLst>
                              <p:cond delay="0"/>
                            </p:stCondLst>
                            <p:childTnLst>
                              <p:par>
                                <p:cTn id="17" presetID="50" presetClass="entr" presetSubtype="0" decel="10000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p:cTn id="19" dur="1000" fill="hold"/>
                                        <p:tgtEl>
                                          <p:spTgt spid="8"/>
                                        </p:tgtEl>
                                        <p:attrNameLst>
                                          <p:attrName>ppt_w</p:attrName>
                                        </p:attrNameLst>
                                      </p:cBhvr>
                                      <p:tavLst>
                                        <p:tav tm="0">
                                          <p:val>
                                            <p:strVal val="#ppt_w+.3"/>
                                          </p:val>
                                        </p:tav>
                                        <p:tav tm="100000">
                                          <p:val>
                                            <p:strVal val="#ppt_w"/>
                                          </p:val>
                                        </p:tav>
                                      </p:tavLst>
                                    </p:anim>
                                    <p:anim calcmode="lin" valueType="num">
                                      <p:cBhvr>
                                        <p:cTn id="20" dur="1000" fill="hold"/>
                                        <p:tgtEl>
                                          <p:spTgt spid="8"/>
                                        </p:tgtEl>
                                        <p:attrNameLst>
                                          <p:attrName>ppt_h</p:attrName>
                                        </p:attrNameLst>
                                      </p:cBhvr>
                                      <p:tavLst>
                                        <p:tav tm="0">
                                          <p:val>
                                            <p:strVal val="#ppt_h"/>
                                          </p:val>
                                        </p:tav>
                                        <p:tav tm="100000">
                                          <p:val>
                                            <p:strVal val="#ppt_h"/>
                                          </p:val>
                                        </p:tav>
                                      </p:tavLst>
                                    </p:anim>
                                    <p:animEffect transition="in" filter="fade">
                                      <p:cBhvr>
                                        <p:cTn id="21" dur="1000"/>
                                        <p:tgtEl>
                                          <p:spTgt spid="8"/>
                                        </p:tgtEl>
                                      </p:cBhvr>
                                    </p:animEffect>
                                  </p:childTnLst>
                                </p:cTn>
                              </p:par>
                              <p:par>
                                <p:cTn id="22" presetID="50" presetClass="entr" presetSubtype="0" decel="100000" fill="hold" nodeType="withEffect">
                                  <p:stCondLst>
                                    <p:cond delay="0"/>
                                  </p:stCondLst>
                                  <p:childTnLst>
                                    <p:set>
                                      <p:cBhvr>
                                        <p:cTn id="23" dur="1" fill="hold">
                                          <p:stCondLst>
                                            <p:cond delay="0"/>
                                          </p:stCondLst>
                                        </p:cTn>
                                        <p:tgtEl>
                                          <p:spTgt spid="9"/>
                                        </p:tgtEl>
                                        <p:attrNameLst>
                                          <p:attrName>style.visibility</p:attrName>
                                        </p:attrNameLst>
                                      </p:cBhvr>
                                      <p:to>
                                        <p:strVal val="visible"/>
                                      </p:to>
                                    </p:set>
                                    <p:anim calcmode="lin" valueType="num">
                                      <p:cBhvr>
                                        <p:cTn id="24" dur="1000" fill="hold"/>
                                        <p:tgtEl>
                                          <p:spTgt spid="9"/>
                                        </p:tgtEl>
                                        <p:attrNameLst>
                                          <p:attrName>ppt_w</p:attrName>
                                        </p:attrNameLst>
                                      </p:cBhvr>
                                      <p:tavLst>
                                        <p:tav tm="0">
                                          <p:val>
                                            <p:strVal val="#ppt_w+.3"/>
                                          </p:val>
                                        </p:tav>
                                        <p:tav tm="100000">
                                          <p:val>
                                            <p:strVal val="#ppt_w"/>
                                          </p:val>
                                        </p:tav>
                                      </p:tavLst>
                                    </p:anim>
                                    <p:anim calcmode="lin" valueType="num">
                                      <p:cBhvr>
                                        <p:cTn id="25" dur="1000" fill="hold"/>
                                        <p:tgtEl>
                                          <p:spTgt spid="9"/>
                                        </p:tgtEl>
                                        <p:attrNameLst>
                                          <p:attrName>ppt_h</p:attrName>
                                        </p:attrNameLst>
                                      </p:cBhvr>
                                      <p:tavLst>
                                        <p:tav tm="0">
                                          <p:val>
                                            <p:strVal val="#ppt_h"/>
                                          </p:val>
                                        </p:tav>
                                        <p:tav tm="100000">
                                          <p:val>
                                            <p:strVal val="#ppt_h"/>
                                          </p:val>
                                        </p:tav>
                                      </p:tavLst>
                                    </p:anim>
                                    <p:animEffect transition="in" filter="fade">
                                      <p:cBhvr>
                                        <p:cTn id="26" dur="1000"/>
                                        <p:tgtEl>
                                          <p:spTgt spid="9"/>
                                        </p:tgtEl>
                                      </p:cBhvr>
                                    </p:animEffect>
                                  </p:childTnLst>
                                </p:cTn>
                              </p:par>
                              <p:par>
                                <p:cTn id="27" presetID="50" presetClass="entr" presetSubtype="0" decel="10000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anim calcmode="lin" valueType="num">
                                      <p:cBhvr>
                                        <p:cTn id="29" dur="1000" fill="hold"/>
                                        <p:tgtEl>
                                          <p:spTgt spid="10"/>
                                        </p:tgtEl>
                                        <p:attrNameLst>
                                          <p:attrName>ppt_w</p:attrName>
                                        </p:attrNameLst>
                                      </p:cBhvr>
                                      <p:tavLst>
                                        <p:tav tm="0">
                                          <p:val>
                                            <p:strVal val="#ppt_w+.3"/>
                                          </p:val>
                                        </p:tav>
                                        <p:tav tm="100000">
                                          <p:val>
                                            <p:strVal val="#ppt_w"/>
                                          </p:val>
                                        </p:tav>
                                      </p:tavLst>
                                    </p:anim>
                                    <p:anim calcmode="lin" valueType="num">
                                      <p:cBhvr>
                                        <p:cTn id="30" dur="1000" fill="hold"/>
                                        <p:tgtEl>
                                          <p:spTgt spid="10"/>
                                        </p:tgtEl>
                                        <p:attrNameLst>
                                          <p:attrName>ppt_h</p:attrName>
                                        </p:attrNameLst>
                                      </p:cBhvr>
                                      <p:tavLst>
                                        <p:tav tm="0">
                                          <p:val>
                                            <p:strVal val="#ppt_h"/>
                                          </p:val>
                                        </p:tav>
                                        <p:tav tm="100000">
                                          <p:val>
                                            <p:strVal val="#ppt_h"/>
                                          </p:val>
                                        </p:tav>
                                      </p:tavLst>
                                    </p:anim>
                                    <p:animEffect transition="in" filter="fade">
                                      <p:cBhvr>
                                        <p:cTn id="31"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10"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a:xfrm>
            <a:off x="769440" y="279992"/>
            <a:ext cx="9603627" cy="591547"/>
          </a:xfrm>
        </p:spPr>
        <p:txBody>
          <a:bodyPr anchor="ctr" anchorCtr="0">
            <a:noAutofit/>
          </a:bodyPr>
          <a:lstStyle/>
          <a:p>
            <a:pPr>
              <a:lnSpc>
                <a:spcPct val="150000"/>
              </a:lnSpc>
              <a:spcBef>
                <a:spcPts val="600"/>
              </a:spcBef>
              <a:spcAft>
                <a:spcPts val="600"/>
              </a:spcAft>
            </a:pPr>
            <a:r>
              <a:rPr lang="en-US" dirty="0"/>
              <a:t>Converting ER Model to relational schema </a:t>
            </a:r>
            <a:endParaRPr lang="en-US" dirty="0">
              <a:solidFill>
                <a:schemeClr val="tx1"/>
              </a:solidFill>
            </a:endParaRPr>
          </a:p>
        </p:txBody>
      </p:sp>
      <p:pic>
        <p:nvPicPr>
          <p:cNvPr id="47119" name="Picture 6" descr="FIG5-13A"/>
          <p:cNvPicPr>
            <a:picLocks noChangeAspect="1" noChangeArrowheads="1"/>
          </p:cNvPicPr>
          <p:nvPr/>
        </p:nvPicPr>
        <p:blipFill>
          <a:blip r:embed="rId2"/>
          <a:srcRect/>
          <a:stretch>
            <a:fillRect/>
          </a:stretch>
        </p:blipFill>
        <p:spPr bwMode="auto">
          <a:xfrm>
            <a:off x="3411457" y="1394434"/>
            <a:ext cx="4908999" cy="1745823"/>
          </a:xfrm>
          <a:prstGeom prst="rect">
            <a:avLst/>
          </a:prstGeom>
          <a:noFill/>
          <a:ln w="9525">
            <a:noFill/>
            <a:miter lim="800000"/>
            <a:headEnd/>
            <a:tailEnd/>
          </a:ln>
        </p:spPr>
      </p:pic>
      <p:pic>
        <p:nvPicPr>
          <p:cNvPr id="47120" name="Picture 7" descr="FIG5-13B"/>
          <p:cNvPicPr>
            <a:picLocks noChangeAspect="1" noChangeArrowheads="1"/>
          </p:cNvPicPr>
          <p:nvPr/>
        </p:nvPicPr>
        <p:blipFill>
          <a:blip r:embed="rId3"/>
          <a:srcRect/>
          <a:stretch>
            <a:fillRect/>
          </a:stretch>
        </p:blipFill>
        <p:spPr bwMode="auto">
          <a:xfrm>
            <a:off x="3216220" y="3801436"/>
            <a:ext cx="5299472" cy="2182135"/>
          </a:xfrm>
          <a:prstGeom prst="rect">
            <a:avLst/>
          </a:prstGeom>
          <a:noFill/>
          <a:ln w="9525">
            <a:noFill/>
            <a:miter lim="800000"/>
            <a:headEnd/>
            <a:tailEnd/>
          </a:ln>
        </p:spPr>
      </p:pic>
      <p:sp>
        <p:nvSpPr>
          <p:cNvPr id="47111" name="Freeform 8"/>
          <p:cNvSpPr>
            <a:spLocks/>
          </p:cNvSpPr>
          <p:nvPr/>
        </p:nvSpPr>
        <p:spPr bwMode="auto">
          <a:xfrm>
            <a:off x="5840028" y="3016617"/>
            <a:ext cx="1118143" cy="118533"/>
          </a:xfrm>
          <a:custGeom>
            <a:avLst/>
            <a:gdLst>
              <a:gd name="T0" fmla="*/ 0 w 1248"/>
              <a:gd name="T1" fmla="*/ 0 h 144"/>
              <a:gd name="T2" fmla="*/ 288 w 1248"/>
              <a:gd name="T3" fmla="*/ 144 h 144"/>
              <a:gd name="T4" fmla="*/ 1248 w 1248"/>
              <a:gd name="T5" fmla="*/ 144 h 144"/>
              <a:gd name="T6" fmla="*/ 0 60000 65536"/>
              <a:gd name="T7" fmla="*/ 0 60000 65536"/>
              <a:gd name="T8" fmla="*/ 0 60000 65536"/>
              <a:gd name="T9" fmla="*/ 0 w 1248"/>
              <a:gd name="T10" fmla="*/ 0 h 144"/>
              <a:gd name="T11" fmla="*/ 1248 w 1248"/>
              <a:gd name="T12" fmla="*/ 144 h 144"/>
            </a:gdLst>
            <a:ahLst/>
            <a:cxnLst>
              <a:cxn ang="T6">
                <a:pos x="T0" y="T1"/>
              </a:cxn>
              <a:cxn ang="T7">
                <a:pos x="T2" y="T3"/>
              </a:cxn>
              <a:cxn ang="T8">
                <a:pos x="T4" y="T5"/>
              </a:cxn>
            </a:cxnLst>
            <a:rect l="T9" t="T10" r="T11" b="T12"/>
            <a:pathLst>
              <a:path w="1248" h="144">
                <a:moveTo>
                  <a:pt x="0" y="0"/>
                </a:moveTo>
                <a:lnTo>
                  <a:pt x="288" y="144"/>
                </a:lnTo>
                <a:lnTo>
                  <a:pt x="1248" y="144"/>
                </a:lnTo>
              </a:path>
            </a:pathLst>
          </a:custGeom>
          <a:noFill/>
          <a:ln w="25400">
            <a:solidFill>
              <a:srgbClr val="FF0000"/>
            </a:solidFill>
            <a:miter lim="800000"/>
            <a:headEnd type="triangle" w="med" len="med"/>
            <a:tailEnd/>
          </a:ln>
        </p:spPr>
        <p:txBody>
          <a:bodyPr wrap="none"/>
          <a:lstStyle/>
          <a:p>
            <a:endParaRPr lang="en-US"/>
          </a:p>
        </p:txBody>
      </p:sp>
      <p:sp>
        <p:nvSpPr>
          <p:cNvPr id="47112" name="Text Box 9"/>
          <p:cNvSpPr txBox="1">
            <a:spLocks noChangeArrowheads="1"/>
          </p:cNvSpPr>
          <p:nvPr/>
        </p:nvSpPr>
        <p:spPr bwMode="auto">
          <a:xfrm>
            <a:off x="7360920" y="4770496"/>
            <a:ext cx="3028516" cy="307777"/>
          </a:xfrm>
          <a:prstGeom prst="rect">
            <a:avLst/>
          </a:prstGeom>
          <a:noFill/>
          <a:ln w="28575">
            <a:noFill/>
            <a:miter lim="800000"/>
            <a:headEnd/>
            <a:tailEnd/>
          </a:ln>
        </p:spPr>
        <p:txBody>
          <a:bodyPr wrap="square">
            <a:spAutoFit/>
          </a:bodyPr>
          <a:lstStyle/>
          <a:p>
            <a:r>
              <a:rPr lang="en-US" sz="1400" dirty="0">
                <a:solidFill>
                  <a:srgbClr val="FF0000"/>
                </a:solidFill>
              </a:rPr>
              <a:t>New </a:t>
            </a:r>
            <a:r>
              <a:rPr lang="en-US" sz="1400" i="1" dirty="0">
                <a:solidFill>
                  <a:srgbClr val="FF0000"/>
                </a:solidFill>
              </a:rPr>
              <a:t>intersection relation</a:t>
            </a:r>
          </a:p>
        </p:txBody>
      </p:sp>
      <p:sp>
        <p:nvSpPr>
          <p:cNvPr id="47113" name="Text Box 10"/>
          <p:cNvSpPr txBox="1">
            <a:spLocks noChangeArrowheads="1"/>
          </p:cNvSpPr>
          <p:nvPr/>
        </p:nvSpPr>
        <p:spPr bwMode="auto">
          <a:xfrm>
            <a:off x="4506580" y="5045134"/>
            <a:ext cx="1233900" cy="307777"/>
          </a:xfrm>
          <a:prstGeom prst="rect">
            <a:avLst/>
          </a:prstGeom>
          <a:noFill/>
          <a:ln w="28575">
            <a:noFill/>
            <a:miter lim="800000"/>
            <a:headEnd/>
            <a:tailEnd/>
          </a:ln>
        </p:spPr>
        <p:txBody>
          <a:bodyPr wrap="square">
            <a:spAutoFit/>
          </a:bodyPr>
          <a:lstStyle/>
          <a:p>
            <a:pPr algn="ctr"/>
            <a:r>
              <a:rPr lang="en-US" sz="1200" dirty="0">
                <a:solidFill>
                  <a:srgbClr val="FF0000"/>
                </a:solidFill>
              </a:rPr>
              <a:t>Foreign</a:t>
            </a:r>
            <a:r>
              <a:rPr lang="en-US" sz="1400" dirty="0">
                <a:solidFill>
                  <a:srgbClr val="FF0000"/>
                </a:solidFill>
              </a:rPr>
              <a:t> </a:t>
            </a:r>
            <a:r>
              <a:rPr lang="en-US" sz="1200" dirty="0">
                <a:solidFill>
                  <a:srgbClr val="FF0000"/>
                </a:solidFill>
              </a:rPr>
              <a:t>key</a:t>
            </a:r>
          </a:p>
        </p:txBody>
      </p:sp>
      <p:sp>
        <p:nvSpPr>
          <p:cNvPr id="47114" name="Text Box 11"/>
          <p:cNvSpPr txBox="1">
            <a:spLocks noChangeArrowheads="1"/>
          </p:cNvSpPr>
          <p:nvPr/>
        </p:nvSpPr>
        <p:spPr bwMode="auto">
          <a:xfrm>
            <a:off x="5495978" y="5078273"/>
            <a:ext cx="1169497" cy="276999"/>
          </a:xfrm>
          <a:prstGeom prst="rect">
            <a:avLst/>
          </a:prstGeom>
          <a:noFill/>
          <a:ln w="28575">
            <a:noFill/>
            <a:miter lim="800000"/>
            <a:headEnd/>
            <a:tailEnd/>
          </a:ln>
        </p:spPr>
        <p:txBody>
          <a:bodyPr wrap="square">
            <a:spAutoFit/>
          </a:bodyPr>
          <a:lstStyle/>
          <a:p>
            <a:pPr algn="ctr"/>
            <a:r>
              <a:rPr lang="en-US" sz="1200" dirty="0">
                <a:solidFill>
                  <a:srgbClr val="FF0000"/>
                </a:solidFill>
              </a:rPr>
              <a:t>Foreign key</a:t>
            </a:r>
          </a:p>
        </p:txBody>
      </p:sp>
      <p:sp>
        <p:nvSpPr>
          <p:cNvPr id="47115" name="Text Box 12"/>
          <p:cNvSpPr txBox="1">
            <a:spLocks noChangeArrowheads="1"/>
          </p:cNvSpPr>
          <p:nvPr/>
        </p:nvSpPr>
        <p:spPr bwMode="auto">
          <a:xfrm>
            <a:off x="5083404" y="4247817"/>
            <a:ext cx="2277516" cy="307777"/>
          </a:xfrm>
          <a:prstGeom prst="rect">
            <a:avLst/>
          </a:prstGeom>
          <a:noFill/>
          <a:ln w="28575">
            <a:noFill/>
            <a:miter lim="800000"/>
            <a:headEnd/>
            <a:tailEnd/>
          </a:ln>
        </p:spPr>
        <p:txBody>
          <a:bodyPr wrap="square">
            <a:spAutoFit/>
          </a:bodyPr>
          <a:lstStyle/>
          <a:p>
            <a:pPr algn="ctr"/>
            <a:r>
              <a:rPr lang="en-US" sz="1400" dirty="0">
                <a:solidFill>
                  <a:srgbClr val="FF0000"/>
                </a:solidFill>
              </a:rPr>
              <a:t>Composite primary key</a:t>
            </a:r>
          </a:p>
        </p:txBody>
      </p:sp>
      <p:sp>
        <p:nvSpPr>
          <p:cNvPr id="47116" name="AutoShape 13"/>
          <p:cNvSpPr>
            <a:spLocks/>
          </p:cNvSpPr>
          <p:nvPr/>
        </p:nvSpPr>
        <p:spPr bwMode="auto">
          <a:xfrm rot="16200000">
            <a:off x="5954676" y="3830421"/>
            <a:ext cx="173259" cy="1559331"/>
          </a:xfrm>
          <a:prstGeom prst="rightBrace">
            <a:avLst>
              <a:gd name="adj1" fmla="val 75000"/>
              <a:gd name="adj2" fmla="val 50000"/>
            </a:avLst>
          </a:prstGeom>
          <a:noFill/>
          <a:ln w="25400">
            <a:solidFill>
              <a:srgbClr val="FF0000"/>
            </a:solidFill>
            <a:round/>
            <a:headEnd/>
            <a:tailEnd/>
          </a:ln>
        </p:spPr>
        <p:txBody>
          <a:bodyPr wrap="none" anchor="ctr"/>
          <a:lstStyle/>
          <a:p>
            <a:endParaRPr lang="en-US"/>
          </a:p>
        </p:txBody>
      </p:sp>
      <p:sp>
        <p:nvSpPr>
          <p:cNvPr id="47118" name="Text Box 15"/>
          <p:cNvSpPr txBox="1">
            <a:spLocks noChangeArrowheads="1"/>
          </p:cNvSpPr>
          <p:nvPr/>
        </p:nvSpPr>
        <p:spPr bwMode="auto">
          <a:xfrm>
            <a:off x="6958171" y="3003786"/>
            <a:ext cx="3535170" cy="523220"/>
          </a:xfrm>
          <a:prstGeom prst="rect">
            <a:avLst/>
          </a:prstGeom>
          <a:noFill/>
          <a:ln w="28575">
            <a:noFill/>
            <a:miter lim="800000"/>
            <a:headEnd/>
            <a:tailEnd/>
          </a:ln>
        </p:spPr>
        <p:txBody>
          <a:bodyPr wrap="square">
            <a:spAutoFit/>
          </a:bodyPr>
          <a:lstStyle/>
          <a:p>
            <a:pPr algn="just"/>
            <a:r>
              <a:rPr lang="en-US" sz="1400" dirty="0">
                <a:solidFill>
                  <a:srgbClr val="FF0000"/>
                </a:solidFill>
              </a:rPr>
              <a:t>The </a:t>
            </a:r>
            <a:r>
              <a:rPr lang="en-US" sz="1400" i="1" dirty="0">
                <a:solidFill>
                  <a:srgbClr val="FF0000"/>
                </a:solidFill>
              </a:rPr>
              <a:t>Supplies</a:t>
            </a:r>
            <a:r>
              <a:rPr lang="en-US" sz="1400" dirty="0">
                <a:solidFill>
                  <a:srgbClr val="FF0000"/>
                </a:solidFill>
              </a:rPr>
              <a:t> relationship will need to become a separate relation</a:t>
            </a:r>
          </a:p>
        </p:txBody>
      </p:sp>
      <p:sp>
        <p:nvSpPr>
          <p:cNvPr id="3" name="Down Arrow 2"/>
          <p:cNvSpPr/>
          <p:nvPr/>
        </p:nvSpPr>
        <p:spPr>
          <a:xfrm>
            <a:off x="5740479" y="3304017"/>
            <a:ext cx="300827" cy="322927"/>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947057" y="982115"/>
            <a:ext cx="10189029" cy="461665"/>
          </a:xfrm>
          <a:prstGeom prst="rect">
            <a:avLst/>
          </a:prstGeom>
          <a:noFill/>
        </p:spPr>
        <p:txBody>
          <a:bodyPr wrap="square" rtlCol="0">
            <a:spAutoFit/>
          </a:bodyPr>
          <a:lstStyle/>
          <a:p>
            <a:r>
              <a:rPr lang="en-US" sz="2400" b="1" dirty="0">
                <a:latin typeface="Arial" panose="020B0604020202020204" pitchFamily="34" charset="0"/>
                <a:cs typeface="Arial" panose="020B0604020202020204" pitchFamily="34" charset="0"/>
              </a:rPr>
              <a:t>Rule 8 – Convert Binary relationship many to many</a:t>
            </a:r>
          </a:p>
        </p:txBody>
      </p:sp>
      <p:sp>
        <p:nvSpPr>
          <p:cNvPr id="17" name="Slide Number Placeholder 3"/>
          <p:cNvSpPr>
            <a:spLocks noGrp="1"/>
          </p:cNvSpPr>
          <p:nvPr>
            <p:ph type="sldNum" sz="quarter" idx="12"/>
          </p:nvPr>
        </p:nvSpPr>
        <p:spPr>
          <a:xfrm>
            <a:off x="10972800" y="6320400"/>
            <a:ext cx="614337" cy="365125"/>
          </a:xfrm>
        </p:spPr>
        <p:txBody>
          <a:bodyPr/>
          <a:lstStyle/>
          <a:p>
            <a:r>
              <a:rPr lang="vi-VN" dirty="0"/>
              <a:t>31</a:t>
            </a:r>
            <a:endParaRPr lang="en-US" dirty="0"/>
          </a:p>
        </p:txBody>
      </p:sp>
      <p:sp>
        <p:nvSpPr>
          <p:cNvPr id="15" name="Footer Placeholder 4"/>
          <p:cNvSpPr>
            <a:spLocks noGrp="1"/>
          </p:cNvSpPr>
          <p:nvPr>
            <p:ph type="ftr" sz="quarter" idx="3"/>
          </p:nvPr>
        </p:nvSpPr>
        <p:spPr>
          <a:xfrm>
            <a:off x="4901329" y="6320400"/>
            <a:ext cx="6071471" cy="365125"/>
          </a:xfrm>
        </p:spPr>
        <p:txBody>
          <a:bodyPr/>
          <a:lstStyle/>
          <a:p>
            <a:r>
              <a:rPr lang="en-US" dirty="0"/>
              <a:t>09e-BM/DT/FSOFT - @FPT SOFTWARE - FPT Software Academy - Internal Use</a:t>
            </a:r>
          </a:p>
        </p:txBody>
      </p:sp>
    </p:spTree>
    <p:extLst>
      <p:ext uri="{BB962C8B-B14F-4D97-AF65-F5344CB8AC3E}">
        <p14:creationId xmlns:p14="http://schemas.microsoft.com/office/powerpoint/2010/main" val="1359916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nodeType="clickEffect">
                                  <p:stCondLst>
                                    <p:cond delay="0"/>
                                  </p:stCondLst>
                                  <p:childTnLst>
                                    <p:set>
                                      <p:cBhvr>
                                        <p:cTn id="6" dur="1" fill="hold">
                                          <p:stCondLst>
                                            <p:cond delay="0"/>
                                          </p:stCondLst>
                                        </p:cTn>
                                        <p:tgtEl>
                                          <p:spTgt spid="47119"/>
                                        </p:tgtEl>
                                        <p:attrNameLst>
                                          <p:attrName>style.visibility</p:attrName>
                                        </p:attrNameLst>
                                      </p:cBhvr>
                                      <p:to>
                                        <p:strVal val="visible"/>
                                      </p:to>
                                    </p:set>
                                    <p:anim calcmode="lin" valueType="num">
                                      <p:cBhvr>
                                        <p:cTn id="7" dur="1000" fill="hold"/>
                                        <p:tgtEl>
                                          <p:spTgt spid="47119"/>
                                        </p:tgtEl>
                                        <p:attrNameLst>
                                          <p:attrName>ppt_w</p:attrName>
                                        </p:attrNameLst>
                                      </p:cBhvr>
                                      <p:tavLst>
                                        <p:tav tm="0">
                                          <p:val>
                                            <p:strVal val="#ppt_w+.3"/>
                                          </p:val>
                                        </p:tav>
                                        <p:tav tm="100000">
                                          <p:val>
                                            <p:strVal val="#ppt_w"/>
                                          </p:val>
                                        </p:tav>
                                      </p:tavLst>
                                    </p:anim>
                                    <p:anim calcmode="lin" valueType="num">
                                      <p:cBhvr>
                                        <p:cTn id="8" dur="1000" fill="hold"/>
                                        <p:tgtEl>
                                          <p:spTgt spid="47119"/>
                                        </p:tgtEl>
                                        <p:attrNameLst>
                                          <p:attrName>ppt_h</p:attrName>
                                        </p:attrNameLst>
                                      </p:cBhvr>
                                      <p:tavLst>
                                        <p:tav tm="0">
                                          <p:val>
                                            <p:strVal val="#ppt_h"/>
                                          </p:val>
                                        </p:tav>
                                        <p:tav tm="100000">
                                          <p:val>
                                            <p:strVal val="#ppt_h"/>
                                          </p:val>
                                        </p:tav>
                                      </p:tavLst>
                                    </p:anim>
                                    <p:animEffect transition="in" filter="fade">
                                      <p:cBhvr>
                                        <p:cTn id="9" dur="1000"/>
                                        <p:tgtEl>
                                          <p:spTgt spid="47119"/>
                                        </p:tgtEl>
                                      </p:cBhvr>
                                    </p:animEffect>
                                  </p:childTnLst>
                                </p:cTn>
                              </p:par>
                            </p:childTnLst>
                          </p:cTn>
                        </p:par>
                      </p:childTnLst>
                    </p:cTn>
                  </p:par>
                  <p:par>
                    <p:cTn id="10" fill="hold">
                      <p:stCondLst>
                        <p:cond delay="indefinite"/>
                      </p:stCondLst>
                      <p:childTnLst>
                        <p:par>
                          <p:cTn id="11" fill="hold">
                            <p:stCondLst>
                              <p:cond delay="0"/>
                            </p:stCondLst>
                            <p:childTnLst>
                              <p:par>
                                <p:cTn id="12" presetID="50" presetClass="entr" presetSubtype="0" decel="100000" fill="hold" grpId="0" nodeType="clickEffect">
                                  <p:stCondLst>
                                    <p:cond delay="0"/>
                                  </p:stCondLst>
                                  <p:childTnLst>
                                    <p:set>
                                      <p:cBhvr>
                                        <p:cTn id="13" dur="1" fill="hold">
                                          <p:stCondLst>
                                            <p:cond delay="0"/>
                                          </p:stCondLst>
                                        </p:cTn>
                                        <p:tgtEl>
                                          <p:spTgt spid="47111"/>
                                        </p:tgtEl>
                                        <p:attrNameLst>
                                          <p:attrName>style.visibility</p:attrName>
                                        </p:attrNameLst>
                                      </p:cBhvr>
                                      <p:to>
                                        <p:strVal val="visible"/>
                                      </p:to>
                                    </p:set>
                                    <p:anim calcmode="lin" valueType="num">
                                      <p:cBhvr>
                                        <p:cTn id="14" dur="1000" fill="hold"/>
                                        <p:tgtEl>
                                          <p:spTgt spid="47111"/>
                                        </p:tgtEl>
                                        <p:attrNameLst>
                                          <p:attrName>ppt_w</p:attrName>
                                        </p:attrNameLst>
                                      </p:cBhvr>
                                      <p:tavLst>
                                        <p:tav tm="0">
                                          <p:val>
                                            <p:strVal val="#ppt_w+.3"/>
                                          </p:val>
                                        </p:tav>
                                        <p:tav tm="100000">
                                          <p:val>
                                            <p:strVal val="#ppt_w"/>
                                          </p:val>
                                        </p:tav>
                                      </p:tavLst>
                                    </p:anim>
                                    <p:anim calcmode="lin" valueType="num">
                                      <p:cBhvr>
                                        <p:cTn id="15" dur="1000" fill="hold"/>
                                        <p:tgtEl>
                                          <p:spTgt spid="47111"/>
                                        </p:tgtEl>
                                        <p:attrNameLst>
                                          <p:attrName>ppt_h</p:attrName>
                                        </p:attrNameLst>
                                      </p:cBhvr>
                                      <p:tavLst>
                                        <p:tav tm="0">
                                          <p:val>
                                            <p:strVal val="#ppt_h"/>
                                          </p:val>
                                        </p:tav>
                                        <p:tav tm="100000">
                                          <p:val>
                                            <p:strVal val="#ppt_h"/>
                                          </p:val>
                                        </p:tav>
                                      </p:tavLst>
                                    </p:anim>
                                    <p:animEffect transition="in" filter="fade">
                                      <p:cBhvr>
                                        <p:cTn id="16" dur="1000"/>
                                        <p:tgtEl>
                                          <p:spTgt spid="47111"/>
                                        </p:tgtEl>
                                      </p:cBhvr>
                                    </p:animEffect>
                                  </p:childTnLst>
                                </p:cTn>
                              </p:par>
                              <p:par>
                                <p:cTn id="17" presetID="50" presetClass="entr" presetSubtype="0" decel="100000" fill="hold" grpId="0" nodeType="withEffect">
                                  <p:stCondLst>
                                    <p:cond delay="0"/>
                                  </p:stCondLst>
                                  <p:childTnLst>
                                    <p:set>
                                      <p:cBhvr>
                                        <p:cTn id="18" dur="1" fill="hold">
                                          <p:stCondLst>
                                            <p:cond delay="0"/>
                                          </p:stCondLst>
                                        </p:cTn>
                                        <p:tgtEl>
                                          <p:spTgt spid="47118"/>
                                        </p:tgtEl>
                                        <p:attrNameLst>
                                          <p:attrName>style.visibility</p:attrName>
                                        </p:attrNameLst>
                                      </p:cBhvr>
                                      <p:to>
                                        <p:strVal val="visible"/>
                                      </p:to>
                                    </p:set>
                                    <p:anim calcmode="lin" valueType="num">
                                      <p:cBhvr>
                                        <p:cTn id="19" dur="1000" fill="hold"/>
                                        <p:tgtEl>
                                          <p:spTgt spid="47118"/>
                                        </p:tgtEl>
                                        <p:attrNameLst>
                                          <p:attrName>ppt_w</p:attrName>
                                        </p:attrNameLst>
                                      </p:cBhvr>
                                      <p:tavLst>
                                        <p:tav tm="0">
                                          <p:val>
                                            <p:strVal val="#ppt_w+.3"/>
                                          </p:val>
                                        </p:tav>
                                        <p:tav tm="100000">
                                          <p:val>
                                            <p:strVal val="#ppt_w"/>
                                          </p:val>
                                        </p:tav>
                                      </p:tavLst>
                                    </p:anim>
                                    <p:anim calcmode="lin" valueType="num">
                                      <p:cBhvr>
                                        <p:cTn id="20" dur="1000" fill="hold"/>
                                        <p:tgtEl>
                                          <p:spTgt spid="47118"/>
                                        </p:tgtEl>
                                        <p:attrNameLst>
                                          <p:attrName>ppt_h</p:attrName>
                                        </p:attrNameLst>
                                      </p:cBhvr>
                                      <p:tavLst>
                                        <p:tav tm="0">
                                          <p:val>
                                            <p:strVal val="#ppt_h"/>
                                          </p:val>
                                        </p:tav>
                                        <p:tav tm="100000">
                                          <p:val>
                                            <p:strVal val="#ppt_h"/>
                                          </p:val>
                                        </p:tav>
                                      </p:tavLst>
                                    </p:anim>
                                    <p:animEffect transition="in" filter="fade">
                                      <p:cBhvr>
                                        <p:cTn id="21" dur="1000"/>
                                        <p:tgtEl>
                                          <p:spTgt spid="47118"/>
                                        </p:tgtEl>
                                      </p:cBhvr>
                                    </p:animEffect>
                                  </p:childTnLst>
                                </p:cTn>
                              </p:par>
                            </p:childTnLst>
                          </p:cTn>
                        </p:par>
                      </p:childTnLst>
                    </p:cTn>
                  </p:par>
                  <p:par>
                    <p:cTn id="22" fill="hold">
                      <p:stCondLst>
                        <p:cond delay="indefinite"/>
                      </p:stCondLst>
                      <p:childTnLst>
                        <p:par>
                          <p:cTn id="23" fill="hold">
                            <p:stCondLst>
                              <p:cond delay="0"/>
                            </p:stCondLst>
                            <p:childTnLst>
                              <p:par>
                                <p:cTn id="24" presetID="50" presetClass="entr" presetSubtype="0" decel="100000" fill="hold" grpId="0" nodeType="clickEffect">
                                  <p:stCondLst>
                                    <p:cond delay="0"/>
                                  </p:stCondLst>
                                  <p:childTnLst>
                                    <p:set>
                                      <p:cBhvr>
                                        <p:cTn id="25" dur="1" fill="hold">
                                          <p:stCondLst>
                                            <p:cond delay="0"/>
                                          </p:stCondLst>
                                        </p:cTn>
                                        <p:tgtEl>
                                          <p:spTgt spid="3"/>
                                        </p:tgtEl>
                                        <p:attrNameLst>
                                          <p:attrName>style.visibility</p:attrName>
                                        </p:attrNameLst>
                                      </p:cBhvr>
                                      <p:to>
                                        <p:strVal val="visible"/>
                                      </p:to>
                                    </p:set>
                                    <p:anim calcmode="lin" valueType="num">
                                      <p:cBhvr>
                                        <p:cTn id="26" dur="1000" fill="hold"/>
                                        <p:tgtEl>
                                          <p:spTgt spid="3"/>
                                        </p:tgtEl>
                                        <p:attrNameLst>
                                          <p:attrName>ppt_w</p:attrName>
                                        </p:attrNameLst>
                                      </p:cBhvr>
                                      <p:tavLst>
                                        <p:tav tm="0">
                                          <p:val>
                                            <p:strVal val="#ppt_w+.3"/>
                                          </p:val>
                                        </p:tav>
                                        <p:tav tm="100000">
                                          <p:val>
                                            <p:strVal val="#ppt_w"/>
                                          </p:val>
                                        </p:tav>
                                      </p:tavLst>
                                    </p:anim>
                                    <p:anim calcmode="lin" valueType="num">
                                      <p:cBhvr>
                                        <p:cTn id="27" dur="1000" fill="hold"/>
                                        <p:tgtEl>
                                          <p:spTgt spid="3"/>
                                        </p:tgtEl>
                                        <p:attrNameLst>
                                          <p:attrName>ppt_h</p:attrName>
                                        </p:attrNameLst>
                                      </p:cBhvr>
                                      <p:tavLst>
                                        <p:tav tm="0">
                                          <p:val>
                                            <p:strVal val="#ppt_h"/>
                                          </p:val>
                                        </p:tav>
                                        <p:tav tm="100000">
                                          <p:val>
                                            <p:strVal val="#ppt_h"/>
                                          </p:val>
                                        </p:tav>
                                      </p:tavLst>
                                    </p:anim>
                                    <p:animEffect transition="in" filter="fade">
                                      <p:cBhvr>
                                        <p:cTn id="28" dur="1000"/>
                                        <p:tgtEl>
                                          <p:spTgt spid="3"/>
                                        </p:tgtEl>
                                      </p:cBhvr>
                                    </p:animEffect>
                                  </p:childTnLst>
                                </p:cTn>
                              </p:par>
                            </p:childTnLst>
                          </p:cTn>
                        </p:par>
                      </p:childTnLst>
                    </p:cTn>
                  </p:par>
                  <p:par>
                    <p:cTn id="29" fill="hold">
                      <p:stCondLst>
                        <p:cond delay="indefinite"/>
                      </p:stCondLst>
                      <p:childTnLst>
                        <p:par>
                          <p:cTn id="30" fill="hold">
                            <p:stCondLst>
                              <p:cond delay="0"/>
                            </p:stCondLst>
                            <p:childTnLst>
                              <p:par>
                                <p:cTn id="31" presetID="50" presetClass="entr" presetSubtype="0" decel="100000" fill="hold" nodeType="clickEffect">
                                  <p:stCondLst>
                                    <p:cond delay="0"/>
                                  </p:stCondLst>
                                  <p:childTnLst>
                                    <p:set>
                                      <p:cBhvr>
                                        <p:cTn id="32" dur="1" fill="hold">
                                          <p:stCondLst>
                                            <p:cond delay="0"/>
                                          </p:stCondLst>
                                        </p:cTn>
                                        <p:tgtEl>
                                          <p:spTgt spid="47120"/>
                                        </p:tgtEl>
                                        <p:attrNameLst>
                                          <p:attrName>style.visibility</p:attrName>
                                        </p:attrNameLst>
                                      </p:cBhvr>
                                      <p:to>
                                        <p:strVal val="visible"/>
                                      </p:to>
                                    </p:set>
                                    <p:anim calcmode="lin" valueType="num">
                                      <p:cBhvr>
                                        <p:cTn id="33" dur="1000" fill="hold"/>
                                        <p:tgtEl>
                                          <p:spTgt spid="47120"/>
                                        </p:tgtEl>
                                        <p:attrNameLst>
                                          <p:attrName>ppt_w</p:attrName>
                                        </p:attrNameLst>
                                      </p:cBhvr>
                                      <p:tavLst>
                                        <p:tav tm="0">
                                          <p:val>
                                            <p:strVal val="#ppt_w+.3"/>
                                          </p:val>
                                        </p:tav>
                                        <p:tav tm="100000">
                                          <p:val>
                                            <p:strVal val="#ppt_w"/>
                                          </p:val>
                                        </p:tav>
                                      </p:tavLst>
                                    </p:anim>
                                    <p:anim calcmode="lin" valueType="num">
                                      <p:cBhvr>
                                        <p:cTn id="34" dur="1000" fill="hold"/>
                                        <p:tgtEl>
                                          <p:spTgt spid="47120"/>
                                        </p:tgtEl>
                                        <p:attrNameLst>
                                          <p:attrName>ppt_h</p:attrName>
                                        </p:attrNameLst>
                                      </p:cBhvr>
                                      <p:tavLst>
                                        <p:tav tm="0">
                                          <p:val>
                                            <p:strVal val="#ppt_h"/>
                                          </p:val>
                                        </p:tav>
                                        <p:tav tm="100000">
                                          <p:val>
                                            <p:strVal val="#ppt_h"/>
                                          </p:val>
                                        </p:tav>
                                      </p:tavLst>
                                    </p:anim>
                                    <p:animEffect transition="in" filter="fade">
                                      <p:cBhvr>
                                        <p:cTn id="35" dur="1000"/>
                                        <p:tgtEl>
                                          <p:spTgt spid="47120"/>
                                        </p:tgtEl>
                                      </p:cBhvr>
                                    </p:animEffect>
                                  </p:childTnLst>
                                </p:cTn>
                              </p:par>
                            </p:childTnLst>
                          </p:cTn>
                        </p:par>
                      </p:childTnLst>
                    </p:cTn>
                  </p:par>
                  <p:par>
                    <p:cTn id="36" fill="hold">
                      <p:stCondLst>
                        <p:cond delay="indefinite"/>
                      </p:stCondLst>
                      <p:childTnLst>
                        <p:par>
                          <p:cTn id="37" fill="hold">
                            <p:stCondLst>
                              <p:cond delay="0"/>
                            </p:stCondLst>
                            <p:childTnLst>
                              <p:par>
                                <p:cTn id="38" presetID="50" presetClass="entr" presetSubtype="0" decel="100000" fill="hold" grpId="0" nodeType="clickEffect">
                                  <p:stCondLst>
                                    <p:cond delay="0"/>
                                  </p:stCondLst>
                                  <p:childTnLst>
                                    <p:set>
                                      <p:cBhvr>
                                        <p:cTn id="39" dur="1" fill="hold">
                                          <p:stCondLst>
                                            <p:cond delay="0"/>
                                          </p:stCondLst>
                                        </p:cTn>
                                        <p:tgtEl>
                                          <p:spTgt spid="47114"/>
                                        </p:tgtEl>
                                        <p:attrNameLst>
                                          <p:attrName>style.visibility</p:attrName>
                                        </p:attrNameLst>
                                      </p:cBhvr>
                                      <p:to>
                                        <p:strVal val="visible"/>
                                      </p:to>
                                    </p:set>
                                    <p:anim calcmode="lin" valueType="num">
                                      <p:cBhvr>
                                        <p:cTn id="40" dur="1000" fill="hold"/>
                                        <p:tgtEl>
                                          <p:spTgt spid="47114"/>
                                        </p:tgtEl>
                                        <p:attrNameLst>
                                          <p:attrName>ppt_w</p:attrName>
                                        </p:attrNameLst>
                                      </p:cBhvr>
                                      <p:tavLst>
                                        <p:tav tm="0">
                                          <p:val>
                                            <p:strVal val="#ppt_w+.3"/>
                                          </p:val>
                                        </p:tav>
                                        <p:tav tm="100000">
                                          <p:val>
                                            <p:strVal val="#ppt_w"/>
                                          </p:val>
                                        </p:tav>
                                      </p:tavLst>
                                    </p:anim>
                                    <p:anim calcmode="lin" valueType="num">
                                      <p:cBhvr>
                                        <p:cTn id="41" dur="1000" fill="hold"/>
                                        <p:tgtEl>
                                          <p:spTgt spid="47114"/>
                                        </p:tgtEl>
                                        <p:attrNameLst>
                                          <p:attrName>ppt_h</p:attrName>
                                        </p:attrNameLst>
                                      </p:cBhvr>
                                      <p:tavLst>
                                        <p:tav tm="0">
                                          <p:val>
                                            <p:strVal val="#ppt_h"/>
                                          </p:val>
                                        </p:tav>
                                        <p:tav tm="100000">
                                          <p:val>
                                            <p:strVal val="#ppt_h"/>
                                          </p:val>
                                        </p:tav>
                                      </p:tavLst>
                                    </p:anim>
                                    <p:animEffect transition="in" filter="fade">
                                      <p:cBhvr>
                                        <p:cTn id="42" dur="1000"/>
                                        <p:tgtEl>
                                          <p:spTgt spid="47114"/>
                                        </p:tgtEl>
                                      </p:cBhvr>
                                    </p:animEffect>
                                  </p:childTnLst>
                                </p:cTn>
                              </p:par>
                              <p:par>
                                <p:cTn id="43" presetID="50" presetClass="entr" presetSubtype="0" decel="100000" fill="hold" grpId="0" nodeType="withEffect">
                                  <p:stCondLst>
                                    <p:cond delay="0"/>
                                  </p:stCondLst>
                                  <p:childTnLst>
                                    <p:set>
                                      <p:cBhvr>
                                        <p:cTn id="44" dur="1" fill="hold">
                                          <p:stCondLst>
                                            <p:cond delay="0"/>
                                          </p:stCondLst>
                                        </p:cTn>
                                        <p:tgtEl>
                                          <p:spTgt spid="47113"/>
                                        </p:tgtEl>
                                        <p:attrNameLst>
                                          <p:attrName>style.visibility</p:attrName>
                                        </p:attrNameLst>
                                      </p:cBhvr>
                                      <p:to>
                                        <p:strVal val="visible"/>
                                      </p:to>
                                    </p:set>
                                    <p:anim calcmode="lin" valueType="num">
                                      <p:cBhvr>
                                        <p:cTn id="45" dur="1000" fill="hold"/>
                                        <p:tgtEl>
                                          <p:spTgt spid="47113"/>
                                        </p:tgtEl>
                                        <p:attrNameLst>
                                          <p:attrName>ppt_w</p:attrName>
                                        </p:attrNameLst>
                                      </p:cBhvr>
                                      <p:tavLst>
                                        <p:tav tm="0">
                                          <p:val>
                                            <p:strVal val="#ppt_w+.3"/>
                                          </p:val>
                                        </p:tav>
                                        <p:tav tm="100000">
                                          <p:val>
                                            <p:strVal val="#ppt_w"/>
                                          </p:val>
                                        </p:tav>
                                      </p:tavLst>
                                    </p:anim>
                                    <p:anim calcmode="lin" valueType="num">
                                      <p:cBhvr>
                                        <p:cTn id="46" dur="1000" fill="hold"/>
                                        <p:tgtEl>
                                          <p:spTgt spid="47113"/>
                                        </p:tgtEl>
                                        <p:attrNameLst>
                                          <p:attrName>ppt_h</p:attrName>
                                        </p:attrNameLst>
                                      </p:cBhvr>
                                      <p:tavLst>
                                        <p:tav tm="0">
                                          <p:val>
                                            <p:strVal val="#ppt_h"/>
                                          </p:val>
                                        </p:tav>
                                        <p:tav tm="100000">
                                          <p:val>
                                            <p:strVal val="#ppt_h"/>
                                          </p:val>
                                        </p:tav>
                                      </p:tavLst>
                                    </p:anim>
                                    <p:animEffect transition="in" filter="fade">
                                      <p:cBhvr>
                                        <p:cTn id="47" dur="1000"/>
                                        <p:tgtEl>
                                          <p:spTgt spid="47113"/>
                                        </p:tgtEl>
                                      </p:cBhvr>
                                    </p:animEffect>
                                  </p:childTnLst>
                                </p:cTn>
                              </p:par>
                              <p:par>
                                <p:cTn id="48" presetID="50" presetClass="entr" presetSubtype="0" decel="100000" fill="hold" grpId="0" nodeType="withEffect">
                                  <p:stCondLst>
                                    <p:cond delay="0"/>
                                  </p:stCondLst>
                                  <p:childTnLst>
                                    <p:set>
                                      <p:cBhvr>
                                        <p:cTn id="49" dur="1" fill="hold">
                                          <p:stCondLst>
                                            <p:cond delay="0"/>
                                          </p:stCondLst>
                                        </p:cTn>
                                        <p:tgtEl>
                                          <p:spTgt spid="47112"/>
                                        </p:tgtEl>
                                        <p:attrNameLst>
                                          <p:attrName>style.visibility</p:attrName>
                                        </p:attrNameLst>
                                      </p:cBhvr>
                                      <p:to>
                                        <p:strVal val="visible"/>
                                      </p:to>
                                    </p:set>
                                    <p:anim calcmode="lin" valueType="num">
                                      <p:cBhvr>
                                        <p:cTn id="50" dur="1000" fill="hold"/>
                                        <p:tgtEl>
                                          <p:spTgt spid="47112"/>
                                        </p:tgtEl>
                                        <p:attrNameLst>
                                          <p:attrName>ppt_w</p:attrName>
                                        </p:attrNameLst>
                                      </p:cBhvr>
                                      <p:tavLst>
                                        <p:tav tm="0">
                                          <p:val>
                                            <p:strVal val="#ppt_w+.3"/>
                                          </p:val>
                                        </p:tav>
                                        <p:tav tm="100000">
                                          <p:val>
                                            <p:strVal val="#ppt_w"/>
                                          </p:val>
                                        </p:tav>
                                      </p:tavLst>
                                    </p:anim>
                                    <p:anim calcmode="lin" valueType="num">
                                      <p:cBhvr>
                                        <p:cTn id="51" dur="1000" fill="hold"/>
                                        <p:tgtEl>
                                          <p:spTgt spid="47112"/>
                                        </p:tgtEl>
                                        <p:attrNameLst>
                                          <p:attrName>ppt_h</p:attrName>
                                        </p:attrNameLst>
                                      </p:cBhvr>
                                      <p:tavLst>
                                        <p:tav tm="0">
                                          <p:val>
                                            <p:strVal val="#ppt_h"/>
                                          </p:val>
                                        </p:tav>
                                        <p:tav tm="100000">
                                          <p:val>
                                            <p:strVal val="#ppt_h"/>
                                          </p:val>
                                        </p:tav>
                                      </p:tavLst>
                                    </p:anim>
                                    <p:animEffect transition="in" filter="fade">
                                      <p:cBhvr>
                                        <p:cTn id="52" dur="1000"/>
                                        <p:tgtEl>
                                          <p:spTgt spid="47112"/>
                                        </p:tgtEl>
                                      </p:cBhvr>
                                    </p:animEffect>
                                  </p:childTnLst>
                                </p:cTn>
                              </p:par>
                            </p:childTnLst>
                          </p:cTn>
                        </p:par>
                      </p:childTnLst>
                    </p:cTn>
                  </p:par>
                  <p:par>
                    <p:cTn id="53" fill="hold">
                      <p:stCondLst>
                        <p:cond delay="indefinite"/>
                      </p:stCondLst>
                      <p:childTnLst>
                        <p:par>
                          <p:cTn id="54" fill="hold">
                            <p:stCondLst>
                              <p:cond delay="0"/>
                            </p:stCondLst>
                            <p:childTnLst>
                              <p:par>
                                <p:cTn id="55" presetID="50" presetClass="entr" presetSubtype="0" decel="100000" fill="hold" grpId="0" nodeType="clickEffect">
                                  <p:stCondLst>
                                    <p:cond delay="0"/>
                                  </p:stCondLst>
                                  <p:childTnLst>
                                    <p:set>
                                      <p:cBhvr>
                                        <p:cTn id="56" dur="1" fill="hold">
                                          <p:stCondLst>
                                            <p:cond delay="0"/>
                                          </p:stCondLst>
                                        </p:cTn>
                                        <p:tgtEl>
                                          <p:spTgt spid="47115"/>
                                        </p:tgtEl>
                                        <p:attrNameLst>
                                          <p:attrName>style.visibility</p:attrName>
                                        </p:attrNameLst>
                                      </p:cBhvr>
                                      <p:to>
                                        <p:strVal val="visible"/>
                                      </p:to>
                                    </p:set>
                                    <p:anim calcmode="lin" valueType="num">
                                      <p:cBhvr>
                                        <p:cTn id="57" dur="1000" fill="hold"/>
                                        <p:tgtEl>
                                          <p:spTgt spid="47115"/>
                                        </p:tgtEl>
                                        <p:attrNameLst>
                                          <p:attrName>ppt_w</p:attrName>
                                        </p:attrNameLst>
                                      </p:cBhvr>
                                      <p:tavLst>
                                        <p:tav tm="0">
                                          <p:val>
                                            <p:strVal val="#ppt_w+.3"/>
                                          </p:val>
                                        </p:tav>
                                        <p:tav tm="100000">
                                          <p:val>
                                            <p:strVal val="#ppt_w"/>
                                          </p:val>
                                        </p:tav>
                                      </p:tavLst>
                                    </p:anim>
                                    <p:anim calcmode="lin" valueType="num">
                                      <p:cBhvr>
                                        <p:cTn id="58" dur="1000" fill="hold"/>
                                        <p:tgtEl>
                                          <p:spTgt spid="47115"/>
                                        </p:tgtEl>
                                        <p:attrNameLst>
                                          <p:attrName>ppt_h</p:attrName>
                                        </p:attrNameLst>
                                      </p:cBhvr>
                                      <p:tavLst>
                                        <p:tav tm="0">
                                          <p:val>
                                            <p:strVal val="#ppt_h"/>
                                          </p:val>
                                        </p:tav>
                                        <p:tav tm="100000">
                                          <p:val>
                                            <p:strVal val="#ppt_h"/>
                                          </p:val>
                                        </p:tav>
                                      </p:tavLst>
                                    </p:anim>
                                    <p:animEffect transition="in" filter="fade">
                                      <p:cBhvr>
                                        <p:cTn id="59" dur="1000"/>
                                        <p:tgtEl>
                                          <p:spTgt spid="47115"/>
                                        </p:tgtEl>
                                      </p:cBhvr>
                                    </p:animEffect>
                                  </p:childTnLst>
                                </p:cTn>
                              </p:par>
                              <p:par>
                                <p:cTn id="60" presetID="50" presetClass="entr" presetSubtype="0" decel="100000" fill="hold" grpId="0" nodeType="withEffect">
                                  <p:stCondLst>
                                    <p:cond delay="0"/>
                                  </p:stCondLst>
                                  <p:childTnLst>
                                    <p:set>
                                      <p:cBhvr>
                                        <p:cTn id="61" dur="1" fill="hold">
                                          <p:stCondLst>
                                            <p:cond delay="0"/>
                                          </p:stCondLst>
                                        </p:cTn>
                                        <p:tgtEl>
                                          <p:spTgt spid="47116"/>
                                        </p:tgtEl>
                                        <p:attrNameLst>
                                          <p:attrName>style.visibility</p:attrName>
                                        </p:attrNameLst>
                                      </p:cBhvr>
                                      <p:to>
                                        <p:strVal val="visible"/>
                                      </p:to>
                                    </p:set>
                                    <p:anim calcmode="lin" valueType="num">
                                      <p:cBhvr>
                                        <p:cTn id="62" dur="1000" fill="hold"/>
                                        <p:tgtEl>
                                          <p:spTgt spid="47116"/>
                                        </p:tgtEl>
                                        <p:attrNameLst>
                                          <p:attrName>ppt_w</p:attrName>
                                        </p:attrNameLst>
                                      </p:cBhvr>
                                      <p:tavLst>
                                        <p:tav tm="0">
                                          <p:val>
                                            <p:strVal val="#ppt_w+.3"/>
                                          </p:val>
                                        </p:tav>
                                        <p:tav tm="100000">
                                          <p:val>
                                            <p:strVal val="#ppt_w"/>
                                          </p:val>
                                        </p:tav>
                                      </p:tavLst>
                                    </p:anim>
                                    <p:anim calcmode="lin" valueType="num">
                                      <p:cBhvr>
                                        <p:cTn id="63" dur="1000" fill="hold"/>
                                        <p:tgtEl>
                                          <p:spTgt spid="47116"/>
                                        </p:tgtEl>
                                        <p:attrNameLst>
                                          <p:attrName>ppt_h</p:attrName>
                                        </p:attrNameLst>
                                      </p:cBhvr>
                                      <p:tavLst>
                                        <p:tav tm="0">
                                          <p:val>
                                            <p:strVal val="#ppt_h"/>
                                          </p:val>
                                        </p:tav>
                                        <p:tav tm="100000">
                                          <p:val>
                                            <p:strVal val="#ppt_h"/>
                                          </p:val>
                                        </p:tav>
                                      </p:tavLst>
                                    </p:anim>
                                    <p:animEffect transition="in" filter="fade">
                                      <p:cBhvr>
                                        <p:cTn id="64" dur="1000"/>
                                        <p:tgtEl>
                                          <p:spTgt spid="471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11" grpId="0" animBg="1"/>
      <p:bldP spid="47112" grpId="0"/>
      <p:bldP spid="47113" grpId="0"/>
      <p:bldP spid="47114" grpId="0"/>
      <p:bldP spid="47115" grpId="0"/>
      <p:bldP spid="47116" grpId="0" animBg="1"/>
      <p:bldP spid="47118" grpId="0"/>
      <p:bldP spid="3"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Converting ER Model to relational schema</a:t>
            </a:r>
          </a:p>
        </p:txBody>
      </p:sp>
      <p:sp>
        <p:nvSpPr>
          <p:cNvPr id="3" name="Content Placeholder 2"/>
          <p:cNvSpPr>
            <a:spLocks noGrp="1"/>
          </p:cNvSpPr>
          <p:nvPr>
            <p:ph idx="1"/>
          </p:nvPr>
        </p:nvSpPr>
        <p:spPr/>
        <p:txBody>
          <a:bodyPr/>
          <a:lstStyle/>
          <a:p>
            <a:r>
              <a:rPr lang="en-US" b="1" dirty="0">
                <a:solidFill>
                  <a:schemeClr val="tx1"/>
                </a:solidFill>
              </a:rPr>
              <a:t>Another - Convert Ternary relationship</a:t>
            </a:r>
            <a:endParaRPr lang="en-US" b="1" dirty="0"/>
          </a:p>
        </p:txBody>
      </p:sp>
      <p:sp>
        <p:nvSpPr>
          <p:cNvPr id="4" name="Slide Number Placeholder 3"/>
          <p:cNvSpPr>
            <a:spLocks noGrp="1"/>
          </p:cNvSpPr>
          <p:nvPr>
            <p:ph type="sldNum" sz="quarter" idx="12"/>
          </p:nvPr>
        </p:nvSpPr>
        <p:spPr/>
        <p:txBody>
          <a:bodyPr/>
          <a:lstStyle/>
          <a:p>
            <a:fld id="{586DAB0F-01A5-4AB0-84E3-BA9DDAF20443}" type="slidenum">
              <a:rPr lang="en-US" smtClean="0"/>
              <a:t>32</a:t>
            </a:fld>
            <a:endParaRPr lang="en-US"/>
          </a:p>
        </p:txBody>
      </p:sp>
      <p:sp>
        <p:nvSpPr>
          <p:cNvPr id="5" name="Footer Placeholder 4"/>
          <p:cNvSpPr>
            <a:spLocks noGrp="1"/>
          </p:cNvSpPr>
          <p:nvPr>
            <p:ph type="ftr" sz="quarter" idx="3"/>
          </p:nvPr>
        </p:nvSpPr>
        <p:spPr/>
        <p:txBody>
          <a:bodyPr/>
          <a:lstStyle/>
          <a:p>
            <a:r>
              <a:rPr lang="en-US"/>
              <a:t>09e-BM/DT/FSOFT - @FPT SOFTWARE - FPT Software Academy - Internal Use</a:t>
            </a:r>
          </a:p>
        </p:txBody>
      </p:sp>
      <p:pic>
        <p:nvPicPr>
          <p:cNvPr id="6" name="Picture 6" descr="FIG5-19A"/>
          <p:cNvPicPr>
            <a:picLocks noChangeAspect="1" noChangeArrowheads="1"/>
          </p:cNvPicPr>
          <p:nvPr/>
        </p:nvPicPr>
        <p:blipFill>
          <a:blip r:embed="rId2"/>
          <a:srcRect/>
          <a:stretch>
            <a:fillRect/>
          </a:stretch>
        </p:blipFill>
        <p:spPr bwMode="auto">
          <a:xfrm>
            <a:off x="2572039" y="1567543"/>
            <a:ext cx="6945217" cy="4451534"/>
          </a:xfrm>
          <a:prstGeom prst="rect">
            <a:avLst/>
          </a:prstGeom>
          <a:noFill/>
          <a:ln w="9525">
            <a:noFill/>
            <a:miter lim="800000"/>
            <a:headEnd/>
            <a:tailEnd/>
          </a:ln>
        </p:spPr>
      </p:pic>
    </p:spTree>
    <p:extLst>
      <p:ext uri="{BB962C8B-B14F-4D97-AF65-F5344CB8AC3E}">
        <p14:creationId xmlns:p14="http://schemas.microsoft.com/office/powerpoint/2010/main" val="2344530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Converting ER Model to relational schema</a:t>
            </a:r>
          </a:p>
        </p:txBody>
      </p:sp>
      <p:sp>
        <p:nvSpPr>
          <p:cNvPr id="3" name="Content Placeholder 2"/>
          <p:cNvSpPr>
            <a:spLocks noGrp="1"/>
          </p:cNvSpPr>
          <p:nvPr>
            <p:ph idx="1"/>
          </p:nvPr>
        </p:nvSpPr>
        <p:spPr/>
        <p:txBody>
          <a:bodyPr/>
          <a:lstStyle/>
          <a:p>
            <a:r>
              <a:rPr lang="en-US" b="1" dirty="0">
                <a:solidFill>
                  <a:schemeClr val="tx1"/>
                </a:solidFill>
              </a:rPr>
              <a:t>Another- Convert Ternary relationship (2)</a:t>
            </a:r>
            <a:endParaRPr lang="en-US" b="1" dirty="0"/>
          </a:p>
        </p:txBody>
      </p:sp>
      <p:sp>
        <p:nvSpPr>
          <p:cNvPr id="4" name="Slide Number Placeholder 3"/>
          <p:cNvSpPr>
            <a:spLocks noGrp="1"/>
          </p:cNvSpPr>
          <p:nvPr>
            <p:ph type="sldNum" sz="quarter" idx="12"/>
          </p:nvPr>
        </p:nvSpPr>
        <p:spPr/>
        <p:txBody>
          <a:bodyPr/>
          <a:lstStyle/>
          <a:p>
            <a:fld id="{586DAB0F-01A5-4AB0-84E3-BA9DDAF20443}" type="slidenum">
              <a:rPr lang="en-US" smtClean="0"/>
              <a:t>33</a:t>
            </a:fld>
            <a:endParaRPr lang="en-US"/>
          </a:p>
        </p:txBody>
      </p:sp>
      <p:sp>
        <p:nvSpPr>
          <p:cNvPr id="5" name="Footer Placeholder 4"/>
          <p:cNvSpPr>
            <a:spLocks noGrp="1"/>
          </p:cNvSpPr>
          <p:nvPr>
            <p:ph type="ftr" sz="quarter" idx="3"/>
          </p:nvPr>
        </p:nvSpPr>
        <p:spPr/>
        <p:txBody>
          <a:bodyPr/>
          <a:lstStyle/>
          <a:p>
            <a:r>
              <a:rPr lang="en-US"/>
              <a:t>09e-BM/DT/FSOFT - @FPT SOFTWARE - FPT Software Academy - Internal Use</a:t>
            </a:r>
          </a:p>
        </p:txBody>
      </p:sp>
      <p:pic>
        <p:nvPicPr>
          <p:cNvPr id="6" name="Picture 4" descr="06_19b"/>
          <p:cNvPicPr>
            <a:picLocks noChangeAspect="1" noChangeArrowheads="1"/>
          </p:cNvPicPr>
          <p:nvPr/>
        </p:nvPicPr>
        <p:blipFill>
          <a:blip r:embed="rId2"/>
          <a:srcRect/>
          <a:stretch>
            <a:fillRect/>
          </a:stretch>
        </p:blipFill>
        <p:spPr bwMode="auto">
          <a:xfrm>
            <a:off x="1549576" y="1633656"/>
            <a:ext cx="8990144" cy="4045564"/>
          </a:xfrm>
          <a:prstGeom prst="rect">
            <a:avLst/>
          </a:prstGeom>
          <a:noFill/>
          <a:ln w="9525">
            <a:noFill/>
            <a:miter lim="800000"/>
            <a:headEnd/>
            <a:tailEnd/>
          </a:ln>
        </p:spPr>
      </p:pic>
    </p:spTree>
    <p:extLst>
      <p:ext uri="{BB962C8B-B14F-4D97-AF65-F5344CB8AC3E}">
        <p14:creationId xmlns:p14="http://schemas.microsoft.com/office/powerpoint/2010/main" val="1659800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nodePh="1">
                                  <p:stCondLst>
                                    <p:cond delay="0"/>
                                  </p:stCondLst>
                                  <p:endCondLst>
                                    <p:cond evt="begin" delay="0">
                                      <p:tn val="5"/>
                                    </p:cond>
                                  </p:end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31" name="Rectangle 1026"/>
          <p:cNvSpPr>
            <a:spLocks noGrp="1" noChangeArrowheads="1"/>
          </p:cNvSpPr>
          <p:nvPr>
            <p:ph type="title"/>
          </p:nvPr>
        </p:nvSpPr>
        <p:spPr/>
        <p:txBody>
          <a:bodyPr anchor="ctr" anchorCtr="0">
            <a:normAutofit/>
          </a:bodyPr>
          <a:lstStyle/>
          <a:p>
            <a:pPr algn="l"/>
            <a:r>
              <a:rPr lang="en-US" dirty="0"/>
              <a:t>Summary</a:t>
            </a:r>
          </a:p>
        </p:txBody>
      </p:sp>
      <p:sp>
        <p:nvSpPr>
          <p:cNvPr id="5" name="Content Placeholder 4"/>
          <p:cNvSpPr>
            <a:spLocks noGrp="1"/>
          </p:cNvSpPr>
          <p:nvPr>
            <p:ph idx="1"/>
          </p:nvPr>
        </p:nvSpPr>
        <p:spPr>
          <a:xfrm>
            <a:off x="1094013" y="981500"/>
            <a:ext cx="10646229" cy="5521462"/>
          </a:xfrm>
        </p:spPr>
        <p:txBody>
          <a:bodyPr>
            <a:normAutofit/>
          </a:bodyPr>
          <a:lstStyle/>
          <a:p>
            <a:pPr lvl="0">
              <a:spcBef>
                <a:spcPts val="1200"/>
              </a:spcBef>
              <a:buClr>
                <a:schemeClr val="accent6">
                  <a:lumMod val="60000"/>
                  <a:lumOff val="40000"/>
                </a:schemeClr>
              </a:buClr>
              <a:buFont typeface="Wingdings" panose="05000000000000000000" pitchFamily="2" charset="2"/>
              <a:buChar char="Ü"/>
            </a:pPr>
            <a:r>
              <a:rPr lang="en-US" sz="2800"/>
              <a:t> SQL </a:t>
            </a:r>
            <a:r>
              <a:rPr lang="en-US" sz="2800" dirty="0"/>
              <a:t>Overview</a:t>
            </a:r>
          </a:p>
          <a:p>
            <a:pPr lvl="1">
              <a:spcBef>
                <a:spcPts val="1200"/>
              </a:spcBef>
            </a:pPr>
            <a:r>
              <a:rPr lang="en-US" sz="2400" dirty="0"/>
              <a:t>SQL, SQL Process, SQL Command</a:t>
            </a:r>
          </a:p>
          <a:p>
            <a:pPr>
              <a:spcBef>
                <a:spcPts val="1200"/>
              </a:spcBef>
              <a:buClr>
                <a:schemeClr val="accent6">
                  <a:lumMod val="60000"/>
                  <a:lumOff val="40000"/>
                </a:schemeClr>
              </a:buClr>
              <a:buFont typeface="Wingdings" panose="05000000000000000000" pitchFamily="2" charset="2"/>
              <a:buChar char="Ü"/>
            </a:pPr>
            <a:r>
              <a:rPr lang="en-US" sz="2800"/>
              <a:t> The </a:t>
            </a:r>
            <a:r>
              <a:rPr lang="en-US" sz="2800" dirty="0"/>
              <a:t>Relational Database</a:t>
            </a:r>
          </a:p>
          <a:p>
            <a:pPr lvl="1">
              <a:spcBef>
                <a:spcPts val="1200"/>
              </a:spcBef>
            </a:pPr>
            <a:r>
              <a:rPr lang="en-US" sz="2400" dirty="0"/>
              <a:t>Table, Field, Record, Schema</a:t>
            </a:r>
          </a:p>
          <a:p>
            <a:pPr lvl="0">
              <a:spcBef>
                <a:spcPts val="1200"/>
              </a:spcBef>
              <a:buClr>
                <a:schemeClr val="accent6">
                  <a:lumMod val="60000"/>
                  <a:lumOff val="40000"/>
                </a:schemeClr>
              </a:buClr>
              <a:buFont typeface="Wingdings" panose="05000000000000000000" pitchFamily="2" charset="2"/>
              <a:buChar char="Ü"/>
            </a:pPr>
            <a:r>
              <a:rPr lang="en-US" sz="2800"/>
              <a:t> RDBMS </a:t>
            </a:r>
            <a:r>
              <a:rPr lang="en-US" sz="2800" dirty="0"/>
              <a:t>Concepts</a:t>
            </a:r>
          </a:p>
          <a:p>
            <a:pPr lvl="1">
              <a:spcBef>
                <a:spcPts val="1200"/>
              </a:spcBef>
            </a:pPr>
            <a:r>
              <a:rPr lang="en-US" sz="2400" dirty="0"/>
              <a:t>RDBMS, RDBMS </a:t>
            </a:r>
            <a:r>
              <a:rPr lang="en-US" sz="2400" dirty="0" err="1"/>
              <a:t>vs</a:t>
            </a:r>
            <a:r>
              <a:rPr lang="en-US" sz="2400" dirty="0"/>
              <a:t> DBMS</a:t>
            </a:r>
          </a:p>
          <a:p>
            <a:pPr>
              <a:spcBef>
                <a:spcPts val="1200"/>
              </a:spcBef>
              <a:buClr>
                <a:schemeClr val="accent6">
                  <a:lumMod val="60000"/>
                  <a:lumOff val="40000"/>
                </a:schemeClr>
              </a:buClr>
              <a:buFont typeface="Wingdings" panose="05000000000000000000" pitchFamily="2" charset="2"/>
              <a:buChar char="Ü"/>
            </a:pPr>
            <a:r>
              <a:rPr lang="en-US" sz="2800"/>
              <a:t> ER </a:t>
            </a:r>
            <a:r>
              <a:rPr lang="en-US" sz="2800" dirty="0"/>
              <a:t>Model</a:t>
            </a:r>
          </a:p>
          <a:p>
            <a:pPr lvl="1" algn="just">
              <a:spcBef>
                <a:spcPts val="1200"/>
              </a:spcBef>
            </a:pPr>
            <a:r>
              <a:rPr lang="en-US" sz="2400" dirty="0"/>
              <a:t>Design Process, </a:t>
            </a:r>
            <a:r>
              <a:rPr lang="en-US" sz="2400" b="1" dirty="0"/>
              <a:t>Notation, </a:t>
            </a:r>
            <a:r>
              <a:rPr lang="en-US" sz="2400" dirty="0"/>
              <a:t>Converting ER Model to relational schema </a:t>
            </a:r>
          </a:p>
          <a:p>
            <a:pPr>
              <a:spcBef>
                <a:spcPts val="1200"/>
              </a:spcBef>
            </a:pPr>
            <a:endParaRPr lang="en-US" sz="2800" dirty="0"/>
          </a:p>
        </p:txBody>
      </p:sp>
      <p:sp>
        <p:nvSpPr>
          <p:cNvPr id="25632" name="Slide Number Placeholder 3"/>
          <p:cNvSpPr>
            <a:spLocks noGrp="1"/>
          </p:cNvSpPr>
          <p:nvPr>
            <p:ph type="sldNum" sz="quarter" idx="12"/>
          </p:nvPr>
        </p:nvSpPr>
        <p:spPr bwMode="auto">
          <a:prstGeom prst="rect">
            <a:avLst/>
          </a:prstGeom>
          <a:noFill/>
          <a:ln>
            <a:miter lim="800000"/>
            <a:headEnd/>
            <a:tailEnd/>
          </a:ln>
        </p:spPr>
        <p:txBody>
          <a:bodyPr vert="horz" wrap="square" lIns="91440" tIns="45720" rIns="91440" bIns="45720" numCol="1" rtlCol="0" anchor="t" anchorCtr="0" compatLnSpc="1">
            <a:prstTxWarp prst="textNoShape">
              <a:avLst/>
            </a:prstTxWarp>
          </a:bodyPr>
          <a:lstStyle/>
          <a:p>
            <a:fld id="{22A6636D-9F2E-4B34-9692-E82360B40F63}" type="slidenum">
              <a:rPr lang="vi-VN" smtClean="0"/>
              <a:pPr/>
              <a:t>34</a:t>
            </a:fld>
            <a:endParaRPr lang="vi-VN"/>
          </a:p>
        </p:txBody>
      </p:sp>
      <p:pic>
        <p:nvPicPr>
          <p:cNvPr id="3074" name="Picture 2" descr="http://www.screencastsonline.com/public_images/01-new/SCOM0392-summary-icon-100x100.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37064" y="1751646"/>
            <a:ext cx="2779436" cy="2779436"/>
          </a:xfrm>
          <a:prstGeom prst="rect">
            <a:avLst/>
          </a:prstGeom>
          <a:noFill/>
          <a:extLst>
            <a:ext uri="{909E8E84-426E-40DD-AFC4-6F175D3DCCD1}">
              <a14:hiddenFill xmlns:a14="http://schemas.microsoft.com/office/drawing/2010/main">
                <a:solidFill>
                  <a:srgbClr val="FFFFFF"/>
                </a:solidFill>
              </a14:hiddenFill>
            </a:ext>
          </a:extLst>
        </p:spPr>
      </p:pic>
      <p:sp>
        <p:nvSpPr>
          <p:cNvPr id="6" name="Footer Placeholder 4"/>
          <p:cNvSpPr>
            <a:spLocks noGrp="1"/>
          </p:cNvSpPr>
          <p:nvPr>
            <p:ph type="ftr" sz="quarter" idx="3"/>
          </p:nvPr>
        </p:nvSpPr>
        <p:spPr>
          <a:xfrm>
            <a:off x="4901329" y="6320400"/>
            <a:ext cx="6071471" cy="365125"/>
          </a:xfrm>
        </p:spPr>
        <p:txBody>
          <a:bodyPr/>
          <a:lstStyle/>
          <a:p>
            <a:r>
              <a:rPr lang="en-US" dirty="0"/>
              <a:t>09e-BM/DT/FSOFT - @FPT SOFTWARE - FPT Software Academy - Internal Use</a:t>
            </a:r>
          </a:p>
        </p:txBody>
      </p:sp>
    </p:spTree>
    <p:extLst>
      <p:ext uri="{BB962C8B-B14F-4D97-AF65-F5344CB8AC3E}">
        <p14:creationId xmlns:p14="http://schemas.microsoft.com/office/powerpoint/2010/main" val="3269689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CA194FB-EA5A-4C5E-89D4-46FBEFA20841}"/>
              </a:ext>
            </a:extLst>
          </p:cNvPr>
          <p:cNvSpPr>
            <a:spLocks noGrp="1"/>
          </p:cNvSpPr>
          <p:nvPr>
            <p:ph type="ctrTitle"/>
          </p:nvPr>
        </p:nvSpPr>
        <p:spPr>
          <a:xfrm>
            <a:off x="372737" y="1908181"/>
            <a:ext cx="6528619" cy="2393760"/>
          </a:xfrm>
          <a:prstGeom prst="rect">
            <a:avLst/>
          </a:prstGeom>
        </p:spPr>
        <p:txBody>
          <a:bodyPr>
            <a:normAutofit/>
          </a:bodyPr>
          <a:lstStyle/>
          <a:p>
            <a:r>
              <a:rPr lang="en-US" altLang="en-US" sz="7200">
                <a:latin typeface="Arial" panose="020B0604020202020204" pitchFamily="34" charset="0"/>
                <a:cs typeface="Arial" panose="020B0604020202020204" pitchFamily="34" charset="0"/>
              </a:rPr>
              <a:t>THANK YOU!</a:t>
            </a:r>
            <a:endParaRPr lang="en-US" sz="8800"/>
          </a:p>
        </p:txBody>
      </p:sp>
      <p:sp>
        <p:nvSpPr>
          <p:cNvPr id="3" name="Subtitle 2">
            <a:extLst>
              <a:ext uri="{FF2B5EF4-FFF2-40B4-BE49-F238E27FC236}">
                <a16:creationId xmlns:a16="http://schemas.microsoft.com/office/drawing/2014/main" id="{6D5538FD-282F-4D83-A27C-8564589675E3}"/>
              </a:ext>
            </a:extLst>
          </p:cNvPr>
          <p:cNvSpPr>
            <a:spLocks noGrp="1"/>
          </p:cNvSpPr>
          <p:nvPr>
            <p:ph type="subTitle" idx="1"/>
          </p:nvPr>
        </p:nvSpPr>
        <p:spPr/>
        <p:txBody>
          <a:bodyPr>
            <a:normAutofit/>
          </a:bodyPr>
          <a:lstStyle/>
          <a:p>
            <a:endParaRPr lang="en-US"/>
          </a:p>
        </p:txBody>
      </p:sp>
      <p:sp>
        <p:nvSpPr>
          <p:cNvPr id="2" name="Footer Placeholder 1">
            <a:extLst>
              <a:ext uri="{FF2B5EF4-FFF2-40B4-BE49-F238E27FC236}">
                <a16:creationId xmlns:a16="http://schemas.microsoft.com/office/drawing/2014/main" id="{C9BD79DE-D5B1-43D7-B4E7-964F370600D1}"/>
              </a:ext>
            </a:extLst>
          </p:cNvPr>
          <p:cNvSpPr>
            <a:spLocks noGrp="1"/>
          </p:cNvSpPr>
          <p:nvPr>
            <p:ph type="ftr" sz="quarter" idx="11"/>
          </p:nvPr>
        </p:nvSpPr>
        <p:spPr/>
        <p:txBody>
          <a:bodyPr/>
          <a:lstStyle/>
          <a:p>
            <a:r>
              <a:rPr lang="en-US" dirty="0"/>
              <a:t>09e-BM/DT/FSOFT - @FPT SOFTWARE - FPT Software Academy - Internal Use</a:t>
            </a:r>
          </a:p>
        </p:txBody>
      </p:sp>
    </p:spTree>
    <p:extLst>
      <p:ext uri="{BB962C8B-B14F-4D97-AF65-F5344CB8AC3E}">
        <p14:creationId xmlns:p14="http://schemas.microsoft.com/office/powerpoint/2010/main" val="1397771673"/>
      </p:ext>
    </p:extLst>
  </p:cSld>
  <p:clrMapOvr>
    <a:masterClrMapping/>
  </p:clrMapOvr>
  <p:transition>
    <p:fade/>
  </p:transition>
</p:sld>
</file>

<file path=ppt/theme/theme1.xml><?xml version="1.0" encoding="utf-8"?>
<a:theme xmlns:a="http://schemas.openxmlformats.org/drawingml/2006/main" name="Office Theme">
  <a:themeElements>
    <a:clrScheme name="FA_2">
      <a:dk1>
        <a:sysClr val="windowText" lastClr="000000"/>
      </a:dk1>
      <a:lt1>
        <a:sysClr val="window" lastClr="FFFFFF"/>
      </a:lt1>
      <a:dk2>
        <a:srgbClr val="373545"/>
      </a:dk2>
      <a:lt2>
        <a:srgbClr val="C5E799"/>
      </a:lt2>
      <a:accent1>
        <a:srgbClr val="0070C0"/>
      </a:accent1>
      <a:accent2>
        <a:srgbClr val="50771B"/>
      </a:accent2>
      <a:accent3>
        <a:srgbClr val="75BDA7"/>
      </a:accent3>
      <a:accent4>
        <a:srgbClr val="A9DB66"/>
      </a:accent4>
      <a:accent5>
        <a:srgbClr val="84ACB6"/>
      </a:accent5>
      <a:accent6>
        <a:srgbClr val="774D0F"/>
      </a:accent6>
      <a:hlink>
        <a:srgbClr val="6B9F25"/>
      </a:hlink>
      <a:folHlink>
        <a:srgbClr val="9F6715"/>
      </a:folHlink>
    </a:clrScheme>
    <a:fontScheme name="FA_Template_Slide">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2847DC6746C624DA076054CC14B56BE" ma:contentTypeVersion="15" ma:contentTypeDescription="Create a new document." ma:contentTypeScope="" ma:versionID="e5a50c8e592b3d25ba5dd91ab5d66f9b">
  <xsd:schema xmlns:xsd="http://www.w3.org/2001/XMLSchema" xmlns:xs="http://www.w3.org/2001/XMLSchema" xmlns:p="http://schemas.microsoft.com/office/2006/metadata/properties" xmlns:ns2="3fb232fd-8e72-43c7-b876-2e7a665041d4" xmlns:ns3="d6b8b58b-189a-48e8-8fd2-2265e728ba2b" targetNamespace="http://schemas.microsoft.com/office/2006/metadata/properties" ma:root="true" ma:fieldsID="91cb85e331baf486f63eefcc25bf80d6" ns2:_="" ns3:_="">
    <xsd:import namespace="3fb232fd-8e72-43c7-b876-2e7a665041d4"/>
    <xsd:import namespace="d6b8b58b-189a-48e8-8fd2-2265e728ba2b"/>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_Flow_SignoffStatu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fb232fd-8e72-43c7-b876-2e7a665041d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7c97e1a9-fa82-4965-b735-0e061acf9268" ma:termSetId="09814cd3-568e-fe90-9814-8d621ff8fb84" ma:anchorId="fba54fb3-c3e1-fe81-a776-ca4b69148c4d" ma:open="true" ma:isKeyword="false">
      <xsd:complexType>
        <xsd:sequence>
          <xsd:element ref="pc:Terms" minOccurs="0" maxOccurs="1"/>
        </xsd:sequence>
      </xsd:complex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_Flow_SignoffStatus" ma:index="20" nillable="true" ma:displayName="Sign-off status" ma:internalName="Sign_x002d_off_x0020_status">
      <xsd:simpleType>
        <xsd:restriction base="dms:Text"/>
      </xsd:simpleType>
    </xsd:element>
    <xsd:element name="MediaServiceObjectDetectorVersions" ma:index="21"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d6b8b58b-189a-48e8-8fd2-2265e728ba2b"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f995e293-7f00-477c-9c84-8f5465f1dab2}" ma:internalName="TaxCatchAll" ma:showField="CatchAllData" ma:web="d6b8b58b-189a-48e8-8fd2-2265e728ba2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Flow_SignoffStatus xmlns="3fb232fd-8e72-43c7-b876-2e7a665041d4" xsi:nil="true"/>
    <lcf76f155ced4ddcb4097134ff3c332f xmlns="3fb232fd-8e72-43c7-b876-2e7a665041d4">
      <Terms xmlns="http://schemas.microsoft.com/office/infopath/2007/PartnerControls"/>
    </lcf76f155ced4ddcb4097134ff3c332f>
    <TaxCatchAll xmlns="d6b8b58b-189a-48e8-8fd2-2265e728ba2b"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D030C6F-5D22-42DA-B413-597F1E8D362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fb232fd-8e72-43c7-b876-2e7a665041d4"/>
    <ds:schemaRef ds:uri="d6b8b58b-189a-48e8-8fd2-2265e728ba2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D4D4774-CB51-419C-92F6-71187B614882}">
  <ds:schemaRefs>
    <ds:schemaRef ds:uri="http://purl.org/dc/dcmitype/"/>
    <ds:schemaRef ds:uri="e0cd0512-3177-44a2-b64a-14df5803efa2"/>
    <ds:schemaRef ds:uri="http://schemas.microsoft.com/office/2006/documentManagement/types"/>
    <ds:schemaRef ds:uri="a63a8fc3-5317-4590-81fe-e8f47d064825"/>
    <ds:schemaRef ds:uri="http://purl.org/dc/elements/1.1/"/>
    <ds:schemaRef ds:uri="http://schemas.microsoft.com/office/infopath/2007/PartnerControls"/>
    <ds:schemaRef ds:uri="http://schemas.microsoft.com/office/2006/metadata/properties"/>
    <ds:schemaRef ds:uri="http://purl.org/dc/terms/"/>
    <ds:schemaRef ds:uri="http://schemas.openxmlformats.org/package/2006/metadata/core-properties"/>
    <ds:schemaRef ds:uri="http://www.w3.org/XML/1998/namespace"/>
    <ds:schemaRef ds:uri="3fb232fd-8e72-43c7-b876-2e7a665041d4"/>
    <ds:schemaRef ds:uri="d6b8b58b-189a-48e8-8fd2-2265e728ba2b"/>
  </ds:schemaRefs>
</ds:datastoreItem>
</file>

<file path=customXml/itemProps3.xml><?xml version="1.0" encoding="utf-8"?>
<ds:datastoreItem xmlns:ds="http://schemas.openxmlformats.org/officeDocument/2006/customXml" ds:itemID="{D3CACC64-8AC0-4E07-B24D-F72EA57ACE3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9Slide.vn</Template>
  <TotalTime>4660</TotalTime>
  <Words>1761</Words>
  <Application>Microsoft Office PowerPoint</Application>
  <PresentationFormat>Màn hình rộng</PresentationFormat>
  <Paragraphs>366</Paragraphs>
  <Slides>35</Slides>
  <Notes>11</Notes>
  <HiddenSlides>0</HiddenSlides>
  <MMClips>0</MMClips>
  <ScaleCrop>false</ScaleCrop>
  <HeadingPairs>
    <vt:vector size="4" baseType="variant">
      <vt:variant>
        <vt:lpstr>Chủ đề</vt:lpstr>
      </vt:variant>
      <vt:variant>
        <vt:i4>1</vt:i4>
      </vt:variant>
      <vt:variant>
        <vt:lpstr>Tiêu đề Bản chiếu</vt:lpstr>
      </vt:variant>
      <vt:variant>
        <vt:i4>35</vt:i4>
      </vt:variant>
    </vt:vector>
  </HeadingPairs>
  <TitlesOfParts>
    <vt:vector size="36" baseType="lpstr">
      <vt:lpstr>Office Theme</vt:lpstr>
      <vt:lpstr>Entity Relationship Modelling</vt:lpstr>
      <vt:lpstr>Lesson Objectives</vt:lpstr>
      <vt:lpstr>Agenda</vt:lpstr>
      <vt:lpstr>SQL Overview</vt:lpstr>
      <vt:lpstr>What is SQL?</vt:lpstr>
      <vt:lpstr>SQL Process</vt:lpstr>
      <vt:lpstr>SQL Commands</vt:lpstr>
      <vt:lpstr>The Relational Database</vt:lpstr>
      <vt:lpstr>Relational Database Concepts (1/3)</vt:lpstr>
      <vt:lpstr>Relational Database Concepts (2/3)</vt:lpstr>
      <vt:lpstr>Relational Database Concepts (3/3)</vt:lpstr>
      <vt:lpstr>Schema (1/2)</vt:lpstr>
      <vt:lpstr>Schema (2/2)</vt:lpstr>
      <vt:lpstr>Schema versus Instance</vt:lpstr>
      <vt:lpstr>What is RDBMS?</vt:lpstr>
      <vt:lpstr>DBMS vs. RDBMS </vt:lpstr>
      <vt:lpstr>ER Model</vt:lpstr>
      <vt:lpstr>Design Process</vt:lpstr>
      <vt:lpstr>Basic E-R Notation</vt:lpstr>
      <vt:lpstr>Bản trình bày PowerPoint</vt:lpstr>
      <vt:lpstr>Bản trình bày PowerPoint</vt:lpstr>
      <vt:lpstr>Bản trình bày PowerPoint</vt:lpstr>
      <vt:lpstr>Bản trình bày PowerPoint</vt:lpstr>
      <vt:lpstr>Converting ER Model to relational schema</vt:lpstr>
      <vt:lpstr>Converting ER Model to relational schema</vt:lpstr>
      <vt:lpstr>Converting ER Model to relational schema</vt:lpstr>
      <vt:lpstr>Converting ER Model to relational schema</vt:lpstr>
      <vt:lpstr>Converting ER Model to relational schema</vt:lpstr>
      <vt:lpstr>Converting ER Model to relational schema</vt:lpstr>
      <vt:lpstr>Converting ER Model to relational schema</vt:lpstr>
      <vt:lpstr>Converting ER Model to relational schema </vt:lpstr>
      <vt:lpstr>Converting ER Model to relational schema</vt:lpstr>
      <vt:lpstr>Converting ER Model to relational schema</vt:lpstr>
      <vt:lpstr>Summary</vt:lpstr>
      <vt:lpstr>THANK YOU!</vt:lpstr>
    </vt:vector>
  </TitlesOfParts>
  <Manager>9Slide.vn</Manager>
  <Company>9Slide.vn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9Slide.vn</dc:subject>
  <dc:creator>HP</dc:creator>
  <dc:description>9Slide.vn</dc:description>
  <cp:lastModifiedBy>Dieu Nguyen Thi</cp:lastModifiedBy>
  <cp:revision>318</cp:revision>
  <dcterms:created xsi:type="dcterms:W3CDTF">2019-08-06T02:53:49Z</dcterms:created>
  <dcterms:modified xsi:type="dcterms:W3CDTF">2024-12-16T01:34:30Z</dcterms:modified>
  <cp:category>9Slide.vn</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0x010100C2847DC6746C624DA076054CC14B56BE</vt:lpwstr>
  </property>
  <property fmtid="{D5CDD505-2E9C-101B-9397-08002B2CF9AE}" pid="3" name="MediaServiceImageTags">
    <vt:lpwstr/>
  </property>
</Properties>
</file>